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FC457D-3C95-45A3-85A8-DC23A40AC347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A5CE51-0934-426A-8706-9F85B6A2C377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79357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We're DuoCode. Sentinel is built on one rule: it never reports anything it cannot prove. Everything in the next five minutes is evidence for that sentence. (0:00-0:15)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5CE51-0934-426A-8706-9F85B6A2C377}" type="slidenum">
              <a:rPr lang="en-MY" smtClean="0"/>
              <a:t>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61705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Why we built it: a shipping desk gets five kinds of mail in one inbox, and for every document check a person compares the Shipping Instruction against the draft Bill of Lading - seven fields, manually. At a conservative estimate that is about four minutes a pair and twenty seconds to triage each email; this inbox alone is a day and a half of desk work. Miss one field and it's a correction, a delay, rework. And there's a fourth case the statement names: sometimes the check can't be done - an unreadable scan, a blank field, the wrong document. That has to be escalated to a reviewer with the reason, not guessed at. Sentinel does all four. (0:15-0:40)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5CE51-0934-426A-8706-9F85B6A2C377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240270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is the whole inbox, live on Render and Vercel - not a sample, the organisers' 520 emails. Every email classified, every document pair compared, every case Sentinel can't decide escalated with the reason attached. Thirteen seconds. And this is how a desk uses it, four steps: run the inbox, open a flagged case, confirm or override it - correct a single value or attach the amended SI/BL - then send the drafted reply. Do not say the accuracy here - that is slide 6. (0:40-1:05)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5CE51-0934-426A-8706-9F85B6A2C377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1062836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Six stages, one direction. Two choices carry the design. Values are compared exactly after canonicalising, never by similarity - a threshold loose enough to forgive a scan artefact also merges two real companies, and the data has those. And the gate after the comparison can overrule it: a value we cannot find again in the document it was read from is never reported as a discrepancy - it is escalated to a reviewer. The pipeline is a stateless library with no web or database in it, which is also the scaling story: throughput is more copies of it; the state sits behind one class in one file. (1:05-1:40)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5CE51-0934-426A-8706-9F85B6A2C377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900587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Never say 'we use less AI'. Say: the AI is reserved for the cases the rules cannot handle - and the system performs just as well. A judge in the first round said we use AI less than most teams. True, and measured. On this inbox the rules answer all 520 and the scoring is all-or-nothing per email, so a model that is almost always right costs places. The model goes only where the rules admit they can't read: an ambiguous email, a label we've never seen, a scanned page. On documents with wording we invented, rules alone escalate 168 of 188 cases; with the model, two - and false discrepancies stay at zero, because nothing the model says is accepted until we find it again in the source. You'll see both in the demo: a scan transcribed for the reviewer, and four unknown labels read on request. (1:40-2:20)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5CE51-0934-426A-8706-9F85B6A2C377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25107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perfect score on the dataset you were handed proves you didn't memorise it. It doesn't prove the reader works. So we attacked our own reader - three thousand perturbed documents, sixteen kinds of damage, no answer key. Thirteen of sixteen don't move. OCR noise used to produce 982 silently wrong values; it produces zero now, because a damaged number is refused instead of parsed short. Then we fed it a real carrier's template from outside the generator, and it found a bug we fixed the same day. And the one we haven't fixed is on the slide, because a defect we hide is worse than one we miss. (2:20-2:55)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5CE51-0934-426A-8706-9F85B6A2C377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401703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At the discrepancy case: 'Under every value - the line it was read from. A reviewer never has to open the source document to trust this.' At the scan: 'No text layer, so Sentinel did not decide. But the model transcribed the page for the reviewer - seven fields, and it marks the illegible ones rather than guessing. The case stays escalated; the reviewer decides, per field.' At Compare, off: 'wording our table has never seen - the honest answer is that it cannot read them, so it is escalated, and it says which labels.' On: 'the model reads them, every value re-located in the document before it's accepted, and it surfaces the real discrepancy - badge says model answered.' (2:55-4:25)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5CE51-0934-426A-8706-9F85B6A2C377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792427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At the top-ten stage everyone meets the brief, so this is the slide to slow down on - thirty seconds. Five things the others mostly don't have: the sender amends a document and you attach the amended one on the case, the check runs again and the previous result stays on record; a scan is still escalated but already transcribed by the model; correcting a field shows this shipper's history on that field; the original document is one click away from every value; and the reply is drafted from what the reviewer decided, not the stale answer. (4:10-4:40)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5CE51-0934-426A-8706-9F85B6A2C377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879379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520 emails and 124 document pairs is, at a conservative estimate, about eleven hours of desk work. Sentinel does it in thirteen seconds and every decision on that inbox was a rule, so it costs nothing to run - cheap because the model is aimed, not because it's absent. The first deployment is one desk, with three numbers we'd watch; two of them we can already show you and the third is what the pilot is for. Say 'at a conservative estimate' aloud, always. (4:40-4:58)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5CE51-0934-426A-8706-9F85B6A2C377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353614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Sentinel, by DuoCode. Every answer comes with its evidence. Thank you. (4:58-5:00)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A5CE51-0934-426A-8706-9F85B6A2C377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405070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4EC93-6ACC-8BD3-78A3-8FD4F59454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0131ED-0786-584C-A7BF-AB3252D14C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EFD1AE-AC67-6EDD-833D-3F5EF9254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8204-41E8-40EE-B013-E681DE88193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C55256-AA07-BECA-0D7E-8EA939913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9999A5-1D86-ACA7-393E-81316081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F21EB-8CE5-4FD5-B471-AC7A37C86CD3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886807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B5FDA-861A-8CCA-DD16-1C03823BA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BBF5F-6EE7-6C35-2B7E-0B9158B74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08CB0-BF8F-556B-2478-C81C0A729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8204-41E8-40EE-B013-E681DE88193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5E5085-87A8-0869-FCDD-1F154095E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B58949-955A-18F6-8B20-00474FC48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F21EB-8CE5-4FD5-B471-AC7A37C86CD3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78289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07ED1-2516-9B4F-CE25-30C9B8C6C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E90FA3-64F0-E6A1-90D1-C5A6DF8734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E05E12-4B26-51E8-6065-C3E00ACB0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8204-41E8-40EE-B013-E681DE88193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6105AD-7185-5A96-634C-72ACC1B2A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28B91B-1847-A3DC-FC51-2ECA2386D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F21EB-8CE5-4FD5-B471-AC7A37C86CD3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46011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3F926-FF89-6339-FA14-3A9FFEDF0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AEC98-5FF0-BEA9-DCC3-96EC0C6A72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D42F93-B6E5-ED68-ED67-A36B856851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D927C3-AD53-53EE-90F4-063A64B4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8204-41E8-40EE-B013-E681DE88193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696152-3557-C791-A7C5-40E4EE3F9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1B825C-DF52-6D6E-E10A-793352D0F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F21EB-8CE5-4FD5-B471-AC7A37C86CD3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23295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518F0-7D9F-3115-781F-ECE9B1D32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F19835-C043-38BD-359F-A0E516C11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04479E-8BB8-DFF7-4337-8C2E12A193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27981F-A1C7-1756-DDE4-0B7BFE025A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3439C1-2488-FA94-D981-D8DC21F509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F86E7F-0F1F-24B2-355D-5410F0CB9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8204-41E8-40EE-B013-E681DE88193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BC0E21-09B6-5D7A-4EA2-7B9A5D5F9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48C6E7-A601-C81C-5924-853B319C9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F21EB-8CE5-4FD5-B471-AC7A37C86CD3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3786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8BA9E-08BA-F016-ED7A-F2D1DBAB6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C95252-9646-5C0A-DEC2-2CE38D8EC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8204-41E8-40EE-B013-E681DE88193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4288BD-1910-9026-B7F5-932F995D0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A00B70-EE30-9619-81D6-56727260C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F21EB-8CE5-4FD5-B471-AC7A37C86CD3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14665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96CA07-975C-FE66-163D-A6B6F3DA6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8204-41E8-40EE-B013-E681DE88193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3A8518-0614-96A2-8CF5-C3E27B22A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0002E0-9D90-B72F-1BB1-1478D74E5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F21EB-8CE5-4FD5-B471-AC7A37C86CD3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83412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AB501-939A-9657-1D7B-45AE5F375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84D98-17B3-E5C1-8EF1-39EF0760C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50FBE1-1C18-DF01-3172-4C90CC93F3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DCD7C3-27E3-2EC3-C4F2-CAF6BA4195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8204-41E8-40EE-B013-E681DE88193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460765-DFB4-068E-DFB8-CD3FAF1A4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F8637B-FA2B-F86F-9524-DC65E4077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F21EB-8CE5-4FD5-B471-AC7A37C86CD3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233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9645A-1754-11CE-3693-B80F93FB3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F8AE37-B8C0-DC57-358B-96CD021E06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E2589E-EE4C-44F9-1391-17E5BE87B3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72373A-9CC6-CC47-D1A6-D2B6CF3E2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8204-41E8-40EE-B013-E681DE88193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1EC12D-A768-C9AE-B430-45D60F335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08A67E-0CEC-412F-7F75-BCE96D0FA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F21EB-8CE5-4FD5-B471-AC7A37C86CD3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093871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6188E-5E1F-DB76-91B9-705F7D2F1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5EF0A7-9EAD-7B9D-06FC-BE4CF1CAFB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6D6D81-37B4-4D4B-8E49-5D969DAFA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8204-41E8-40EE-B013-E681DE88193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EA607-1853-539C-4D8C-0D64BAD0D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C2BFD-7918-8E7A-87C1-061F3CE8E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F21EB-8CE5-4FD5-B471-AC7A37C86CD3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187269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C29A4C-D524-097B-954D-77326CDD4D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7"/>
            <a:ext cx="2628900" cy="58118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568F4A-4994-4E92-4EBB-4301E586AC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7"/>
            <a:ext cx="7734300" cy="58118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AF6494-8C42-891C-01A4-B89F12968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18204-41E8-40EE-B013-E681DE88193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F4774-61CF-2CB5-7164-E4461BC5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C1CE-621C-A1B8-5457-F0194324E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8F21EB-8CE5-4FD5-B471-AC7A37C86CD3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38928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0F7790B-7479-AFA5-8A58-BAFC49472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A8404C-DA11-DD72-5EED-1C17342E36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2AA92D-5884-376A-4E05-D7A2056FCC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918204-41E8-40EE-B013-E681DE881932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FEF497-1C86-5E0F-E63B-559C23257F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87F52-840A-ECC4-DC59-8D26DEBBC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8F21EB-8CE5-4FD5-B471-AC7A37C86CD3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71948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A62390-9557-6D21-3426-97B458B5249C}"/>
              </a:ext>
            </a:extLst>
          </p:cNvPr>
          <p:cNvSpPr txBox="1"/>
          <p:nvPr/>
        </p:nvSpPr>
        <p:spPr>
          <a:xfrm>
            <a:off x="609600" y="1905000"/>
            <a:ext cx="762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6000" b="1">
                <a:solidFill>
                  <a:srgbClr val="D9A441"/>
                </a:solidFill>
                <a:latin typeface="Cambria" panose="02040503050406030204" pitchFamily="18" charset="0"/>
              </a:rPr>
              <a:t>Sentinel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37A1FE-C2CE-26A9-6F42-E1B0E9D94EEE}"/>
              </a:ext>
            </a:extLst>
          </p:cNvPr>
          <p:cNvSpPr txBox="1"/>
          <p:nvPr/>
        </p:nvSpPr>
        <p:spPr>
          <a:xfrm>
            <a:off x="609600" y="2921000"/>
            <a:ext cx="889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800">
                <a:solidFill>
                  <a:srgbClr val="FFFFFF"/>
                </a:solidFill>
                <a:latin typeface="Cambria" panose="02040503050406030204" pitchFamily="18" charset="0"/>
              </a:rPr>
              <a:t>Every answer comes with its evidence.</a:t>
            </a:r>
            <a:endParaRPr lang="en-MY" sz="2800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6B1057-4F62-CBF8-D190-25FBCA439D1B}"/>
              </a:ext>
            </a:extLst>
          </p:cNvPr>
          <p:cNvSpPr txBox="1"/>
          <p:nvPr/>
        </p:nvSpPr>
        <p:spPr>
          <a:xfrm>
            <a:off x="609600" y="3683000"/>
            <a:ext cx="787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E2E5EC"/>
                </a:solidFill>
                <a:latin typeface="Calibri" panose="020F0502020204030204" pitchFamily="34" charset="0"/>
              </a:rPr>
              <a:t>A document checker that is confidently wrong is worse than no checker at all - because nobody goes back and looks.</a:t>
            </a:r>
            <a:endParaRPr lang="en-MY" sz="16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E76265-C6C6-AD3F-71A9-45FAB137E455}"/>
              </a:ext>
            </a:extLst>
          </p:cNvPr>
          <p:cNvSpPr txBox="1"/>
          <p:nvPr/>
        </p:nvSpPr>
        <p:spPr>
          <a:xfrm>
            <a:off x="609600" y="5638800"/>
            <a:ext cx="812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2E5EC"/>
                </a:solidFill>
                <a:latin typeface="Calibri" panose="020F0502020204030204" pitchFamily="34" charset="0"/>
              </a:rPr>
              <a:t>DuoCode  ·  Tang Chye Fong  ·  Lim Yee Teng  ·  Asia Pacific University</a:t>
            </a:r>
            <a:endParaRPr lang="en-MY" sz="13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5023F8-E4A5-40DD-842D-9398FCC02767}"/>
              </a:ext>
            </a:extLst>
          </p:cNvPr>
          <p:cNvSpPr txBox="1"/>
          <p:nvPr/>
        </p:nvSpPr>
        <p:spPr>
          <a:xfrm>
            <a:off x="609600" y="5969000"/>
            <a:ext cx="812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D9A441"/>
                </a:solidFill>
                <a:latin typeface="Calibri" panose="020F0502020204030204" pitchFamily="34" charset="0"/>
              </a:rPr>
              <a:t>duocode-sentinel.vercel.app  ·  github.com/TCF1209/duocode-sentinel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CC55DC-1EB3-C70F-75FD-857855B38420}"/>
              </a:ext>
            </a:extLst>
          </p:cNvPr>
          <p:cNvSpPr txBox="1"/>
          <p:nvPr/>
        </p:nvSpPr>
        <p:spPr>
          <a:xfrm>
            <a:off x="7518400" y="5969000"/>
            <a:ext cx="406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E2E5EC"/>
                </a:solidFill>
                <a:latin typeface="Calibri" panose="020F0502020204030204" pitchFamily="34" charset="0"/>
              </a:rPr>
              <a:t>Averis x Monash Hackathon 2026 · Final Round</a:t>
            </a:r>
            <a:endParaRPr lang="en-MY" sz="12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7855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8174FA-03A6-E29B-B1BA-0E3B468F7D22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The problem - and the fourth case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5D296A3-BE86-ADB8-94BE-0EB6AF4835AF}"/>
              </a:ext>
            </a:extLst>
          </p:cNvPr>
          <p:cNvSpPr/>
          <p:nvPr/>
        </p:nvSpPr>
        <p:spPr>
          <a:xfrm>
            <a:off x="609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B83F402-CFA9-ED2A-2B59-94291D77F678}"/>
              </a:ext>
            </a:extLst>
          </p:cNvPr>
          <p:cNvSpPr/>
          <p:nvPr/>
        </p:nvSpPr>
        <p:spPr>
          <a:xfrm>
            <a:off x="787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312717-00CF-148F-FE2F-560CA665308C}"/>
              </a:ext>
            </a:extLst>
          </p:cNvPr>
          <p:cNvSpPr txBox="1"/>
          <p:nvPr/>
        </p:nvSpPr>
        <p:spPr>
          <a:xfrm>
            <a:off x="1270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Classify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F8B41E-2EFA-8D93-D093-5D146E45BFC2}"/>
              </a:ext>
            </a:extLst>
          </p:cNvPr>
          <p:cNvSpPr txBox="1"/>
          <p:nvPr/>
        </p:nvSpPr>
        <p:spPr>
          <a:xfrm>
            <a:off x="787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1F2430"/>
                </a:solidFill>
                <a:latin typeface="Calibri" panose="020F0502020204030204" pitchFamily="34" charset="0"/>
              </a:rPr>
              <a:t>Tell message types apart: comparison requests, new SI requests, invoice queries, general mail, spam.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1DD50AB-93DE-73AF-C816-A8EA54EB7A06}"/>
              </a:ext>
            </a:extLst>
          </p:cNvPr>
          <p:cNvSpPr/>
          <p:nvPr/>
        </p:nvSpPr>
        <p:spPr>
          <a:xfrm>
            <a:off x="3403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06FCF84-D99E-C63A-C5A7-ECDCD8AC70BF}"/>
              </a:ext>
            </a:extLst>
          </p:cNvPr>
          <p:cNvSpPr/>
          <p:nvPr/>
        </p:nvSpPr>
        <p:spPr>
          <a:xfrm>
            <a:off x="3581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1F6A1C-7BE5-C0D0-ED59-2DA381B7F2D7}"/>
              </a:ext>
            </a:extLst>
          </p:cNvPr>
          <p:cNvSpPr txBox="1"/>
          <p:nvPr/>
        </p:nvSpPr>
        <p:spPr>
          <a:xfrm>
            <a:off x="4064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Extract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9A52A7-6BD3-75C2-6F55-8CA1C2C97335}"/>
              </a:ext>
            </a:extLst>
          </p:cNvPr>
          <p:cNvSpPr txBox="1"/>
          <p:nvPr/>
        </p:nvSpPr>
        <p:spPr>
          <a:xfrm>
            <a:off x="3581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For comparison requests, read the SI and BL attachments and pull the matching shipment fields.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AB5CF38-8A58-884C-2950-78A2DA63F75B}"/>
              </a:ext>
            </a:extLst>
          </p:cNvPr>
          <p:cNvSpPr/>
          <p:nvPr/>
        </p:nvSpPr>
        <p:spPr>
          <a:xfrm>
            <a:off x="6197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B8AB977-1BF3-18B6-B5C3-659E9984E9CA}"/>
              </a:ext>
            </a:extLst>
          </p:cNvPr>
          <p:cNvSpPr/>
          <p:nvPr/>
        </p:nvSpPr>
        <p:spPr>
          <a:xfrm>
            <a:off x="6375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75DD3C-DF0C-8EA2-92A0-CC22CDB1F8F2}"/>
              </a:ext>
            </a:extLst>
          </p:cNvPr>
          <p:cNvSpPr txBox="1"/>
          <p:nvPr/>
        </p:nvSpPr>
        <p:spPr>
          <a:xfrm>
            <a:off x="6858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Compare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BC8D74-8784-0E34-4D96-F68F2F0165B5}"/>
              </a:ext>
            </a:extLst>
          </p:cNvPr>
          <p:cNvSpPr txBox="1"/>
          <p:nvPr/>
        </p:nvSpPr>
        <p:spPr>
          <a:xfrm>
            <a:off x="6375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Surface any mismatched fields, showing the SI and BL values side by side.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108269C-DE25-0B87-376A-E158B8B7EA12}"/>
              </a:ext>
            </a:extLst>
          </p:cNvPr>
          <p:cNvSpPr/>
          <p:nvPr/>
        </p:nvSpPr>
        <p:spPr>
          <a:xfrm>
            <a:off x="8991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C09E11F-1D4A-D10F-4D24-FB6C357189A4}"/>
              </a:ext>
            </a:extLst>
          </p:cNvPr>
          <p:cNvSpPr/>
          <p:nvPr/>
        </p:nvSpPr>
        <p:spPr>
          <a:xfrm>
            <a:off x="9169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B4C8C2-6C28-6F08-DA6A-97F446D8A1BF}"/>
              </a:ext>
            </a:extLst>
          </p:cNvPr>
          <p:cNvSpPr txBox="1"/>
          <p:nvPr/>
        </p:nvSpPr>
        <p:spPr>
          <a:xfrm>
            <a:off x="9652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Ask for help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3A72BB-20C7-2639-4275-7FDDBC45B326}"/>
              </a:ext>
            </a:extLst>
          </p:cNvPr>
          <p:cNvSpPr txBox="1"/>
          <p:nvPr/>
        </p:nvSpPr>
        <p:spPr>
          <a:xfrm>
            <a:off x="9169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When it can't finish on its own, escalate to a person with full context instead of guessing or failing silently.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8EC9D23-693C-CB66-9CB4-07337E66C7AE}"/>
              </a:ext>
            </a:extLst>
          </p:cNvPr>
          <p:cNvSpPr txBox="1"/>
          <p:nvPr/>
        </p:nvSpPr>
        <p:spPr>
          <a:xfrm>
            <a:off x="609600" y="3378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Why we built it: today a documentation clerk does this manually - about 4 minutes per SI/BL pair and 20 seconds to triage each email (a conservative estimate, not a measurement) - and a missed field becomes a correction, a delay, rework.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D77F4D-3D3F-1CDC-C934-D7320535D4DD}"/>
              </a:ext>
            </a:extLst>
          </p:cNvPr>
          <p:cNvSpPr txBox="1"/>
          <p:nvPr/>
        </p:nvSpPr>
        <p:spPr>
          <a:xfrm>
            <a:off x="6096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Finding the right emails takes time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735F28-4D57-2910-36B2-34733D14495D}"/>
              </a:ext>
            </a:extLst>
          </p:cNvPr>
          <p:cNvSpPr txBox="1"/>
          <p:nvPr/>
        </p:nvSpPr>
        <p:spPr>
          <a:xfrm>
            <a:off x="6096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A document request that is overlooked never reaches the checking step.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FC16DD-3EE9-2E00-51CC-A406BAD55E01}"/>
              </a:ext>
            </a:extLst>
          </p:cNvPr>
          <p:cNvSpPr txBox="1"/>
          <p:nvPr/>
        </p:nvSpPr>
        <p:spPr>
          <a:xfrm>
            <a:off x="43307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Manual comparison is easy to get wrong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0D25784-0A2B-F6D4-C5CB-D67E0FF2D392}"/>
              </a:ext>
            </a:extLst>
          </p:cNvPr>
          <p:cNvSpPr txBox="1"/>
          <p:nvPr/>
        </p:nvSpPr>
        <p:spPr>
          <a:xfrm>
            <a:off x="43307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Names, ports, quantities and weight across two documents; a missed discrepancy is a correction, a delay, rework.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8850AE6-245C-E36F-3A95-8A5C0B4E8580}"/>
              </a:ext>
            </a:extLst>
          </p:cNvPr>
          <p:cNvSpPr txBox="1"/>
          <p:nvPr/>
        </p:nvSpPr>
        <p:spPr>
          <a:xfrm>
            <a:off x="80518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The same fact looks different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35BB62-3810-47E3-57BD-3760D5B6F0F1}"/>
              </a:ext>
            </a:extLst>
          </p:cNvPr>
          <p:cNvSpPr txBox="1"/>
          <p:nvPr/>
        </p:nvSpPr>
        <p:spPr>
          <a:xfrm>
            <a:off x="80518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One document says 'Port of Loading', the other 'Load Port' - the system has to know they are the same field.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12AA1B8-5640-E67E-F5E2-6B792066F81C}"/>
              </a:ext>
            </a:extLst>
          </p:cNvPr>
          <p:cNvSpPr/>
          <p:nvPr/>
        </p:nvSpPr>
        <p:spPr>
          <a:xfrm>
            <a:off x="609600" y="5537200"/>
            <a:ext cx="10972800" cy="5588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883C5C-8F04-FB96-3DF7-3478B763337A}"/>
              </a:ext>
            </a:extLst>
          </p:cNvPr>
          <p:cNvSpPr txBox="1"/>
          <p:nvPr/>
        </p:nvSpPr>
        <p:spPr>
          <a:xfrm>
            <a:off x="812800" y="56261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The fourth case: sometimes the check cannot be done at all - an unreadable scan, a blank field, the wrong document. That has to be escalated to a reviewer with the reason attached, not guessed at. Sentinel does all four.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49795DA-1727-0D07-2686-BD938457335B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5 · SOLUTION EFFECTIVENESS &amp; USER VALUE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8283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A6F530-4C06-E182-7D8F-D4F74103C0B6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What it does, end to end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F2AA9B-5F30-1C22-5E33-D8840D63972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270000"/>
            <a:ext cx="6858000" cy="428625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4E313C-7B80-25F7-61AA-D60951D4AED0}"/>
              </a:ext>
            </a:extLst>
          </p:cNvPr>
          <p:cNvSpPr txBox="1"/>
          <p:nvPr/>
        </p:nvSpPr>
        <p:spPr>
          <a:xfrm>
            <a:off x="7874000" y="12700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520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C2D59E-EAF2-4319-4453-4154EB54E4CB}"/>
              </a:ext>
            </a:extLst>
          </p:cNvPr>
          <p:cNvSpPr txBox="1"/>
          <p:nvPr/>
        </p:nvSpPr>
        <p:spPr>
          <a:xfrm>
            <a:off x="7874000" y="18542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1F2430"/>
                </a:solidFill>
                <a:latin typeface="Calibri" panose="020F0502020204030204" pitchFamily="34" charset="0"/>
              </a:rPr>
              <a:t>emails, classified and routed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67930B-FB4D-1D88-EA1F-AB91B6361BD3}"/>
              </a:ext>
            </a:extLst>
          </p:cNvPr>
          <p:cNvSpPr txBox="1"/>
          <p:nvPr/>
        </p:nvSpPr>
        <p:spPr>
          <a:xfrm>
            <a:off x="7874000" y="24384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46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CD5CA7-3B5F-BAE0-7867-BA47EE9F0A78}"/>
              </a:ext>
            </a:extLst>
          </p:cNvPr>
          <p:cNvSpPr txBox="1"/>
          <p:nvPr/>
        </p:nvSpPr>
        <p:spPr>
          <a:xfrm>
            <a:off x="7874000" y="30226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discrepancies, with the fields that differ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EBEA10-E845-FF51-4240-DA474DD20F82}"/>
              </a:ext>
            </a:extLst>
          </p:cNvPr>
          <p:cNvSpPr txBox="1"/>
          <p:nvPr/>
        </p:nvSpPr>
        <p:spPr>
          <a:xfrm>
            <a:off x="7874000" y="36068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2BC8B7-A8EC-16BE-8E33-086B4C4157FB}"/>
              </a:ext>
            </a:extLst>
          </p:cNvPr>
          <p:cNvSpPr txBox="1"/>
          <p:nvPr/>
        </p:nvSpPr>
        <p:spPr>
          <a:xfrm>
            <a:off x="7874000" y="41910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escalated - with the reason and what to do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C1C6271-D458-BD09-A7E5-573DAE5DDA44}"/>
              </a:ext>
            </a:extLst>
          </p:cNvPr>
          <p:cNvSpPr txBox="1"/>
          <p:nvPr/>
        </p:nvSpPr>
        <p:spPr>
          <a:xfrm>
            <a:off x="7874000" y="47752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12.7 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BEDB22-F8EF-BC18-3E7C-CDE7607D3F94}"/>
              </a:ext>
            </a:extLst>
          </p:cNvPr>
          <p:cNvSpPr txBox="1"/>
          <p:nvPr/>
        </p:nvSpPr>
        <p:spPr>
          <a:xfrm>
            <a:off x="7874000" y="53594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for the whole inbox, on a free-tier container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3718EE-4363-B681-AE4C-49CA98217EFC}"/>
              </a:ext>
            </a:extLst>
          </p:cNvPr>
          <p:cNvSpPr txBox="1"/>
          <p:nvPr/>
        </p:nvSpPr>
        <p:spPr>
          <a:xfrm>
            <a:off x="609600" y="5715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How a desk uses it:   1  Run the inbox   ·   2  Open a flagged case   ·   3  Confirm or override it - correct a single value or attach the amended SI/BL   ·   4  Send the drafted reply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1F956C4-EFFB-74EE-A438-8D0F86E68CE2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1 · END-TO-END FUNCTIONALITY</a:t>
            </a:r>
          </a:p>
        </p:txBody>
      </p:sp>
    </p:spTree>
    <p:extLst>
      <p:ext uri="{BB962C8B-B14F-4D97-AF65-F5344CB8AC3E}">
        <p14:creationId xmlns:p14="http://schemas.microsoft.com/office/powerpoint/2010/main" val="25059191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33DB03-ECA3-CA41-3B34-8364ABE36ECA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1F2430"/>
                </a:solidFill>
                <a:latin typeface="Cambria" panose="02040503050406030204" pitchFamily="18" charset="0"/>
              </a:rPr>
              <a:t>How it decides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56A912C-2EAA-0065-7D69-D10DB4D43413}"/>
              </a:ext>
            </a:extLst>
          </p:cNvPr>
          <p:cNvSpPr/>
          <p:nvPr/>
        </p:nvSpPr>
        <p:spPr>
          <a:xfrm>
            <a:off x="7112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Classify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9333E48-F9AD-D37E-A9E2-24A7C673348D}"/>
              </a:ext>
            </a:extLst>
          </p:cNvPr>
          <p:cNvCxnSpPr/>
          <p:nvPr/>
        </p:nvCxnSpPr>
        <p:spPr>
          <a:xfrm>
            <a:off x="22987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73F0E79-ECB2-93F0-6400-79A4683907C6}"/>
              </a:ext>
            </a:extLst>
          </p:cNvPr>
          <p:cNvSpPr/>
          <p:nvPr/>
        </p:nvSpPr>
        <p:spPr>
          <a:xfrm>
            <a:off x="25400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Intake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1A03295-1C20-73A7-58C0-16B614EBB01A}"/>
              </a:ext>
            </a:extLst>
          </p:cNvPr>
          <p:cNvCxnSpPr/>
          <p:nvPr/>
        </p:nvCxnSpPr>
        <p:spPr>
          <a:xfrm>
            <a:off x="41275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0A5D8C1-BD4A-9A62-1824-85A01863266A}"/>
              </a:ext>
            </a:extLst>
          </p:cNvPr>
          <p:cNvSpPr/>
          <p:nvPr/>
        </p:nvSpPr>
        <p:spPr>
          <a:xfrm>
            <a:off x="43688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Extract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8513FA3-F6A8-AB5B-73A0-DC8B177CD94D}"/>
              </a:ext>
            </a:extLst>
          </p:cNvPr>
          <p:cNvCxnSpPr/>
          <p:nvPr/>
        </p:nvCxnSpPr>
        <p:spPr>
          <a:xfrm>
            <a:off x="59563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2B056F3-596D-4591-BF89-44793BC6AB33}"/>
              </a:ext>
            </a:extLst>
          </p:cNvPr>
          <p:cNvSpPr/>
          <p:nvPr/>
        </p:nvSpPr>
        <p:spPr>
          <a:xfrm>
            <a:off x="61976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Compare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A807D99-D73B-A17A-A206-56CFB979C271}"/>
              </a:ext>
            </a:extLst>
          </p:cNvPr>
          <p:cNvCxnSpPr/>
          <p:nvPr/>
        </p:nvCxnSpPr>
        <p:spPr>
          <a:xfrm>
            <a:off x="77851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9A42F05-5236-91E2-23C3-2276F6C5FAB0}"/>
              </a:ext>
            </a:extLst>
          </p:cNvPr>
          <p:cNvSpPr/>
          <p:nvPr/>
        </p:nvSpPr>
        <p:spPr>
          <a:xfrm>
            <a:off x="80264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GATE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E5D3E63-D437-3F8E-C199-36E43AE34148}"/>
              </a:ext>
            </a:extLst>
          </p:cNvPr>
          <p:cNvCxnSpPr/>
          <p:nvPr/>
        </p:nvCxnSpPr>
        <p:spPr>
          <a:xfrm>
            <a:off x="96139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A68A1D5-DAA9-8BF7-3B8C-922799FE479C}"/>
              </a:ext>
            </a:extLst>
          </p:cNvPr>
          <p:cNvSpPr/>
          <p:nvPr/>
        </p:nvSpPr>
        <p:spPr>
          <a:xfrm>
            <a:off x="98552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Decide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0F9B7E1-3054-313D-96BF-87D51EAA8650}"/>
              </a:ext>
            </a:extLst>
          </p:cNvPr>
          <p:cNvCxnSpPr/>
          <p:nvPr/>
        </p:nvCxnSpPr>
        <p:spPr>
          <a:xfrm flipH="1">
            <a:off x="6972300" y="1422400"/>
            <a:ext cx="1828800" cy="0"/>
          </a:xfrm>
          <a:prstGeom prst="line">
            <a:avLst/>
          </a:prstGeom>
          <a:ln w="19050">
            <a:solidFill>
              <a:srgbClr val="9C6C18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2D86D0D-DFE9-C2E6-A4F2-B2F6EF19277D}"/>
              </a:ext>
            </a:extLst>
          </p:cNvPr>
          <p:cNvSpPr txBox="1"/>
          <p:nvPr/>
        </p:nvSpPr>
        <p:spPr>
          <a:xfrm>
            <a:off x="6324600" y="11176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000">
                <a:solidFill>
                  <a:srgbClr val="9C6C18"/>
                </a:solidFill>
                <a:latin typeface="Calibri" panose="020F0502020204030204" pitchFamily="34" charset="0"/>
              </a:rPr>
              <a:t>can veto the comparison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AD67C9-BBE7-4E2A-7CB7-3C8909AC15A3}"/>
              </a:ext>
            </a:extLst>
          </p:cNvPr>
          <p:cNvSpPr txBox="1"/>
          <p:nvPr/>
        </p:nvSpPr>
        <p:spPr>
          <a:xfrm>
            <a:off x="609600" y="2413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Six stages, one direction. The gate runs after the comparison: a value we cannot find again in the document it was read from is never reported as a discrepancy - it is escalated to a reviewer, with both readings attached.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D7AD282-4B89-0CA0-41E0-41374D15378F}"/>
              </a:ext>
            </a:extLst>
          </p:cNvPr>
          <p:cNvSpPr/>
          <p:nvPr/>
        </p:nvSpPr>
        <p:spPr>
          <a:xfrm>
            <a:off x="6096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E1F4B4-EFD8-E0EA-680E-6586ECEAE16D}"/>
              </a:ext>
            </a:extLst>
          </p:cNvPr>
          <p:cNvSpPr txBox="1"/>
          <p:nvPr/>
        </p:nvSpPr>
        <p:spPr>
          <a:xfrm>
            <a:off x="7874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Labels by meaning, values exactly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4B07CF-4461-ED9F-763D-0B151F39AC2A}"/>
              </a:ext>
            </a:extLst>
          </p:cNvPr>
          <p:cNvSpPr txBox="1"/>
          <p:nvPr/>
        </p:nvSpPr>
        <p:spPr>
          <a:xfrm>
            <a:off x="7874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Never a similarity score. A threshold loose enough to forgive a scan artefact also merges two real companies - and this data has them.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97B0372-B726-C70A-4255-96CAF9177182}"/>
              </a:ext>
            </a:extLst>
          </p:cNvPr>
          <p:cNvSpPr/>
          <p:nvPr/>
        </p:nvSpPr>
        <p:spPr>
          <a:xfrm>
            <a:off x="43307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6BACCC-36CC-1DD4-7BA9-395941558F03}"/>
              </a:ext>
            </a:extLst>
          </p:cNvPr>
          <p:cNvSpPr txBox="1"/>
          <p:nvPr/>
        </p:nvSpPr>
        <p:spPr>
          <a:xfrm>
            <a:off x="45085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3B4A6B"/>
                </a:solidFill>
                <a:latin typeface="Calibri" panose="020F0502020204030204" pitchFamily="34" charset="0"/>
              </a:rPr>
              <a:t>Rules first, model second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314217D-82D3-CF1D-3649-5B533101A8F2}"/>
              </a:ext>
            </a:extLst>
          </p:cNvPr>
          <p:cNvSpPr txBox="1"/>
          <p:nvPr/>
        </p:nvSpPr>
        <p:spPr>
          <a:xfrm>
            <a:off x="45085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Every stage tries a deterministic answer before a model, and records which one answered (decided_by). The model is asked only where the rules admit they cannot read.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34D5468-6532-5D15-DB7A-66F520480F47}"/>
              </a:ext>
            </a:extLst>
          </p:cNvPr>
          <p:cNvSpPr/>
          <p:nvPr/>
        </p:nvSpPr>
        <p:spPr>
          <a:xfrm>
            <a:off x="80518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20EF1D-758A-0831-EC8A-55D00AF79011}"/>
              </a:ext>
            </a:extLst>
          </p:cNvPr>
          <p:cNvSpPr txBox="1"/>
          <p:nvPr/>
        </p:nvSpPr>
        <p:spPr>
          <a:xfrm>
            <a:off x="82296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3B4A6B"/>
                </a:solidFill>
                <a:latin typeface="Calibri" panose="020F0502020204030204" pitchFamily="34" charset="0"/>
              </a:rPr>
              <a:t>One stateless pipeline library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47CF8C-86EB-96DD-63E6-155EF017EE09}"/>
              </a:ext>
            </a:extLst>
          </p:cNvPr>
          <p:cNvSpPr txBox="1"/>
          <p:nvPr/>
        </p:nvSpPr>
        <p:spPr>
          <a:xfrm>
            <a:off x="82296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No web framework or database in backend/sdoc. The CLI, the API and the tests run the same code, so the thing scored is the thing demonstrated.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5EBA69-52EE-F8E8-F450-F75820649BD4}"/>
              </a:ext>
            </a:extLst>
          </p:cNvPr>
          <p:cNvSpPr txBox="1"/>
          <p:nvPr/>
        </p:nvSpPr>
        <p:spPr>
          <a:xfrm>
            <a:off x="609600" y="5308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Scaling, as built: state sits behind one class in one file (store.py) - Postgres is a one-file change · one worker on purpose · throughput is more copies of a stateless library · cost does not scale with volume on this inbox · per-desk rules slot into the existing stage boundaries.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E01769-4C10-0B33-98F7-3284A782D301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2 · ARCHITECTURE &amp; SCALABILITY</a:t>
            </a:r>
          </a:p>
        </p:txBody>
      </p:sp>
    </p:spTree>
    <p:extLst>
      <p:ext uri="{BB962C8B-B14F-4D97-AF65-F5344CB8AC3E}">
        <p14:creationId xmlns:p14="http://schemas.microsoft.com/office/powerpoint/2010/main" val="3995626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A0D9BC-1075-074B-76DD-9BE1E0576FBD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Where the AI is - and why it is aimed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0631033-F179-EF80-BF1E-789686B294EF}"/>
              </a:ext>
            </a:extLst>
          </p:cNvPr>
          <p:cNvSpPr/>
          <p:nvPr/>
        </p:nvSpPr>
        <p:spPr>
          <a:xfrm>
            <a:off x="609600" y="13208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A6F1D6-6911-1FAA-A497-8A601CCAB755}"/>
              </a:ext>
            </a:extLst>
          </p:cNvPr>
          <p:cNvSpPr txBox="1"/>
          <p:nvPr/>
        </p:nvSpPr>
        <p:spPr>
          <a:xfrm>
            <a:off x="1219200" y="12954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Classify - an email the rules cannot separate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0D21F7-E29E-E92A-18DC-723FEBEFC44C}"/>
              </a:ext>
            </a:extLst>
          </p:cNvPr>
          <p:cNvSpPr txBox="1"/>
          <p:nvPr/>
        </p:nvSpPr>
        <p:spPr>
          <a:xfrm>
            <a:off x="1219200" y="16002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asked only when the rule score is ambiguous; a closed five-way answer, never free text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196F348-ABB4-421F-BDF1-17F5653DE23F}"/>
              </a:ext>
            </a:extLst>
          </p:cNvPr>
          <p:cNvSpPr/>
          <p:nvPr/>
        </p:nvSpPr>
        <p:spPr>
          <a:xfrm>
            <a:off x="609600" y="23622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7FE3F6-2A2F-A500-D0B0-03E1CF712348}"/>
              </a:ext>
            </a:extLst>
          </p:cNvPr>
          <p:cNvSpPr txBox="1"/>
          <p:nvPr/>
        </p:nvSpPr>
        <p:spPr>
          <a:xfrm>
            <a:off x="1219200" y="23368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Read - a field label the table has never seen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CDFFDC-33A9-11CA-DA03-BDD353372BE6}"/>
              </a:ext>
            </a:extLst>
          </p:cNvPr>
          <p:cNvSpPr txBox="1"/>
          <p:nvPr/>
        </p:nvSpPr>
        <p:spPr>
          <a:xfrm>
            <a:off x="1219200" y="26416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asked only about fields no rule resolved; every value must be found again in the document before it is accepted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B720110-A7B3-C81E-3D83-E0D07F7AE88B}"/>
              </a:ext>
            </a:extLst>
          </p:cNvPr>
          <p:cNvSpPr/>
          <p:nvPr/>
        </p:nvSpPr>
        <p:spPr>
          <a:xfrm>
            <a:off x="609600" y="34036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8A7A4B-26C1-BF17-6E09-23002273D2EE}"/>
              </a:ext>
            </a:extLst>
          </p:cNvPr>
          <p:cNvSpPr txBox="1"/>
          <p:nvPr/>
        </p:nvSpPr>
        <p:spPr>
          <a:xfrm>
            <a:off x="1219200" y="33782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See - a scanned page with no text layer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681ACF-6FC8-6073-2D30-17CA821C4CD4}"/>
              </a:ext>
            </a:extLst>
          </p:cNvPr>
          <p:cNvSpPr txBox="1"/>
          <p:nvPr/>
        </p:nvSpPr>
        <p:spPr>
          <a:xfrm>
            <a:off x="1219200" y="36830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transcribed for the reviewer, never fed into a comparison - the case stays escalated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791E48-672C-40DA-098C-8B1A2AE09BD7}"/>
              </a:ext>
            </a:extLst>
          </p:cNvPr>
          <p:cNvSpPr txBox="1"/>
          <p:nvPr/>
        </p:nvSpPr>
        <p:spPr>
          <a:xfrm>
            <a:off x="609600" y="4470400"/>
            <a:ext cx="660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gpt-5-mini, structured output. One rule for all three: nothing the model returns is accepted until it is found again in the document.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DE5D206-677E-784A-8DB3-91FF103086E5}"/>
              </a:ext>
            </a:extLst>
          </p:cNvPr>
          <p:cNvSpPr/>
          <p:nvPr/>
        </p:nvSpPr>
        <p:spPr>
          <a:xfrm>
            <a:off x="7620000" y="1320800"/>
            <a:ext cx="3962400" cy="2870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DC1288-FBF3-C8B7-65C7-89151C22227F}"/>
              </a:ext>
            </a:extLst>
          </p:cNvPr>
          <p:cNvSpPr txBox="1"/>
          <p:nvPr/>
        </p:nvSpPr>
        <p:spPr>
          <a:xfrm>
            <a:off x="7772400" y="1549400"/>
            <a:ext cx="165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5600" b="1">
                <a:solidFill>
                  <a:srgbClr val="6B7280"/>
                </a:solidFill>
                <a:latin typeface="Cambria" panose="02040503050406030204" pitchFamily="18" charset="0"/>
              </a:rPr>
              <a:t>168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1C43B8-AE21-89F6-5963-C0F83E9AE649}"/>
              </a:ext>
            </a:extLst>
          </p:cNvPr>
          <p:cNvSpPr txBox="1"/>
          <p:nvPr/>
        </p:nvSpPr>
        <p:spPr>
          <a:xfrm>
            <a:off x="9499600" y="1651000"/>
            <a:ext cx="38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3000">
                <a:solidFill>
                  <a:srgbClr val="6B7280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E9D5DF-86D6-FEA0-2DF3-D28A5F88792C}"/>
              </a:ext>
            </a:extLst>
          </p:cNvPr>
          <p:cNvSpPr txBox="1"/>
          <p:nvPr/>
        </p:nvSpPr>
        <p:spPr>
          <a:xfrm>
            <a:off x="9982200" y="1549400"/>
            <a:ext cx="1397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5600" b="1">
                <a:solidFill>
                  <a:srgbClr val="D9A441"/>
                </a:solidFill>
                <a:latin typeface="Cambria" panose="02040503050406030204" pitchFamily="18" charset="0"/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2C41BE-CD35-CB6E-D60E-A52DABFCCD78}"/>
              </a:ext>
            </a:extLst>
          </p:cNvPr>
          <p:cNvSpPr txBox="1"/>
          <p:nvPr/>
        </p:nvSpPr>
        <p:spPr>
          <a:xfrm>
            <a:off x="7823200" y="2540000"/>
            <a:ext cx="3556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cases escalated on wording we invented - rules alone vs rules + model, 188 documents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27BAA7-CDFE-B8A6-1CF7-2C85D58B152F}"/>
              </a:ext>
            </a:extLst>
          </p:cNvPr>
          <p:cNvSpPr txBox="1"/>
          <p:nvPr/>
        </p:nvSpPr>
        <p:spPr>
          <a:xfrm>
            <a:off x="7823200" y="3175000"/>
            <a:ext cx="3556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 b="1">
                <a:solidFill>
                  <a:srgbClr val="3B4A6B"/>
                </a:solidFill>
                <a:latin typeface="Calibri" panose="020F0502020204030204" pitchFamily="34" charset="0"/>
              </a:rPr>
              <a:t>False discrepancies: 0 both ways. Recall bought by guessing would have shown up there; it didn't.</a:t>
            </a:r>
            <a:endParaRPr lang="en-MY" sz="115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2469D70-5EA2-2A2A-8FC7-96728F23E865}"/>
              </a:ext>
            </a:extLst>
          </p:cNvPr>
          <p:cNvSpPr/>
          <p:nvPr/>
        </p:nvSpPr>
        <p:spPr>
          <a:xfrm>
            <a:off x="609600" y="5130800"/>
            <a:ext cx="10972800" cy="6858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8A6666-49EB-DAAE-6E71-A66716020707}"/>
              </a:ext>
            </a:extLst>
          </p:cNvPr>
          <p:cNvSpPr txBox="1"/>
          <p:nvPr/>
        </p:nvSpPr>
        <p:spPr>
          <a:xfrm>
            <a:off x="812800" y="52070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$0.0013 per document at the published rates · cached · $2 ceiling per run.   On this inbox: 0 classifier calls, 0 extractor calls, 6 scans transcribed for the reviewer - every decision is a rule's, and that is measured, not assumed.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9731EB-06E2-E7D6-60AD-60653B661E22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3 · TECHNOLOGY INTEGRATION</a:t>
            </a:r>
          </a:p>
        </p:txBody>
      </p:sp>
    </p:spTree>
    <p:extLst>
      <p:ext uri="{BB962C8B-B14F-4D97-AF65-F5344CB8AC3E}">
        <p14:creationId xmlns:p14="http://schemas.microsoft.com/office/powerpoint/2010/main" val="4066057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F5B9AC-DC89-9886-EE0E-CDB9E306FFF2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How we know it holds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E18CBAA-381C-DB01-0633-07501E98D93C}"/>
              </a:ext>
            </a:extLst>
          </p:cNvPr>
          <p:cNvSpPr/>
          <p:nvPr/>
        </p:nvSpPr>
        <p:spPr>
          <a:xfrm>
            <a:off x="609600" y="12700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17235-9CF8-AE24-AFA4-DB0266428A57}"/>
              </a:ext>
            </a:extLst>
          </p:cNvPr>
          <p:cNvSpPr txBox="1"/>
          <p:nvPr/>
        </p:nvSpPr>
        <p:spPr>
          <a:xfrm>
            <a:off x="787400" y="14224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Not memorised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D0294C-2C15-B0DC-CCF8-42242F452911}"/>
              </a:ext>
            </a:extLst>
          </p:cNvPr>
          <p:cNvSpPr txBox="1"/>
          <p:nvPr/>
        </p:nvSpPr>
        <p:spPr>
          <a:xfrm>
            <a:off x="787400" y="17780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1.0000 on four datasets, three from seeds we never developed against - 225 planted discrepancies caught with the exact field set, 80/80 escalations correct.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DD15AC-C088-3C9B-3B50-127DCDDF1CFA}"/>
              </a:ext>
            </a:extLst>
          </p:cNvPr>
          <p:cNvSpPr/>
          <p:nvPr/>
        </p:nvSpPr>
        <p:spPr>
          <a:xfrm>
            <a:off x="4241800" y="12700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E66AA3-383F-0F65-578C-B30F3A3B8C9B}"/>
              </a:ext>
            </a:extLst>
          </p:cNvPr>
          <p:cNvSpPr txBox="1"/>
          <p:nvPr/>
        </p:nvSpPr>
        <p:spPr>
          <a:xfrm>
            <a:off x="4419600" y="14224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Attacked ourselves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613C45-AADB-70B5-34CE-ED3DF3C0D928}"/>
              </a:ext>
            </a:extLst>
          </p:cNvPr>
          <p:cNvSpPr txBox="1"/>
          <p:nvPr/>
        </p:nvSpPr>
        <p:spPr>
          <a:xfrm>
            <a:off x="4419600" y="17780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16 kinds of damage, 3,008 perturbed documents, 20,496 field reads, no answer key. Thirteen modes at zero movement; silent wrong values 982 -&gt; 0.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2A2AC6E-E2C1-42F2-8C5F-CBDC9C10FE20}"/>
              </a:ext>
            </a:extLst>
          </p:cNvPr>
          <p:cNvSpPr/>
          <p:nvPr/>
        </p:nvSpPr>
        <p:spPr>
          <a:xfrm>
            <a:off x="609600" y="33528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239E36-AC31-EEC5-5A98-F1947E4067A9}"/>
              </a:ext>
            </a:extLst>
          </p:cNvPr>
          <p:cNvSpPr txBox="1"/>
          <p:nvPr/>
        </p:nvSpPr>
        <p:spPr>
          <a:xfrm>
            <a:off x="787400" y="35052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A real carrier's form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08D3D0-6BBA-1BF2-64D4-CE911FD1DCF7}"/>
              </a:ext>
            </a:extLst>
          </p:cNvPr>
          <p:cNvSpPr txBox="1"/>
          <p:nvPr/>
        </p:nvSpPr>
        <p:spPr>
          <a:xfrm>
            <a:off x="7874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CMA CGM's public SI template, from outside the generator: four fields held, one bug found and fixed the same day.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1ECE6D7-BCBE-BD63-1B1E-504078470EEA}"/>
              </a:ext>
            </a:extLst>
          </p:cNvPr>
          <p:cNvSpPr/>
          <p:nvPr/>
        </p:nvSpPr>
        <p:spPr>
          <a:xfrm>
            <a:off x="4241800" y="33528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DB3145-C5FC-B1AC-ED60-FFFCC63520B5}"/>
              </a:ext>
            </a:extLst>
          </p:cNvPr>
          <p:cNvSpPr txBox="1"/>
          <p:nvPr/>
        </p:nvSpPr>
        <p:spPr>
          <a:xfrm>
            <a:off x="4419600" y="35052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Engineering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6B1390-84DD-F7FD-78F6-9C25D33BA46E}"/>
              </a:ext>
            </a:extLst>
          </p:cNvPr>
          <p:cNvSpPr txBox="1"/>
          <p:nvPr/>
        </p:nvSpPr>
        <p:spPr>
          <a:xfrm>
            <a:off x="44196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733 tests, 0 failing; CI on every push; a container that runs as a non-root user with no secret baked in; every value carries its evidence.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1265596-2533-0BDC-E9B6-434BE7C7C86E}"/>
              </a:ext>
            </a:extLst>
          </p:cNvPr>
          <p:cNvSpPr/>
          <p:nvPr/>
        </p:nvSpPr>
        <p:spPr>
          <a:xfrm>
            <a:off x="7924800" y="1270000"/>
            <a:ext cx="3657600" cy="3987800"/>
          </a:xfrm>
          <a:prstGeom prst="roundRect">
            <a:avLst>
              <a:gd name="adj" fmla="val 8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A21AD8-4C26-1B0D-FAC9-838D6D29452A}"/>
              </a:ext>
            </a:extLst>
          </p:cNvPr>
          <p:cNvSpPr txBox="1"/>
          <p:nvPr/>
        </p:nvSpPr>
        <p:spPr>
          <a:xfrm>
            <a:off x="8102600" y="1422400"/>
            <a:ext cx="3302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9C6C18"/>
                </a:solidFill>
                <a:latin typeface="Calibri" panose="020F0502020204030204" pitchFamily="34" charset="0"/>
              </a:rPr>
              <a:t>What we haven't fixed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D5C1D6-1CE7-A8DA-46EE-F0BD7AD11636}"/>
              </a:ext>
            </a:extLst>
          </p:cNvPr>
          <p:cNvSpPr txBox="1"/>
          <p:nvPr/>
        </p:nvSpPr>
        <p:spPr>
          <a:xfrm>
            <a:off x="8102600" y="18034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email_145: a wrapped party name cut short to exactly what the other document says leaves the repair nothing to repair, and one real discrepancy in 3,008 perturbed documents is reported as consistent.</a:t>
            </a:r>
          </a:p>
          <a:p>
            <a:endParaRPr lang="en-US" sz="1150">
              <a:solidFill>
                <a:srgbClr val="1F2430"/>
              </a:solidFill>
              <a:latin typeface="Calibri" panose="020F0502020204030204" pitchFamily="34" charset="0"/>
            </a:endParaRPr>
          </a:p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The obvious guard would flag 114 of 124 SI/BL pairs (92%) - worse than the gap - so it stays open and written down (ADVERSARIAL.md 5.2).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3BFA9A-B34F-8EE8-6DD4-F40698FB667B}"/>
              </a:ext>
            </a:extLst>
          </p:cNvPr>
          <p:cNvSpPr txBox="1"/>
          <p:nvPr/>
        </p:nvSpPr>
        <p:spPr>
          <a:xfrm>
            <a:off x="8102600" y="44704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 b="1">
                <a:solidFill>
                  <a:srgbClr val="9C6C18"/>
                </a:solidFill>
                <a:latin typeface="Calibri" panose="020F0502020204030204" pitchFamily="34" charset="0"/>
              </a:rPr>
              <a:t>A defect we hide is worse than one we miss.</a:t>
            </a:r>
            <a:endParaRPr lang="en-MY" sz="1200" b="1">
              <a:solidFill>
                <a:srgbClr val="9C6C18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3125A3C-8D78-7EB8-B0BE-567AC37E769B}"/>
              </a:ext>
            </a:extLst>
          </p:cNvPr>
          <p:cNvSpPr txBox="1"/>
          <p:nvPr/>
        </p:nvSpPr>
        <p:spPr>
          <a:xfrm>
            <a:off x="609600" y="548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 perfect score on the dataset you were handed proves you didn't memorise it. It doesn't prove the reader works - so we went looking for the failures ourselves.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CD9313-2CC5-E725-2114-90BC395DD157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4 · ENGINEERING QUALITY &amp; ROBUSTNESS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4486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C66AC4-900D-A2D7-19D6-1B2E8BA1FD44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FFFFFF"/>
                </a:solidFill>
                <a:latin typeface="Cambria" panose="02040503050406030204" pitchFamily="18" charset="0"/>
              </a:rPr>
              <a:t>Live demo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50A7A7-28FF-51A7-9FC7-D04EB31C4D91}"/>
              </a:ext>
            </a:extLst>
          </p:cNvPr>
          <p:cNvSpPr txBox="1"/>
          <p:nvPr/>
        </p:nvSpPr>
        <p:spPr>
          <a:xfrm>
            <a:off x="609600" y="1066800"/>
            <a:ext cx="635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>
                <a:solidFill>
                  <a:srgbClr val="D9A441"/>
                </a:solidFill>
                <a:latin typeface="Calibri" panose="020F0502020204030204" pitchFamily="34" charset="0"/>
              </a:rPr>
              <a:t>90 seconds, on the deployed URLs</a:t>
            </a:r>
            <a:endParaRPr lang="en-MY" sz="1400">
              <a:solidFill>
                <a:srgbClr val="D9A441"/>
              </a:solidFill>
              <a:latin typeface="Calibri" panose="020F0502020204030204" pitchFamily="34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6C267BD-3679-8BE6-CF19-27BE4B84A2C0}"/>
              </a:ext>
            </a:extLst>
          </p:cNvPr>
          <p:cNvSpPr/>
          <p:nvPr/>
        </p:nvSpPr>
        <p:spPr>
          <a:xfrm>
            <a:off x="609600" y="15748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AC5A3C-38D2-93FA-908D-D7BD27216938}"/>
              </a:ext>
            </a:extLst>
          </p:cNvPr>
          <p:cNvSpPr txBox="1"/>
          <p:nvPr/>
        </p:nvSpPr>
        <p:spPr>
          <a:xfrm>
            <a:off x="1117600" y="16002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Start a run with the model tier on - then Before / With Sentinel: the inbox as it arrived, and what it made of it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11B6E49-5EC4-BC9F-77E0-EB5F744589D5}"/>
              </a:ext>
            </a:extLst>
          </p:cNvPr>
          <p:cNvSpPr/>
          <p:nvPr/>
        </p:nvSpPr>
        <p:spPr>
          <a:xfrm>
            <a:off x="609600" y="23622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560AA6-9C02-BFEC-9EB0-46A25235F6E3}"/>
              </a:ext>
            </a:extLst>
          </p:cNvPr>
          <p:cNvSpPr txBox="1"/>
          <p:nvPr/>
        </p:nvSpPr>
        <p:spPr>
          <a:xfrm>
            <a:off x="1117600" y="23876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Patterns worth a second look - one shipper, one field, seven times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BC81BC7-8C2B-1C2F-BEB4-04FDC4575E84}"/>
              </a:ext>
            </a:extLst>
          </p:cNvPr>
          <p:cNvSpPr/>
          <p:nvPr/>
        </p:nvSpPr>
        <p:spPr>
          <a:xfrm>
            <a:off x="609600" y="31496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2F54D-FC47-000C-1699-DAED43EEE284}"/>
              </a:ext>
            </a:extLst>
          </p:cNvPr>
          <p:cNvSpPr txBox="1"/>
          <p:nvPr/>
        </p:nvSpPr>
        <p:spPr>
          <a:xfrm>
            <a:off x="1117600" y="31750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A discrepancy case - under every value, the line it was read from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683720D-37A5-398B-B14F-88E714718607}"/>
              </a:ext>
            </a:extLst>
          </p:cNvPr>
          <p:cNvSpPr/>
          <p:nvPr/>
        </p:nvSpPr>
        <p:spPr>
          <a:xfrm>
            <a:off x="609600" y="39370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E8A462-CB21-D512-4262-AE321B81EEE2}"/>
              </a:ext>
            </a:extLst>
          </p:cNvPr>
          <p:cNvSpPr txBox="1"/>
          <p:nvPr/>
        </p:nvSpPr>
        <p:spPr>
          <a:xfrm>
            <a:off x="1117600" y="39624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A scanned case - the page transcribed for the reviewer; the case still escalated, decided per field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2EA1F9B-B6F8-478E-6BE8-BA7E083B885B}"/>
              </a:ext>
            </a:extLst>
          </p:cNvPr>
          <p:cNvSpPr/>
          <p:nvPr/>
        </p:nvSpPr>
        <p:spPr>
          <a:xfrm>
            <a:off x="609600" y="47244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968366-AAD8-20D4-CAAD-E19FAF97BDF3}"/>
              </a:ext>
            </a:extLst>
          </p:cNvPr>
          <p:cNvSpPr txBox="1"/>
          <p:nvPr/>
        </p:nvSpPr>
        <p:spPr>
          <a:xfrm>
            <a:off x="1117600" y="47498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Compare, unfamiliar labels: model off, then on - 'model answered'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D967C5B-92F9-C2E2-D88E-CBF329ACFE7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0" y="1397000"/>
            <a:ext cx="4978400" cy="311150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3AF0AB4-6257-B9C9-5195-4172C996C699}"/>
              </a:ext>
            </a:extLst>
          </p:cNvPr>
          <p:cNvSpPr txBox="1"/>
          <p:nvPr/>
        </p:nvSpPr>
        <p:spPr>
          <a:xfrm>
            <a:off x="609600" y="5689600"/>
            <a:ext cx="584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E2E5EC"/>
                </a:solidFill>
                <a:latin typeface="Calibri" panose="020F0502020204030204" pitchFamily="34" charset="0"/>
              </a:rPr>
              <a:t>Fallback if the venue network fails: the same inbox on the laptop, 1.5 s, no network - only the model beat changes.</a:t>
            </a:r>
            <a:endParaRPr lang="en-MY" sz="11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7311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97AE29-B1B2-C7D9-90B8-691E42F039BA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1F2430"/>
                </a:solidFill>
                <a:latin typeface="Cambria" panose="02040503050406030204" pitchFamily="18" charset="0"/>
              </a:rPr>
              <a:t>What makes it different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EF33439-7B39-2D95-5D04-CA9FB88A433E}"/>
              </a:ext>
            </a:extLst>
          </p:cNvPr>
          <p:cNvSpPr/>
          <p:nvPr/>
        </p:nvSpPr>
        <p:spPr>
          <a:xfrm>
            <a:off x="609600" y="12192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A44F77-BCB6-6A28-7353-F86257180E90}"/>
              </a:ext>
            </a:extLst>
          </p:cNvPr>
          <p:cNvSpPr txBox="1"/>
          <p:nvPr/>
        </p:nvSpPr>
        <p:spPr>
          <a:xfrm>
            <a:off x="1066800" y="11938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Re-check on amendment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1BAA2C-463D-8766-BE45-19CE7EEEEC7C}"/>
              </a:ext>
            </a:extLst>
          </p:cNvPr>
          <p:cNvSpPr txBox="1"/>
          <p:nvPr/>
        </p:nvSpPr>
        <p:spPr>
          <a:xfrm>
            <a:off x="1066800" y="14732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The sender amends the SI or BL? Attach the amended document on the case and the same check runs again. The previous result stays on record.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3E24E32-9E06-37F8-29C2-CDC9773A6DCD}"/>
              </a:ext>
            </a:extLst>
          </p:cNvPr>
          <p:cNvSpPr/>
          <p:nvPr/>
        </p:nvSpPr>
        <p:spPr>
          <a:xfrm>
            <a:off x="609600" y="20828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6E4D51-AE2D-6124-F158-264FBD64BFEB}"/>
              </a:ext>
            </a:extLst>
          </p:cNvPr>
          <p:cNvSpPr txBox="1"/>
          <p:nvPr/>
        </p:nvSpPr>
        <p:spPr>
          <a:xfrm>
            <a:off x="1066800" y="20574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Scans transcribed for the reviewer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C1312D-F6AB-BC53-69B1-7EABF2C86AA8}"/>
              </a:ext>
            </a:extLst>
          </p:cNvPr>
          <p:cNvSpPr txBox="1"/>
          <p:nvPr/>
        </p:nvSpPr>
        <p:spPr>
          <a:xfrm>
            <a:off x="1066800" y="23368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An image-only PDF is still escalated - but with the seven fields already transcribed by the model, marked as evidence, not a verdict.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0B8519A-6F8E-F0B0-50AD-C915792B25B2}"/>
              </a:ext>
            </a:extLst>
          </p:cNvPr>
          <p:cNvSpPr/>
          <p:nvPr/>
        </p:nvSpPr>
        <p:spPr>
          <a:xfrm>
            <a:off x="609600" y="29464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717349-E4F3-18B8-5296-20B02DECEB7F}"/>
              </a:ext>
            </a:extLst>
          </p:cNvPr>
          <p:cNvSpPr txBox="1"/>
          <p:nvPr/>
        </p:nvSpPr>
        <p:spPr>
          <a:xfrm>
            <a:off x="1066800" y="29210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Shipper history on the field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9361A1-8DCC-61A6-F124-96BBDDC8D733}"/>
              </a:ext>
            </a:extLst>
          </p:cNvPr>
          <p:cNvSpPr txBox="1"/>
          <p:nvPr/>
        </p:nvSpPr>
        <p:spPr>
          <a:xfrm>
            <a:off x="1066800" y="32004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Correcting a field shows how often this shipper had a discrepancy on that same field before. A count, not a guess.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12E4B4A-2178-0446-6034-4E82CF21D334}"/>
              </a:ext>
            </a:extLst>
          </p:cNvPr>
          <p:cNvSpPr/>
          <p:nvPr/>
        </p:nvSpPr>
        <p:spPr>
          <a:xfrm>
            <a:off x="609600" y="38100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F710EC-3932-C197-22D4-1E5C9579A247}"/>
              </a:ext>
            </a:extLst>
          </p:cNvPr>
          <p:cNvSpPr txBox="1"/>
          <p:nvPr/>
        </p:nvSpPr>
        <p:spPr>
          <a:xfrm>
            <a:off x="1066800" y="37846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The original, one click away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7E06DC-8E0E-A268-73F6-EE56082AE458}"/>
              </a:ext>
            </a:extLst>
          </p:cNvPr>
          <p:cNvSpPr txBox="1"/>
          <p:nvPr/>
        </p:nvSpPr>
        <p:spPr>
          <a:xfrm>
            <a:off x="1066800" y="40640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Every value carries its line, and the source document opens beside it.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84289F1-8C3C-60C2-5481-479C32C6732D}"/>
              </a:ext>
            </a:extLst>
          </p:cNvPr>
          <p:cNvSpPr/>
          <p:nvPr/>
        </p:nvSpPr>
        <p:spPr>
          <a:xfrm>
            <a:off x="609600" y="46736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C383C6-B969-AF2F-AF7A-A3E29657F30E}"/>
              </a:ext>
            </a:extLst>
          </p:cNvPr>
          <p:cNvSpPr txBox="1"/>
          <p:nvPr/>
        </p:nvSpPr>
        <p:spPr>
          <a:xfrm>
            <a:off x="1066800" y="46482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A reply drafted from the reviewer decision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643C80-DD6E-3BE1-E287-6B4733446546}"/>
              </a:ext>
            </a:extLst>
          </p:cNvPr>
          <p:cNvSpPr txBox="1"/>
          <p:nvPr/>
        </p:nvSpPr>
        <p:spPr>
          <a:xfrm>
            <a:off x="1066800" y="49276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Subject and body ready, built from what the reviewer decided - not the Sentinel result it overrode. A person still presses send.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5902DC4-1FDF-E6E0-37FF-0DB7611F1F1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1219200"/>
            <a:ext cx="4724400" cy="1625349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5483B46-4166-B82F-4D56-222296051A0A}"/>
              </a:ext>
            </a:extLst>
          </p:cNvPr>
          <p:cNvSpPr txBox="1"/>
          <p:nvPr/>
        </p:nvSpPr>
        <p:spPr>
          <a:xfrm>
            <a:off x="6858000" y="4318000"/>
            <a:ext cx="4724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6B7280"/>
                </a:solidFill>
                <a:latin typeface="Calibri" panose="020F0502020204030204" pitchFamily="34" charset="0"/>
              </a:rPr>
              <a:t>The scan transcription, as the reviewer sees it: seven fields, the model's confidence, and the sentence that none of it entered the comparison.</a:t>
            </a:r>
            <a:endParaRPr lang="en-MY" sz="10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C1752C3-D7AE-076A-473B-A3DF17A76CB9}"/>
              </a:ext>
            </a:extLst>
          </p:cNvPr>
          <p:cNvSpPr/>
          <p:nvPr/>
        </p:nvSpPr>
        <p:spPr>
          <a:xfrm>
            <a:off x="609600" y="5588000"/>
            <a:ext cx="10972800" cy="5080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F5D2FB-303F-160B-0083-551198B6ABF9}"/>
              </a:ext>
            </a:extLst>
          </p:cNvPr>
          <p:cNvSpPr txBox="1"/>
          <p:nvPr/>
        </p:nvSpPr>
        <p:spPr>
          <a:xfrm>
            <a:off x="812800" y="56642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Every flag carries the line it came from. Every escalation carries the reason and what to do about it. Most teams at this stage meet the brief; these are the things a reviewer actually uses.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C996FA2-DD41-3A19-90DB-17A54948ADE5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6 · USER EXPERIENCE &amp; DIFFERENTIATION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8421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ADD998-0910-4028-CBFE-B178135F6BE1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Impact, and what comes next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4502352-E92A-FFE4-5CC7-E85F71197ABE}"/>
              </a:ext>
            </a:extLst>
          </p:cNvPr>
          <p:cNvSpPr/>
          <p:nvPr/>
        </p:nvSpPr>
        <p:spPr>
          <a:xfrm>
            <a:off x="609600" y="1219200"/>
            <a:ext cx="6350000" cy="1219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B0419F-5A55-17F6-13CF-9D62C08D8E29}"/>
              </a:ext>
            </a:extLst>
          </p:cNvPr>
          <p:cNvSpPr txBox="1"/>
          <p:nvPr/>
        </p:nvSpPr>
        <p:spPr>
          <a:xfrm>
            <a:off x="812800" y="1371600"/>
            <a:ext cx="2413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600" b="1">
                <a:solidFill>
                  <a:srgbClr val="6B7280"/>
                </a:solidFill>
                <a:latin typeface="Cambria" panose="02040503050406030204" pitchFamily="18" charset="0"/>
              </a:rPr>
              <a:t>11 hours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46D224-08A5-72DA-B86A-3582F571AD5E}"/>
              </a:ext>
            </a:extLst>
          </p:cNvPr>
          <p:cNvSpPr txBox="1"/>
          <p:nvPr/>
        </p:nvSpPr>
        <p:spPr>
          <a:xfrm>
            <a:off x="3276600" y="1473200"/>
            <a:ext cx="50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MY" sz="2400">
                <a:solidFill>
                  <a:srgbClr val="6B7280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ADDE6B-22FD-F53A-D1DE-06871302FABD}"/>
              </a:ext>
            </a:extLst>
          </p:cNvPr>
          <p:cNvSpPr txBox="1"/>
          <p:nvPr/>
        </p:nvSpPr>
        <p:spPr>
          <a:xfrm>
            <a:off x="3835400" y="1320800"/>
            <a:ext cx="2997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13 seconds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C37636-A2C3-AE84-1639-A27E34C30D3E}"/>
              </a:ext>
            </a:extLst>
          </p:cNvPr>
          <p:cNvSpPr txBox="1"/>
          <p:nvPr/>
        </p:nvSpPr>
        <p:spPr>
          <a:xfrm>
            <a:off x="812800" y="20066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6B7280"/>
                </a:solidFill>
                <a:latin typeface="Calibri" panose="020F0502020204030204" pitchFamily="34" charset="0"/>
              </a:rPr>
              <a:t>520 emails, 124 document pairs. Eleven hours is a conservative estimate (20 s an email, 4 min a pair), not a measurement; thirteen seconds is measured. Every decision on that inbox was a rule's.</a:t>
            </a:r>
            <a:endParaRPr lang="en-MY" sz="10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B16940-6262-CBD0-1D8E-00E7EF32EF9A}"/>
              </a:ext>
            </a:extLst>
          </p:cNvPr>
          <p:cNvSpPr txBox="1"/>
          <p:nvPr/>
        </p:nvSpPr>
        <p:spPr>
          <a:xfrm>
            <a:off x="609600" y="26416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First deployment: one desk, not a region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132F69-ADF8-BDD7-185D-9E35AA7BBC68}"/>
              </a:ext>
            </a:extLst>
          </p:cNvPr>
          <p:cNvSpPr txBox="1"/>
          <p:nvPr/>
        </p:nvSpPr>
        <p:spPr>
          <a:xfrm>
            <a:off x="609600" y="29464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The inbox already carries four desk codes (AFEMY 35, AIE 30, AFRT 29, AFPTME 22 emails). Sentinel sits beside the desk's existing check until the measures below have held for a full cycle of its carriers.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D364D68-D06E-1E08-97EE-02D6FBB40E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5487374"/>
              </p:ext>
            </p:extLst>
          </p:nvPr>
        </p:nvGraphicFramePr>
        <p:xfrm>
          <a:off x="609600" y="3683000"/>
          <a:ext cx="6350000" cy="1905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30794016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40754908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365986701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Measure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Today (graded inbox)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The pilot watches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971268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Escalation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20 of 220 requests (9.1%), all correct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precision at 1.0 as unfamiliar templates grow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0085175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False discrepancies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0 of 46 discrepancies; 0 across 16 perturbation modes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the weekly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3426597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Reviewer minutes per escalation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not measured yet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the pilot's first new measurement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507371"/>
                  </a:ext>
                </a:extLst>
              </a:tr>
            </a:tbl>
          </a:graphicData>
        </a:graphic>
      </p:graphicFrame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4A387D9-70EA-22C4-F1EC-B5FA5ECC7F24}"/>
              </a:ext>
            </a:extLst>
          </p:cNvPr>
          <p:cNvSpPr/>
          <p:nvPr/>
        </p:nvSpPr>
        <p:spPr>
          <a:xfrm>
            <a:off x="7366000" y="1219200"/>
            <a:ext cx="4216400" cy="436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F7A28C-B1B4-97C9-6433-28A41AD7E9E4}"/>
              </a:ext>
            </a:extLst>
          </p:cNvPr>
          <p:cNvSpPr txBox="1"/>
          <p:nvPr/>
        </p:nvSpPr>
        <p:spPr>
          <a:xfrm>
            <a:off x="7569200" y="1397000"/>
            <a:ext cx="381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Next, in order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2F1D60B-0A4A-2537-9762-A57281E14AAA}"/>
              </a:ext>
            </a:extLst>
          </p:cNvPr>
          <p:cNvSpPr/>
          <p:nvPr/>
        </p:nvSpPr>
        <p:spPr>
          <a:xfrm>
            <a:off x="7569200" y="18542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279B3F-AC01-EAB1-DBE4-BB592F3A2F18}"/>
              </a:ext>
            </a:extLst>
          </p:cNvPr>
          <p:cNvSpPr txBox="1"/>
          <p:nvPr/>
        </p:nvSpPr>
        <p:spPr>
          <a:xfrm>
            <a:off x="8026400" y="18415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1F2430"/>
                </a:solidFill>
                <a:latin typeface="Calibri" panose="020F0502020204030204" pitchFamily="34" charset="0"/>
              </a:rPr>
              <a:t>Per-desk rules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843E1-6945-2BCC-2BE7-D928F1559596}"/>
              </a:ext>
            </a:extLst>
          </p:cNvPr>
          <p:cNvSpPr txBox="1"/>
          <p:nvPr/>
        </p:nvSpPr>
        <p:spPr>
          <a:xfrm>
            <a:off x="8026400" y="21082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a label table and an escalation policy per desk, selected by the code the inbox already carries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CFDA732-80AD-9463-9253-5F8D0A0DEA7D}"/>
              </a:ext>
            </a:extLst>
          </p:cNvPr>
          <p:cNvSpPr/>
          <p:nvPr/>
        </p:nvSpPr>
        <p:spPr>
          <a:xfrm>
            <a:off x="7569200" y="30226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FC66AD-7348-231A-BEBF-EEB140947544}"/>
              </a:ext>
            </a:extLst>
          </p:cNvPr>
          <p:cNvSpPr txBox="1"/>
          <p:nvPr/>
        </p:nvSpPr>
        <p:spPr>
          <a:xfrm>
            <a:off x="8026400" y="30099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 b="1">
                <a:solidFill>
                  <a:srgbClr val="1F2430"/>
                </a:solidFill>
                <a:latin typeface="Calibri" panose="020F0502020204030204" pitchFamily="34" charset="0"/>
              </a:rPr>
              <a:t>Corrections feed the label table</a:t>
            </a:r>
            <a:endParaRPr lang="en-MY" sz="13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70F94A-250E-D4D3-F906-E200FAE23885}"/>
              </a:ext>
            </a:extLst>
          </p:cNvPr>
          <p:cNvSpPr txBox="1"/>
          <p:nvPr/>
        </p:nvSpPr>
        <p:spPr>
          <a:xfrm>
            <a:off x="8026400" y="32766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every confirmed correction is a labelled example of wording we could not read - the one place this system should learn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290918D-0E39-1A02-47F3-628C64B41319}"/>
              </a:ext>
            </a:extLst>
          </p:cNvPr>
          <p:cNvSpPr/>
          <p:nvPr/>
        </p:nvSpPr>
        <p:spPr>
          <a:xfrm>
            <a:off x="7569200" y="41910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5914F31-D969-D72B-897F-05222933E60A}"/>
              </a:ext>
            </a:extLst>
          </p:cNvPr>
          <p:cNvSpPr txBox="1"/>
          <p:nvPr/>
        </p:nvSpPr>
        <p:spPr>
          <a:xfrm>
            <a:off x="8026400" y="41783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1F2430"/>
                </a:solidFill>
                <a:latin typeface="Calibri" panose="020F0502020204030204" pitchFamily="34" charset="0"/>
              </a:rPr>
              <a:t>The database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70EB40-FC7D-E5E8-7566-80FAC7BA85D6}"/>
              </a:ext>
            </a:extLst>
          </p:cNvPr>
          <p:cNvSpPr txBox="1"/>
          <p:nvPr/>
        </p:nvSpPr>
        <p:spPr>
          <a:xfrm>
            <a:off x="8026400" y="44450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one file; the demo does not need it yet, a pilot will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7D35EC-AA68-93DA-11E5-46D22E1F1B47}"/>
              </a:ext>
            </a:extLst>
          </p:cNvPr>
          <p:cNvSpPr txBox="1"/>
          <p:nvPr/>
        </p:nvSpPr>
        <p:spPr>
          <a:xfrm>
            <a:off x="609600" y="57404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 b="1">
                <a:solidFill>
                  <a:srgbClr val="9C6C18"/>
                </a:solidFill>
                <a:latin typeface="Calibri" panose="020F0502020204030204" pitchFamily="34" charset="0"/>
              </a:rPr>
              <a:t>Cheap because the model is aimed, not because it is absent.</a:t>
            </a:r>
            <a:endParaRPr lang="en-MY" sz="1200" b="1">
              <a:solidFill>
                <a:srgbClr val="9C6C18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E193EC-BD97-8E31-DC2D-909F021B2DBF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7 · IMPACT &amp; FUTURE POTENTIAL</a:t>
            </a:r>
          </a:p>
        </p:txBody>
      </p:sp>
    </p:spTree>
    <p:extLst>
      <p:ext uri="{BB962C8B-B14F-4D97-AF65-F5344CB8AC3E}">
        <p14:creationId xmlns:p14="http://schemas.microsoft.com/office/powerpoint/2010/main" val="8786141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33663-2B81-2594-5395-C5469EA5BC95}"/>
              </a:ext>
            </a:extLst>
          </p:cNvPr>
          <p:cNvSpPr txBox="1"/>
          <p:nvPr/>
        </p:nvSpPr>
        <p:spPr>
          <a:xfrm>
            <a:off x="609600" y="2540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3600" b="1">
                <a:solidFill>
                  <a:srgbClr val="FFFFFF"/>
                </a:solidFill>
                <a:latin typeface="Cambria" panose="02040503050406030204" pitchFamily="18" charset="0"/>
              </a:rPr>
              <a:t>Every answer comes with its evidence.</a:t>
            </a:r>
            <a:endParaRPr lang="en-MY" sz="3600" b="1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DACC31-C435-5B29-DF6B-10A8E48C1269}"/>
              </a:ext>
            </a:extLst>
          </p:cNvPr>
          <p:cNvSpPr txBox="1"/>
          <p:nvPr/>
        </p:nvSpPr>
        <p:spPr>
          <a:xfrm>
            <a:off x="609600" y="340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800">
                <a:solidFill>
                  <a:srgbClr val="D9A441"/>
                </a:solidFill>
                <a:latin typeface="Cambria" panose="02040503050406030204" pitchFamily="18" charset="0"/>
              </a:rPr>
              <a:t>Sentinel, by DuoCode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D35E40-2724-6B5A-28C0-9E0E8D6A6A34}"/>
              </a:ext>
            </a:extLst>
          </p:cNvPr>
          <p:cNvSpPr txBox="1"/>
          <p:nvPr/>
        </p:nvSpPr>
        <p:spPr>
          <a:xfrm>
            <a:off x="609600" y="3937000"/>
            <a:ext cx="1097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300">
                <a:solidFill>
                  <a:srgbClr val="E2E5EC"/>
                </a:solidFill>
                <a:latin typeface="Calibri" panose="020F0502020204030204" pitchFamily="34" charset="0"/>
              </a:rPr>
              <a:t>github.com/TCF1209/duocode-sentinel  ·  duocode-sentinel.vercel.app</a:t>
            </a:r>
          </a:p>
        </p:txBody>
      </p:sp>
    </p:spTree>
    <p:extLst>
      <p:ext uri="{BB962C8B-B14F-4D97-AF65-F5344CB8AC3E}">
        <p14:creationId xmlns:p14="http://schemas.microsoft.com/office/powerpoint/2010/main" val="35055095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2814</Words>
  <Application>Microsoft Office PowerPoint</Application>
  <PresentationFormat>Custom</PresentationFormat>
  <Paragraphs>176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LIM YEE TENG</dc:creator>
  <cp:lastModifiedBy>LIM YEE TENG</cp:lastModifiedBy>
  <cp:revision>1</cp:revision>
  <dcterms:created xsi:type="dcterms:W3CDTF">2026-09-25T05:35:54Z</dcterms:created>
  <dcterms:modified xsi:type="dcterms:W3CDTF">2026-09-25T05:35:54Z</dcterms:modified>
</cp:coreProperties>
</file>