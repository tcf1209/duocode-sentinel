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CB654-6198-4212-A711-96AA5A8DB821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7B76F-B3BD-4F0D-8114-EFC19D39838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4529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We're DuoCode. Sentinel is built on one rule: it never reports anything it cannot prove. Everything in the next five minutes is evidence for that sentence. (0:00-0:15)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1372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shipping desk gets five kinds of mail in one inbox. For a document check someone compares the Shipping Instruction against the draft Bill of Lading - seven fields, by hand. Miss one and it's a correction, a delay, rework. And there's a fourth case the statement names: sometimes the check can't be done - an unreadable scan, a blank field, the wrong document. That has to reach a person with the reason, not be guessed at. Sentinel does all four. (0:15-0:40)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2523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whole inbox, live on Render and Vercel - not a sample, the organisers' 520 emails. Every email classified, every document pair compared, every case Sentinel can't decide sent to a person with the reason attached. Thirteen seconds. You'll press the button yourself in a minute. Do not say the accuracy here - that is slide 6. (0:40-1:05)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9124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stages, one direction. Two choices carry the design. Values are compared exactly after canonicalising, never by similarity - a threshold loose enough to forgive a scan artefact also merges two real companies, and the data has those. And the gate after the comparison can overrule it: a value we cannot find again in the document it was read from is never reported as a discrepancy - it becomes a question for a person. The pipeline is a stateless library with no web or database in it, which is also the scaling story: throughput is more copies of it; the state sits behind one class in one file. (1:05-1:40)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554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judge in the first round said we use AI less than most teams. True, and measured. On this inbox the rules answer all 520 and the scoring is all-or-nothing per email, so a model that is almost always right costs places. The model goes only where the rules admit they can't read: an ambiguous email, a label we've never seen, a scanned page. On documents with wording we invented, rules alone send 168 of 188 cases to a human; with the model, two - and false discrepancies stay at zero, because nothing the model says is adopted until we find it again in the source. You'll see both in the demo: a scan read out for the reviewer, and four unknown labels read on request. (1:40-2:20)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5658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perfect score on the dataset you were handed proves you didn't memorise it. It doesn't prove the reader works. So we attacked our own reader - three thousand perturbed documents, sixteen kinds of damage, no answer key. Thirteen of sixteen don't move. OCR noise used to produce 982 silently wrong values; it produces zero now, because a damaged number is refused instead of parsed short. Then we fed it a real carrier's template from outside the generator, and it found a bug we fixed the same day. And the one we haven't fixed is on the slide, because a defect we hide is worse than one we miss. (2:20-2:55)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951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the mismatch case: 'Under every value - the line it was read from. A reviewer never has to open the source document to trust this.' At the scan: 'No text layer, so Sentinel did not decide. But the model read the page for the reviewer - seven fields, and it says which ones it couldn't read rather than guessing. The case stays in review; the person decides, per field.' At Compare, off: 'wording our table has never seen - the honest answer is can't read it, and it says which labels.' On: 'the model reads them, every value re-located in the document before it's adopted, and it surfaces the real discrepancy - badge says model answered.' (2:55-4:25)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5346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Every other checker shows you a verdict. This one shows you the line, lets you correct a single field, groups the same shipper's repeated mistakes, and drafts the reply from the corrected outcome - not the stale one. Fifteen seconds; the demo already did the work. (4:25-4:40)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4433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520 emails and 124 document pairs is, at a conservative estimate, about eleven hours of desk work. Sentinel does it in thirteen seconds and every decision on that inbox was a rule, so it costs nothing to run - cheap because the model is aimed, not because it's absent. The first deployment is one desk, with three numbers we'd watch; two of them we can already show you and the third is what the pilot is for. Say 'at a conservative estimate' aloud, always. (4:40-4:58)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6049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Sentinel, by DuoCode. Every answer comes with its evidence. Thank you. (4:58-5:00)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7B76F-B3BD-4F0D-8114-EFC19D398380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9837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ABF8-CE87-4581-E9FE-200AA370F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0ABDD-441D-421E-FE47-F73B44D5A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EEFD2-91F4-5FBB-0D05-0AAACC77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3753A-9EF0-AB22-B237-D56724D9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A7B2A-9330-703B-5076-86D8AEA5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735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284F7-68D3-4A89-9724-284BCD4FC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5988-A780-5C4D-B05B-DCCA049D1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332E5-F26C-47AE-7D93-112F4D19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FFACA-E62A-F90D-D4F5-1247022E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55B31-E309-479A-E225-E5578C1C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7943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89D2-7159-8B64-481C-FE32FB2E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89A49-B4A8-DAE1-CB4C-6785BFC77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CA4BD-C788-CDCD-B0FC-46B44BB1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AB0ED-5926-1527-43AB-BC0B4AD0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7B8C3-B9DA-EF79-C678-962BA94E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1001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B277-0A60-4AFC-E03D-AB010A37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994C6-648C-55E2-6154-56F17AA06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439CF-59E0-480B-6BA4-987F9B2EB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24883-3780-8FA1-436E-471BC993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FB9AE-AE95-7C7C-55A4-5533C58B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8917E-35EC-FC28-F2EA-015CA6AF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159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C28F-B4E5-6F69-9336-C6097D1C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2AE4C-8B70-5279-8A28-E9FF09E60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7A1B6-9F8A-4DB9-75FD-3880219E2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C7E7A-7848-DC21-4EBF-F5F499EC0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753958-609A-03F0-9DA9-C1157D71D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54395C-83BA-A86B-1673-AE3E9C48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1455E-DB9A-1140-D834-191458EA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7D2FE-CDD9-7C1D-16D6-9B402C74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728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CA4C-883F-277E-284F-8F4E81E1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1EE01D-918D-CE52-938A-A56DD06D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E0214-6409-A0D2-9AD3-801ADBDF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AA409-8D5A-CDB7-847C-91552B4C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5330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3E2CCB-3D1D-9CA2-70D0-AF69EBA5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25564-5996-02D3-92CC-A0E6EB2D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D788C-66E0-E830-2975-D1062BAFB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2334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EF69-F69E-D828-B2D5-2DC1F5DC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7C3C-08CD-655E-D35C-C9E820F7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25ADC-B3CE-B77E-592D-E9B0E3E1C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4B95D-F608-67B5-13E3-1C9DF757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57E1C-9549-3059-0462-D869E83E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AD905-583D-C576-E177-86FBA1CB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546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B5D8-4EEA-B1D9-1F35-413CE0FD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80417E-CFFD-D8A8-EB78-EE9D0E7F9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0F6CA-C0CF-0876-37DD-DF5FF4366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F9F37-027E-FEDD-36F2-D7784B1A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2D354-0205-80BA-0D5D-339CA2E1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CCE91-7461-D7E8-3D36-BCE46ACD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512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1EA4-3A57-FD85-3E51-3188339C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7E264-8A27-B97B-1461-A64B5F416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A968-E026-75CE-1134-5E501F45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AF037-6C39-C715-7B92-C9D14585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C53EB-60C7-4EFE-8801-7FF942D9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4559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AA4FC2-830E-2E7C-7774-BF159DD59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2E747-D248-251F-BFEE-FA1867907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24FEF-762C-B873-2CB5-6FE9C3E5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7BBD0-1492-EE96-50FD-AE808D8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530D5-23DD-3045-F135-DBBB6493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5475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83453-8157-7340-CDD7-6E9AC931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C709-878F-67DF-5C30-62B0CE10E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05A2C-8322-28AC-EE8D-A98846DD0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D1A14-1EE2-4E92-B4FE-304EE26A3F66}" type="datetimeFigureOut">
              <a:rPr lang="en-MY" smtClean="0"/>
              <a:t>24/9/2026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BC6F9-5738-1F38-EFF1-772176B6B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61C6B-E757-3F1E-F75F-D0A75ACCA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ED862-024E-41DA-81A7-2FE9CB15877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491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3DE10-207D-09B2-FACF-0DC8721DF6B3}"/>
              </a:ext>
            </a:extLst>
          </p:cNvPr>
          <p:cNvSpPr txBox="1"/>
          <p:nvPr/>
        </p:nvSpPr>
        <p:spPr>
          <a:xfrm>
            <a:off x="609600" y="1905000"/>
            <a:ext cx="762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6000" b="1">
                <a:solidFill>
                  <a:srgbClr val="D9A441"/>
                </a:solidFill>
                <a:latin typeface="Cambria" panose="02040503050406030204" pitchFamily="18" charset="0"/>
              </a:rPr>
              <a:t>Sentinel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F0F-60E7-5C52-3E73-7B2FA19BF283}"/>
              </a:ext>
            </a:extLst>
          </p:cNvPr>
          <p:cNvSpPr txBox="1"/>
          <p:nvPr/>
        </p:nvSpPr>
        <p:spPr>
          <a:xfrm>
            <a:off x="609600" y="2921000"/>
            <a:ext cx="889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FFFFFF"/>
                </a:solidFill>
                <a:latin typeface="Cambria" panose="02040503050406030204" pitchFamily="18" charset="0"/>
              </a:rPr>
              <a:t>Every answer comes with its evidence.</a:t>
            </a:r>
            <a:endParaRPr lang="en-MY" sz="280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FCEDB-EDA9-9918-79AF-708BC8909F20}"/>
              </a:ext>
            </a:extLst>
          </p:cNvPr>
          <p:cNvSpPr txBox="1"/>
          <p:nvPr/>
        </p:nvSpPr>
        <p:spPr>
          <a:xfrm>
            <a:off x="609600" y="3683000"/>
            <a:ext cx="7874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E2E5EC"/>
                </a:solidFill>
                <a:latin typeface="Calibri" panose="020F0502020204030204" pitchFamily="34" charset="0"/>
              </a:rPr>
              <a:t>A document checker that is confidently wrong is worse than no checker at all - because nobody goes back and looks.</a:t>
            </a:r>
            <a:endParaRPr lang="en-MY" sz="1600">
              <a:solidFill>
                <a:srgbClr val="E2E5EC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BAB37-9222-47A5-5164-DF507D1A40D2}"/>
              </a:ext>
            </a:extLst>
          </p:cNvPr>
          <p:cNvSpPr txBox="1"/>
          <p:nvPr/>
        </p:nvSpPr>
        <p:spPr>
          <a:xfrm>
            <a:off x="609600" y="5638800"/>
            <a:ext cx="8128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E2E5EC"/>
                </a:solidFill>
                <a:latin typeface="Calibri" panose="020F0502020204030204" pitchFamily="34" charset="0"/>
              </a:rPr>
              <a:t>DuoCode  ·  Tang Chye Fong  ·  Lim Yee Teng  ·  Asia Pacific University</a:t>
            </a:r>
            <a:endParaRPr lang="en-MY" sz="1300">
              <a:solidFill>
                <a:srgbClr val="E2E5EC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6E92A-1BF1-C622-871C-A2CA6B2F993F}"/>
              </a:ext>
            </a:extLst>
          </p:cNvPr>
          <p:cNvSpPr txBox="1"/>
          <p:nvPr/>
        </p:nvSpPr>
        <p:spPr>
          <a:xfrm>
            <a:off x="609600" y="5969000"/>
            <a:ext cx="8128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200">
                <a:solidFill>
                  <a:srgbClr val="D9A441"/>
                </a:solidFill>
                <a:latin typeface="Calibri" panose="020F0502020204030204" pitchFamily="34" charset="0"/>
              </a:rPr>
              <a:t>duocode-sentinel.vercel.app  ·  github.com/TCF1209/duocode-sentinel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E2169-1C15-A37D-DD6E-32937C516D6C}"/>
              </a:ext>
            </a:extLst>
          </p:cNvPr>
          <p:cNvSpPr txBox="1"/>
          <p:nvPr/>
        </p:nvSpPr>
        <p:spPr>
          <a:xfrm>
            <a:off x="7518400" y="5969000"/>
            <a:ext cx="4064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E2E5EC"/>
                </a:solidFill>
                <a:latin typeface="Calibri" panose="020F0502020204030204" pitchFamily="34" charset="0"/>
              </a:rPr>
              <a:t>Averis x Monash Hackathon 2026 · Final Round</a:t>
            </a:r>
            <a:endParaRPr lang="en-MY" sz="1200">
              <a:solidFill>
                <a:srgbClr val="E2E5E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50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64AF6-07F3-7C85-B416-5656605CD3B7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F2430"/>
                </a:solidFill>
                <a:latin typeface="Cambria" panose="02040503050406030204" pitchFamily="18" charset="0"/>
              </a:rPr>
              <a:t>The problem - and the fourth case</a:t>
            </a:r>
            <a:endParaRPr lang="en-MY" sz="3200" b="1">
              <a:solidFill>
                <a:srgbClr val="1F243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6B3AC9-CD63-45EE-4BDD-F6FA8337680C}"/>
              </a:ext>
            </a:extLst>
          </p:cNvPr>
          <p:cNvSpPr/>
          <p:nvPr/>
        </p:nvSpPr>
        <p:spPr>
          <a:xfrm>
            <a:off x="609600" y="1320800"/>
            <a:ext cx="25908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756D41-49FF-46B4-DE82-7F6B1A84ED0D}"/>
              </a:ext>
            </a:extLst>
          </p:cNvPr>
          <p:cNvSpPr/>
          <p:nvPr/>
        </p:nvSpPr>
        <p:spPr>
          <a:xfrm>
            <a:off x="787400" y="1498600"/>
            <a:ext cx="381000" cy="3810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b="1">
                <a:solidFill>
                  <a:srgbClr val="1F2430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3F0A2-903F-31E0-D7C7-BD00C4460004}"/>
              </a:ext>
            </a:extLst>
          </p:cNvPr>
          <p:cNvSpPr txBox="1"/>
          <p:nvPr/>
        </p:nvSpPr>
        <p:spPr>
          <a:xfrm>
            <a:off x="1270000" y="1549400"/>
            <a:ext cx="177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600" b="1">
                <a:solidFill>
                  <a:srgbClr val="1F2430"/>
                </a:solidFill>
                <a:latin typeface="Calibri" panose="020F0502020204030204" pitchFamily="34" charset="0"/>
              </a:rPr>
              <a:t>Classify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28E8D-5693-2491-67A0-3D4CA9A6F644}"/>
              </a:ext>
            </a:extLst>
          </p:cNvPr>
          <p:cNvSpPr txBox="1"/>
          <p:nvPr/>
        </p:nvSpPr>
        <p:spPr>
          <a:xfrm>
            <a:off x="787400" y="2006600"/>
            <a:ext cx="2235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200">
                <a:solidFill>
                  <a:srgbClr val="1F2430"/>
                </a:solidFill>
                <a:latin typeface="Calibri" panose="020F0502020204030204" pitchFamily="34" charset="0"/>
              </a:rPr>
              <a:t>Tell message types apart: comparison requests, new SI requests, invoice queries, general mail, spam.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8C4BFA-8786-85BD-CDA5-7D0E6EB7B5A7}"/>
              </a:ext>
            </a:extLst>
          </p:cNvPr>
          <p:cNvSpPr/>
          <p:nvPr/>
        </p:nvSpPr>
        <p:spPr>
          <a:xfrm>
            <a:off x="3403600" y="1320800"/>
            <a:ext cx="25908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4530E5-58B9-FEF1-D76C-EF640074D865}"/>
              </a:ext>
            </a:extLst>
          </p:cNvPr>
          <p:cNvSpPr/>
          <p:nvPr/>
        </p:nvSpPr>
        <p:spPr>
          <a:xfrm>
            <a:off x="3581400" y="1498600"/>
            <a:ext cx="381000" cy="3810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b="1">
                <a:solidFill>
                  <a:srgbClr val="1F2430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C2B9A-8D14-A9E5-28B9-12B09D987B38}"/>
              </a:ext>
            </a:extLst>
          </p:cNvPr>
          <p:cNvSpPr txBox="1"/>
          <p:nvPr/>
        </p:nvSpPr>
        <p:spPr>
          <a:xfrm>
            <a:off x="4064000" y="1549400"/>
            <a:ext cx="177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600" b="1">
                <a:solidFill>
                  <a:srgbClr val="1F2430"/>
                </a:solidFill>
                <a:latin typeface="Calibri" panose="020F0502020204030204" pitchFamily="34" charset="0"/>
              </a:rPr>
              <a:t>Extract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11D71-2D30-9789-1C54-6A0182278A0D}"/>
              </a:ext>
            </a:extLst>
          </p:cNvPr>
          <p:cNvSpPr txBox="1"/>
          <p:nvPr/>
        </p:nvSpPr>
        <p:spPr>
          <a:xfrm>
            <a:off x="3581400" y="2006600"/>
            <a:ext cx="2235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For comparison requests, read the SI and BL attachments and pull the matching shipment fields.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3D1827-4D91-ED73-9874-133BAE26AD5A}"/>
              </a:ext>
            </a:extLst>
          </p:cNvPr>
          <p:cNvSpPr/>
          <p:nvPr/>
        </p:nvSpPr>
        <p:spPr>
          <a:xfrm>
            <a:off x="6197600" y="1320800"/>
            <a:ext cx="25908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C051C7-36F5-9004-5E9C-11027B402D58}"/>
              </a:ext>
            </a:extLst>
          </p:cNvPr>
          <p:cNvSpPr/>
          <p:nvPr/>
        </p:nvSpPr>
        <p:spPr>
          <a:xfrm>
            <a:off x="6375400" y="1498600"/>
            <a:ext cx="381000" cy="3810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b="1">
                <a:solidFill>
                  <a:srgbClr val="1F2430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17139-9CB0-914E-6D2D-B24DDC67FF42}"/>
              </a:ext>
            </a:extLst>
          </p:cNvPr>
          <p:cNvSpPr txBox="1"/>
          <p:nvPr/>
        </p:nvSpPr>
        <p:spPr>
          <a:xfrm>
            <a:off x="6858000" y="1549400"/>
            <a:ext cx="177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600" b="1">
                <a:solidFill>
                  <a:srgbClr val="1F2430"/>
                </a:solidFill>
                <a:latin typeface="Calibri" panose="020F0502020204030204" pitchFamily="34" charset="0"/>
              </a:rPr>
              <a:t>Compare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9963B-5CD0-EB47-2745-CE28D2A4D30A}"/>
              </a:ext>
            </a:extLst>
          </p:cNvPr>
          <p:cNvSpPr txBox="1"/>
          <p:nvPr/>
        </p:nvSpPr>
        <p:spPr>
          <a:xfrm>
            <a:off x="6375400" y="2006600"/>
            <a:ext cx="2235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Surface any mismatched fields, showing the SI and BL values side by side.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C6DA60-E50D-6CC4-0AAC-26F9A3FC3683}"/>
              </a:ext>
            </a:extLst>
          </p:cNvPr>
          <p:cNvSpPr/>
          <p:nvPr/>
        </p:nvSpPr>
        <p:spPr>
          <a:xfrm>
            <a:off x="8991600" y="1320800"/>
            <a:ext cx="25908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33FE28-6255-314A-38BE-F879E83BD6F2}"/>
              </a:ext>
            </a:extLst>
          </p:cNvPr>
          <p:cNvSpPr/>
          <p:nvPr/>
        </p:nvSpPr>
        <p:spPr>
          <a:xfrm>
            <a:off x="9169400" y="1498600"/>
            <a:ext cx="381000" cy="3810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b="1">
                <a:solidFill>
                  <a:srgbClr val="1F2430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2AAC89-5226-1F5A-6269-4FE29EB2D050}"/>
              </a:ext>
            </a:extLst>
          </p:cNvPr>
          <p:cNvSpPr txBox="1"/>
          <p:nvPr/>
        </p:nvSpPr>
        <p:spPr>
          <a:xfrm>
            <a:off x="9652000" y="1549400"/>
            <a:ext cx="177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600" b="1">
                <a:solidFill>
                  <a:srgbClr val="1F2430"/>
                </a:solidFill>
                <a:latin typeface="Calibri" panose="020F0502020204030204" pitchFamily="34" charset="0"/>
              </a:rPr>
              <a:t>Ask for help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9322D-3D80-2FF6-276A-62595170D00C}"/>
              </a:ext>
            </a:extLst>
          </p:cNvPr>
          <p:cNvSpPr txBox="1"/>
          <p:nvPr/>
        </p:nvSpPr>
        <p:spPr>
          <a:xfrm>
            <a:off x="9169400" y="2006600"/>
            <a:ext cx="2235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When it can't finish on its own, escalate to a person with full context instead of guessing or failing silently.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9B6F2-E242-EA0A-6357-AA9AEB1D4D91}"/>
              </a:ext>
            </a:extLst>
          </p:cNvPr>
          <p:cNvSpPr txBox="1"/>
          <p:nvPr/>
        </p:nvSpPr>
        <p:spPr>
          <a:xfrm>
            <a:off x="609600" y="34036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6B7280"/>
                </a:solidFill>
                <a:latin typeface="Calibri" panose="020F0502020204030204" pitchFamily="34" charset="0"/>
              </a:rPr>
              <a:t>The organisers' own four capabilities. The SI is the reference; the goal is to catch incorrect details before the draft is finalised.</a:t>
            </a:r>
            <a:endParaRPr lang="en-MY" sz="12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1FF69-8F6E-854E-3D8C-E072759BA8F7}"/>
              </a:ext>
            </a:extLst>
          </p:cNvPr>
          <p:cNvSpPr txBox="1"/>
          <p:nvPr/>
        </p:nvSpPr>
        <p:spPr>
          <a:xfrm>
            <a:off x="609600" y="3886200"/>
            <a:ext cx="35179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3B4A6B"/>
                </a:solidFill>
                <a:latin typeface="Calibri" panose="020F0502020204030204" pitchFamily="34" charset="0"/>
              </a:rPr>
              <a:t>Finding the right emails takes time</a:t>
            </a:r>
            <a:endParaRPr lang="en-MY" sz="1400" b="1">
              <a:solidFill>
                <a:srgbClr val="3B4A6B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06BD75-CD9D-4903-DC59-5A5B5E55EBC0}"/>
              </a:ext>
            </a:extLst>
          </p:cNvPr>
          <p:cNvSpPr txBox="1"/>
          <p:nvPr/>
        </p:nvSpPr>
        <p:spPr>
          <a:xfrm>
            <a:off x="609600" y="4419600"/>
            <a:ext cx="35179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A document request that is overlooked never reaches the checking step.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D076DB-522E-FBBE-3EB9-0EBD1797E990}"/>
              </a:ext>
            </a:extLst>
          </p:cNvPr>
          <p:cNvSpPr txBox="1"/>
          <p:nvPr/>
        </p:nvSpPr>
        <p:spPr>
          <a:xfrm>
            <a:off x="4330700" y="3886200"/>
            <a:ext cx="35179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3B4A6B"/>
                </a:solidFill>
                <a:latin typeface="Calibri" panose="020F0502020204030204" pitchFamily="34" charset="0"/>
              </a:rPr>
              <a:t>Manual comparison is easy to get wrong</a:t>
            </a:r>
            <a:endParaRPr lang="en-MY" sz="1400" b="1">
              <a:solidFill>
                <a:srgbClr val="3B4A6B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6DCCB7-A2B0-69D6-0E0F-FC714AACBBCA}"/>
              </a:ext>
            </a:extLst>
          </p:cNvPr>
          <p:cNvSpPr txBox="1"/>
          <p:nvPr/>
        </p:nvSpPr>
        <p:spPr>
          <a:xfrm>
            <a:off x="4330700" y="4419600"/>
            <a:ext cx="35179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Names, ports, quantities and weight across two documents; a missed discrepancy is a correction, a delay, rework.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41D7B-6FB4-0CD3-F042-D0BACEFFB7C2}"/>
              </a:ext>
            </a:extLst>
          </p:cNvPr>
          <p:cNvSpPr txBox="1"/>
          <p:nvPr/>
        </p:nvSpPr>
        <p:spPr>
          <a:xfrm>
            <a:off x="8051800" y="3886200"/>
            <a:ext cx="35179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3B4A6B"/>
                </a:solidFill>
                <a:latin typeface="Calibri" panose="020F0502020204030204" pitchFamily="34" charset="0"/>
              </a:rPr>
              <a:t>The same fact looks different</a:t>
            </a:r>
            <a:endParaRPr lang="en-MY" sz="1400" b="1">
              <a:solidFill>
                <a:srgbClr val="3B4A6B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1FD76E-735E-0458-4E84-CA0166EAD2FA}"/>
              </a:ext>
            </a:extLst>
          </p:cNvPr>
          <p:cNvSpPr txBox="1"/>
          <p:nvPr/>
        </p:nvSpPr>
        <p:spPr>
          <a:xfrm>
            <a:off x="8051800" y="4419600"/>
            <a:ext cx="35179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One document says 'Port of Loading', the other 'Load Port' - the system has to know they are the same field.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990368-7D34-B023-0655-FCD6C8765885}"/>
              </a:ext>
            </a:extLst>
          </p:cNvPr>
          <p:cNvSpPr/>
          <p:nvPr/>
        </p:nvSpPr>
        <p:spPr>
          <a:xfrm>
            <a:off x="609600" y="5537200"/>
            <a:ext cx="10972800" cy="55880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DD5677-D30A-E2E2-5095-BF233199C798}"/>
              </a:ext>
            </a:extLst>
          </p:cNvPr>
          <p:cNvSpPr txBox="1"/>
          <p:nvPr/>
        </p:nvSpPr>
        <p:spPr>
          <a:xfrm>
            <a:off x="812800" y="5626100"/>
            <a:ext cx="10566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The fourth case: sometimes the check cannot be done at all - an unreadable scan, a blank field, the wrong document. That has to reach a person with the reason attached, not be guessed at. Sentinel does all four.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332F32-448D-4BCF-9680-B5E44EA58701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00">
                <a:solidFill>
                  <a:srgbClr val="6B7280"/>
                </a:solidFill>
                <a:latin typeface="Calibri" panose="020F0502020204030204" pitchFamily="34" charset="0"/>
              </a:rPr>
              <a:t>CRITERION 5 · SOLUTION EFFECTIVENESS &amp; USER VALUE</a:t>
            </a:r>
            <a:endParaRPr lang="en-MY" sz="9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1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B4F02-BA5B-93F5-AAAE-82F4AD7DED7F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F2430"/>
                </a:solidFill>
                <a:latin typeface="Cambria" panose="02040503050406030204" pitchFamily="18" charset="0"/>
              </a:rPr>
              <a:t>What it does, end to end</a:t>
            </a:r>
            <a:endParaRPr lang="en-MY" sz="3200" b="1">
              <a:solidFill>
                <a:srgbClr val="1F2430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5ABE0-F8D6-3831-3056-0FCC928A5B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0000"/>
            <a:ext cx="6858000" cy="428625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9E5150-CC67-83FC-FAD3-21676905821E}"/>
              </a:ext>
            </a:extLst>
          </p:cNvPr>
          <p:cNvSpPr txBox="1"/>
          <p:nvPr/>
        </p:nvSpPr>
        <p:spPr>
          <a:xfrm>
            <a:off x="7874000" y="1270000"/>
            <a:ext cx="381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4000" b="1">
                <a:solidFill>
                  <a:srgbClr val="D9A441"/>
                </a:solidFill>
                <a:latin typeface="Cambria" panose="02040503050406030204" pitchFamily="18" charset="0"/>
              </a:rPr>
              <a:t>520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9D772-AEFF-1B9E-3E78-208F0DB633DC}"/>
              </a:ext>
            </a:extLst>
          </p:cNvPr>
          <p:cNvSpPr txBox="1"/>
          <p:nvPr/>
        </p:nvSpPr>
        <p:spPr>
          <a:xfrm>
            <a:off x="7874000" y="1854200"/>
            <a:ext cx="3708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200">
                <a:solidFill>
                  <a:srgbClr val="1F2430"/>
                </a:solidFill>
                <a:latin typeface="Calibri" panose="020F0502020204030204" pitchFamily="34" charset="0"/>
              </a:rPr>
              <a:t>emails, classified and routed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9CAEE-0806-8826-7E7D-85441623287A}"/>
              </a:ext>
            </a:extLst>
          </p:cNvPr>
          <p:cNvSpPr txBox="1"/>
          <p:nvPr/>
        </p:nvSpPr>
        <p:spPr>
          <a:xfrm>
            <a:off x="7874000" y="2438400"/>
            <a:ext cx="381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4000" b="1">
                <a:solidFill>
                  <a:srgbClr val="D9A441"/>
                </a:solidFill>
                <a:latin typeface="Cambria" panose="02040503050406030204" pitchFamily="18" charset="0"/>
              </a:rPr>
              <a:t>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2C78E-BF9C-902A-3940-8B6B0965F85D}"/>
              </a:ext>
            </a:extLst>
          </p:cNvPr>
          <p:cNvSpPr txBox="1"/>
          <p:nvPr/>
        </p:nvSpPr>
        <p:spPr>
          <a:xfrm>
            <a:off x="7874000" y="3022600"/>
            <a:ext cx="3708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mismatches, with the fields that differ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1D413-9B28-EDE4-A8C1-6691BB8A595E}"/>
              </a:ext>
            </a:extLst>
          </p:cNvPr>
          <p:cNvSpPr txBox="1"/>
          <p:nvPr/>
        </p:nvSpPr>
        <p:spPr>
          <a:xfrm>
            <a:off x="7874000" y="3606800"/>
            <a:ext cx="381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4000" b="1">
                <a:solidFill>
                  <a:srgbClr val="D9A441"/>
                </a:solidFill>
                <a:latin typeface="Cambria" panose="02040503050406030204" pitchFamily="18" charset="0"/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DB249-71C6-521E-553F-756D9AB69F7A}"/>
              </a:ext>
            </a:extLst>
          </p:cNvPr>
          <p:cNvSpPr txBox="1"/>
          <p:nvPr/>
        </p:nvSpPr>
        <p:spPr>
          <a:xfrm>
            <a:off x="7874000" y="4191000"/>
            <a:ext cx="3708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sent to a person - with the reason and what to do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15C58-B364-BCB8-DCB9-0934341814D3}"/>
              </a:ext>
            </a:extLst>
          </p:cNvPr>
          <p:cNvSpPr txBox="1"/>
          <p:nvPr/>
        </p:nvSpPr>
        <p:spPr>
          <a:xfrm>
            <a:off x="7874000" y="4775200"/>
            <a:ext cx="381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4000" b="1">
                <a:solidFill>
                  <a:srgbClr val="D9A441"/>
                </a:solidFill>
                <a:latin typeface="Cambria" panose="02040503050406030204" pitchFamily="18" charset="0"/>
              </a:rPr>
              <a:t>12.7 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DD999-18D6-2357-D6A1-794CAA60D93D}"/>
              </a:ext>
            </a:extLst>
          </p:cNvPr>
          <p:cNvSpPr txBox="1"/>
          <p:nvPr/>
        </p:nvSpPr>
        <p:spPr>
          <a:xfrm>
            <a:off x="7874000" y="5359400"/>
            <a:ext cx="3708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for the whole inbox, on a free-tier container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0A213-8DBC-FB1F-010A-678566BBBEEF}"/>
              </a:ext>
            </a:extLst>
          </p:cNvPr>
          <p:cNvSpPr txBox="1"/>
          <p:nvPr/>
        </p:nvSpPr>
        <p:spPr>
          <a:xfrm>
            <a:off x="609600" y="57404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100">
                <a:solidFill>
                  <a:srgbClr val="6B7280"/>
                </a:solidFill>
                <a:latin typeface="Calibri" panose="020F0502020204030204" pitchFamily="34" charset="0"/>
              </a:rPr>
              <a:t>duocode-sentinel.vercel.app · sdoc-sentinel-api.onrender.com - deployed from the repository by the committed render.yaml and vercel.json.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3F026-8250-91EA-8386-730FCD63D92C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MY" sz="900">
                <a:solidFill>
                  <a:srgbClr val="6B7280"/>
                </a:solidFill>
                <a:latin typeface="Calibri" panose="020F0502020204030204" pitchFamily="34" charset="0"/>
              </a:rPr>
              <a:t>CRITERION 1 · END-TO-END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34511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EFC2B-41CA-DBF3-1D87-E578B9C4BC28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MY" sz="3200" b="1">
                <a:solidFill>
                  <a:srgbClr val="1F2430"/>
                </a:solidFill>
                <a:latin typeface="Cambria" panose="02040503050406030204" pitchFamily="18" charset="0"/>
              </a:rPr>
              <a:t>How it decides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C32F9D-8557-0772-8CC2-79736CB854D4}"/>
              </a:ext>
            </a:extLst>
          </p:cNvPr>
          <p:cNvSpPr/>
          <p:nvPr/>
        </p:nvSpPr>
        <p:spPr>
          <a:xfrm>
            <a:off x="711200" y="1498600"/>
            <a:ext cx="1549400" cy="68580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500" b="1">
                <a:solidFill>
                  <a:srgbClr val="1F2430"/>
                </a:solidFill>
                <a:latin typeface="Cambria" panose="02040503050406030204" pitchFamily="18" charset="0"/>
              </a:rPr>
              <a:t>Classify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ADACCE-B7B3-C685-E45E-7791A9FC2FB2}"/>
              </a:ext>
            </a:extLst>
          </p:cNvPr>
          <p:cNvCxnSpPr/>
          <p:nvPr/>
        </p:nvCxnSpPr>
        <p:spPr>
          <a:xfrm>
            <a:off x="2298700" y="1841500"/>
            <a:ext cx="203200" cy="0"/>
          </a:xfrm>
          <a:prstGeom prst="line">
            <a:avLst/>
          </a:prstGeom>
          <a:ln w="19050">
            <a:solidFill>
              <a:srgbClr val="3B4A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0E9877-801E-33B9-2A56-3813EF50A954}"/>
              </a:ext>
            </a:extLst>
          </p:cNvPr>
          <p:cNvSpPr/>
          <p:nvPr/>
        </p:nvSpPr>
        <p:spPr>
          <a:xfrm>
            <a:off x="2540000" y="1498600"/>
            <a:ext cx="1549400" cy="68580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500" b="1">
                <a:solidFill>
                  <a:srgbClr val="1F2430"/>
                </a:solidFill>
                <a:latin typeface="Cambria" panose="02040503050406030204" pitchFamily="18" charset="0"/>
              </a:rPr>
              <a:t>Intake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9C24F3-A844-C9A0-461A-27C4AD66A942}"/>
              </a:ext>
            </a:extLst>
          </p:cNvPr>
          <p:cNvCxnSpPr/>
          <p:nvPr/>
        </p:nvCxnSpPr>
        <p:spPr>
          <a:xfrm>
            <a:off x="4127500" y="1841500"/>
            <a:ext cx="203200" cy="0"/>
          </a:xfrm>
          <a:prstGeom prst="line">
            <a:avLst/>
          </a:prstGeom>
          <a:ln w="19050">
            <a:solidFill>
              <a:srgbClr val="3B4A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E56A55-DCAF-52C5-2999-8D2612B7DB7C}"/>
              </a:ext>
            </a:extLst>
          </p:cNvPr>
          <p:cNvSpPr/>
          <p:nvPr/>
        </p:nvSpPr>
        <p:spPr>
          <a:xfrm>
            <a:off x="4368800" y="1498600"/>
            <a:ext cx="1549400" cy="68580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500" b="1">
                <a:solidFill>
                  <a:srgbClr val="1F2430"/>
                </a:solidFill>
                <a:latin typeface="Cambria" panose="02040503050406030204" pitchFamily="18" charset="0"/>
              </a:rPr>
              <a:t>Extract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BB396F-FB9D-2C88-A9C1-18838BAB7834}"/>
              </a:ext>
            </a:extLst>
          </p:cNvPr>
          <p:cNvCxnSpPr/>
          <p:nvPr/>
        </p:nvCxnSpPr>
        <p:spPr>
          <a:xfrm>
            <a:off x="5956300" y="1841500"/>
            <a:ext cx="203200" cy="0"/>
          </a:xfrm>
          <a:prstGeom prst="line">
            <a:avLst/>
          </a:prstGeom>
          <a:ln w="19050">
            <a:solidFill>
              <a:srgbClr val="3B4A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BBF386-7089-A0EE-DC0F-16D54F4096BF}"/>
              </a:ext>
            </a:extLst>
          </p:cNvPr>
          <p:cNvSpPr/>
          <p:nvPr/>
        </p:nvSpPr>
        <p:spPr>
          <a:xfrm>
            <a:off x="6197600" y="1498600"/>
            <a:ext cx="1549400" cy="68580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500" b="1">
                <a:solidFill>
                  <a:srgbClr val="1F2430"/>
                </a:solidFill>
                <a:latin typeface="Cambria" panose="02040503050406030204" pitchFamily="18" charset="0"/>
              </a:rPr>
              <a:t>Compare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6EA03A-6294-E848-95A1-4F1A0558590B}"/>
              </a:ext>
            </a:extLst>
          </p:cNvPr>
          <p:cNvCxnSpPr/>
          <p:nvPr/>
        </p:nvCxnSpPr>
        <p:spPr>
          <a:xfrm>
            <a:off x="7785100" y="1841500"/>
            <a:ext cx="203200" cy="0"/>
          </a:xfrm>
          <a:prstGeom prst="line">
            <a:avLst/>
          </a:prstGeom>
          <a:ln w="19050">
            <a:solidFill>
              <a:srgbClr val="3B4A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3CC564-8B9C-46CF-B900-287F8972F1C3}"/>
              </a:ext>
            </a:extLst>
          </p:cNvPr>
          <p:cNvSpPr/>
          <p:nvPr/>
        </p:nvSpPr>
        <p:spPr>
          <a:xfrm>
            <a:off x="8026400" y="1498600"/>
            <a:ext cx="1549400" cy="6858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500" b="1">
                <a:solidFill>
                  <a:srgbClr val="1F2430"/>
                </a:solidFill>
                <a:latin typeface="Cambria" panose="02040503050406030204" pitchFamily="18" charset="0"/>
              </a:rPr>
              <a:t>GATE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713E5B-4B82-4E74-B9F3-995A45075AC8}"/>
              </a:ext>
            </a:extLst>
          </p:cNvPr>
          <p:cNvCxnSpPr/>
          <p:nvPr/>
        </p:nvCxnSpPr>
        <p:spPr>
          <a:xfrm>
            <a:off x="9613900" y="1841500"/>
            <a:ext cx="203200" cy="0"/>
          </a:xfrm>
          <a:prstGeom prst="line">
            <a:avLst/>
          </a:prstGeom>
          <a:ln w="19050">
            <a:solidFill>
              <a:srgbClr val="3B4A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C00A6D-191D-9FB8-1655-437BA96B0FCB}"/>
              </a:ext>
            </a:extLst>
          </p:cNvPr>
          <p:cNvSpPr/>
          <p:nvPr/>
        </p:nvSpPr>
        <p:spPr>
          <a:xfrm>
            <a:off x="9855200" y="1498600"/>
            <a:ext cx="1549400" cy="685800"/>
          </a:xfrm>
          <a:prstGeom prst="roundRect">
            <a:avLst>
              <a:gd name="adj" fmla="val 1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500" b="1">
                <a:solidFill>
                  <a:srgbClr val="1F2430"/>
                </a:solidFill>
                <a:latin typeface="Cambria" panose="02040503050406030204" pitchFamily="18" charset="0"/>
              </a:rPr>
              <a:t>Decide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4E3524-74B1-61EA-EC0F-093CDD704E29}"/>
              </a:ext>
            </a:extLst>
          </p:cNvPr>
          <p:cNvCxnSpPr/>
          <p:nvPr/>
        </p:nvCxnSpPr>
        <p:spPr>
          <a:xfrm flipH="1">
            <a:off x="6972300" y="1422400"/>
            <a:ext cx="1828800" cy="0"/>
          </a:xfrm>
          <a:prstGeom prst="line">
            <a:avLst/>
          </a:prstGeom>
          <a:ln w="19050">
            <a:solidFill>
              <a:srgbClr val="9C6C1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E33244-FA64-A95D-936F-FEE2B852A912}"/>
              </a:ext>
            </a:extLst>
          </p:cNvPr>
          <p:cNvSpPr txBox="1"/>
          <p:nvPr/>
        </p:nvSpPr>
        <p:spPr>
          <a:xfrm>
            <a:off x="6324600" y="1117600"/>
            <a:ext cx="3302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MY" sz="1000">
                <a:solidFill>
                  <a:srgbClr val="9C6C18"/>
                </a:solidFill>
                <a:latin typeface="Calibri" panose="020F0502020204030204" pitchFamily="34" charset="0"/>
              </a:rPr>
              <a:t>can veto the comparison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82947C-28A4-9931-7E26-D0150607763C}"/>
              </a:ext>
            </a:extLst>
          </p:cNvPr>
          <p:cNvSpPr txBox="1"/>
          <p:nvPr/>
        </p:nvSpPr>
        <p:spPr>
          <a:xfrm>
            <a:off x="609600" y="24130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Six stages, one direction. The gate runs after the comparison: a value we cannot find again in the document it was read from is never reported as a discrepancy - it becomes a question for a person, with both readings attached.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B151C9-4134-EB0A-0346-82A7E63EB719}"/>
              </a:ext>
            </a:extLst>
          </p:cNvPr>
          <p:cNvSpPr/>
          <p:nvPr/>
        </p:nvSpPr>
        <p:spPr>
          <a:xfrm>
            <a:off x="609600" y="3098800"/>
            <a:ext cx="3517900" cy="203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9DC06-DA52-CBD5-92C6-744D60C3A8F1}"/>
              </a:ext>
            </a:extLst>
          </p:cNvPr>
          <p:cNvSpPr txBox="1"/>
          <p:nvPr/>
        </p:nvSpPr>
        <p:spPr>
          <a:xfrm>
            <a:off x="787400" y="3276600"/>
            <a:ext cx="31623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3B4A6B"/>
                </a:solidFill>
                <a:latin typeface="Calibri" panose="020F0502020204030204" pitchFamily="34" charset="0"/>
              </a:rPr>
              <a:t>Labels by meaning, values exactly</a:t>
            </a:r>
            <a:endParaRPr lang="en-MY" sz="1400" b="1">
              <a:solidFill>
                <a:srgbClr val="3B4A6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A12B2C-61C2-AB69-D905-59D7A294FDD5}"/>
              </a:ext>
            </a:extLst>
          </p:cNvPr>
          <p:cNvSpPr txBox="1"/>
          <p:nvPr/>
        </p:nvSpPr>
        <p:spPr>
          <a:xfrm>
            <a:off x="787400" y="3810000"/>
            <a:ext cx="31623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Never a similarity score. A threshold loose enough to forgive a scan artefact also merges two real companies - and this data has them.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246042-A189-CA4B-CF6D-8BDA5BC1A79A}"/>
              </a:ext>
            </a:extLst>
          </p:cNvPr>
          <p:cNvSpPr/>
          <p:nvPr/>
        </p:nvSpPr>
        <p:spPr>
          <a:xfrm>
            <a:off x="4330700" y="3098800"/>
            <a:ext cx="3517900" cy="203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A0344-277F-34F7-E11B-43FBE70CE5AB}"/>
              </a:ext>
            </a:extLst>
          </p:cNvPr>
          <p:cNvSpPr txBox="1"/>
          <p:nvPr/>
        </p:nvSpPr>
        <p:spPr>
          <a:xfrm>
            <a:off x="4508500" y="3276600"/>
            <a:ext cx="31623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400" b="1">
                <a:solidFill>
                  <a:srgbClr val="3B4A6B"/>
                </a:solidFill>
                <a:latin typeface="Calibri" panose="020F0502020204030204" pitchFamily="34" charset="0"/>
              </a:rPr>
              <a:t>Rules first, model second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76A62E-5720-C103-2737-72236A4F01E2}"/>
              </a:ext>
            </a:extLst>
          </p:cNvPr>
          <p:cNvSpPr txBox="1"/>
          <p:nvPr/>
        </p:nvSpPr>
        <p:spPr>
          <a:xfrm>
            <a:off x="4508500" y="3810000"/>
            <a:ext cx="31623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Every stage tries a deterministic answer before a model, and records which one answered (decided_by). The model is asked only where the rules admit they cannot read.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BBC391-2145-C053-125D-211F9B420E8D}"/>
              </a:ext>
            </a:extLst>
          </p:cNvPr>
          <p:cNvSpPr/>
          <p:nvPr/>
        </p:nvSpPr>
        <p:spPr>
          <a:xfrm>
            <a:off x="8051800" y="3098800"/>
            <a:ext cx="3517900" cy="2032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CFCBA4-A8A7-46EE-8E59-27E7E7891FD6}"/>
              </a:ext>
            </a:extLst>
          </p:cNvPr>
          <p:cNvSpPr txBox="1"/>
          <p:nvPr/>
        </p:nvSpPr>
        <p:spPr>
          <a:xfrm>
            <a:off x="8229600" y="3276600"/>
            <a:ext cx="31623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400" b="1">
                <a:solidFill>
                  <a:srgbClr val="3B4A6B"/>
                </a:solidFill>
                <a:latin typeface="Calibri" panose="020F0502020204030204" pitchFamily="34" charset="0"/>
              </a:rPr>
              <a:t>One stateless pipeline library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8D8E07-C4A6-5E3E-7B94-1B85B7813FC2}"/>
              </a:ext>
            </a:extLst>
          </p:cNvPr>
          <p:cNvSpPr txBox="1"/>
          <p:nvPr/>
        </p:nvSpPr>
        <p:spPr>
          <a:xfrm>
            <a:off x="8229600" y="3810000"/>
            <a:ext cx="31623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No web framework or database in backend/sdoc. The CLI, the API and the tests run the same code, so the thing scored is the thing demonstrated.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8D7B75-15FD-2912-D22B-BEA00D03181F}"/>
              </a:ext>
            </a:extLst>
          </p:cNvPr>
          <p:cNvSpPr txBox="1"/>
          <p:nvPr/>
        </p:nvSpPr>
        <p:spPr>
          <a:xfrm>
            <a:off x="609600" y="53086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B7280"/>
                </a:solidFill>
                <a:latin typeface="Calibri" panose="020F0502020204030204" pitchFamily="34" charset="0"/>
              </a:rPr>
              <a:t>Scaling, as built: state sits behind one class in one file (store.py) - Postgres is a one-file change · one worker on purpose · throughput is more copies of a stateless library · cost does not scale with volume on this inbox · per-desk rules slot into the existing stage boundaries.</a:t>
            </a:r>
            <a:endParaRPr lang="en-MY" sz="11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3F9127-DCA7-812C-2C9D-D56F2214E3D7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MY" sz="900">
                <a:solidFill>
                  <a:srgbClr val="6B7280"/>
                </a:solidFill>
                <a:latin typeface="Calibri" panose="020F0502020204030204" pitchFamily="34" charset="0"/>
              </a:rPr>
              <a:t>CRITERION 2 · ARCHITECTURE &amp; SCALABILITY</a:t>
            </a:r>
          </a:p>
        </p:txBody>
      </p:sp>
    </p:spTree>
    <p:extLst>
      <p:ext uri="{BB962C8B-B14F-4D97-AF65-F5344CB8AC3E}">
        <p14:creationId xmlns:p14="http://schemas.microsoft.com/office/powerpoint/2010/main" val="3887469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3C6697-6C1D-0E5A-28D7-763ED1E689AE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F2430"/>
                </a:solidFill>
                <a:latin typeface="Cambria" panose="02040503050406030204" pitchFamily="18" charset="0"/>
              </a:rPr>
              <a:t>Where the AI is - and why it is aimed</a:t>
            </a:r>
            <a:endParaRPr lang="en-MY" sz="3200" b="1">
              <a:solidFill>
                <a:srgbClr val="1F243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866B18-0FD4-0F75-BB6D-A4DD8D907E0E}"/>
              </a:ext>
            </a:extLst>
          </p:cNvPr>
          <p:cNvSpPr/>
          <p:nvPr/>
        </p:nvSpPr>
        <p:spPr>
          <a:xfrm>
            <a:off x="609600" y="1320800"/>
            <a:ext cx="431800" cy="431800"/>
          </a:xfrm>
          <a:prstGeom prst="ellipse">
            <a:avLst/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530" b="1">
                <a:solidFill>
                  <a:srgbClr val="FFFFFF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22211-0671-7187-FA45-31363A97AE60}"/>
              </a:ext>
            </a:extLst>
          </p:cNvPr>
          <p:cNvSpPr txBox="1"/>
          <p:nvPr/>
        </p:nvSpPr>
        <p:spPr>
          <a:xfrm>
            <a:off x="1219200" y="12954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F2430"/>
                </a:solidFill>
                <a:latin typeface="Calibri" panose="020F0502020204030204" pitchFamily="34" charset="0"/>
              </a:rPr>
              <a:t>Classify - an email the rules cannot separate</a:t>
            </a:r>
            <a:endParaRPr lang="en-MY" sz="1400" b="1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9415B-9136-60DD-A540-9C54E210AF8E}"/>
              </a:ext>
            </a:extLst>
          </p:cNvPr>
          <p:cNvSpPr txBox="1"/>
          <p:nvPr/>
        </p:nvSpPr>
        <p:spPr>
          <a:xfrm>
            <a:off x="1219200" y="16002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6B7280"/>
                </a:solidFill>
                <a:latin typeface="Calibri" panose="020F0502020204030204" pitchFamily="34" charset="0"/>
              </a:rPr>
              <a:t>asked only when the rule score is ambiguous; a closed five-way answer, never free text</a:t>
            </a:r>
            <a:endParaRPr lang="en-MY" sz="11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F38589-49AE-00DB-ED91-F00CBB7ED11F}"/>
              </a:ext>
            </a:extLst>
          </p:cNvPr>
          <p:cNvSpPr/>
          <p:nvPr/>
        </p:nvSpPr>
        <p:spPr>
          <a:xfrm>
            <a:off x="609600" y="2362200"/>
            <a:ext cx="431800" cy="431800"/>
          </a:xfrm>
          <a:prstGeom prst="ellipse">
            <a:avLst/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530" b="1">
                <a:solidFill>
                  <a:srgbClr val="FFFFFF"/>
                </a:solidFill>
                <a:latin typeface="Calibri" panose="020F0502020204030204" pitchFamily="34" charset="0"/>
              </a:rPr>
              <a:t>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71A8F2-C2C8-01F3-06E9-B85F6B56C20B}"/>
              </a:ext>
            </a:extLst>
          </p:cNvPr>
          <p:cNvSpPr txBox="1"/>
          <p:nvPr/>
        </p:nvSpPr>
        <p:spPr>
          <a:xfrm>
            <a:off x="1219200" y="23368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F2430"/>
                </a:solidFill>
                <a:latin typeface="Calibri" panose="020F0502020204030204" pitchFamily="34" charset="0"/>
              </a:rPr>
              <a:t>Read - a field label the table has never seen</a:t>
            </a:r>
            <a:endParaRPr lang="en-MY" sz="1400" b="1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8A002-17A8-52D5-5061-4E88F5F655A6}"/>
              </a:ext>
            </a:extLst>
          </p:cNvPr>
          <p:cNvSpPr txBox="1"/>
          <p:nvPr/>
        </p:nvSpPr>
        <p:spPr>
          <a:xfrm>
            <a:off x="1219200" y="26416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6B7280"/>
                </a:solidFill>
                <a:latin typeface="Calibri" panose="020F0502020204030204" pitchFamily="34" charset="0"/>
              </a:rPr>
              <a:t>asked only about fields no rule resolved; every value must be found again in the document before it is adopted</a:t>
            </a:r>
            <a:endParaRPr lang="en-MY" sz="11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61E4A2-431D-E146-C949-CB69A7A30EAF}"/>
              </a:ext>
            </a:extLst>
          </p:cNvPr>
          <p:cNvSpPr/>
          <p:nvPr/>
        </p:nvSpPr>
        <p:spPr>
          <a:xfrm>
            <a:off x="609600" y="3403600"/>
            <a:ext cx="431800" cy="431800"/>
          </a:xfrm>
          <a:prstGeom prst="ellipse">
            <a:avLst/>
          </a:prstGeom>
          <a:solidFill>
            <a:srgbClr val="7C5C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530" b="1">
                <a:solidFill>
                  <a:srgbClr val="FFFFFF"/>
                </a:solidFill>
                <a:latin typeface="Calibri" panose="020F0502020204030204" pitchFamily="34" charset="0"/>
              </a:rPr>
              <a:t>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4EF5A-4F5E-C556-CB65-C23B6D392ABE}"/>
              </a:ext>
            </a:extLst>
          </p:cNvPr>
          <p:cNvSpPr txBox="1"/>
          <p:nvPr/>
        </p:nvSpPr>
        <p:spPr>
          <a:xfrm>
            <a:off x="1219200" y="33782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F2430"/>
                </a:solidFill>
                <a:latin typeface="Calibri" panose="020F0502020204030204" pitchFamily="34" charset="0"/>
              </a:rPr>
              <a:t>See - a scanned page with no text layer</a:t>
            </a:r>
            <a:endParaRPr lang="en-MY" sz="1400" b="1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7A0D3-1E18-AA30-C7DE-6E29BB68AA12}"/>
              </a:ext>
            </a:extLst>
          </p:cNvPr>
          <p:cNvSpPr txBox="1"/>
          <p:nvPr/>
        </p:nvSpPr>
        <p:spPr>
          <a:xfrm>
            <a:off x="1219200" y="36830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6B7280"/>
                </a:solidFill>
                <a:latin typeface="Calibri" panose="020F0502020204030204" pitchFamily="34" charset="0"/>
              </a:rPr>
              <a:t>transcribed for the reviewer, never fed into a comparison - the case stays in review</a:t>
            </a:r>
            <a:endParaRPr lang="en-MY" sz="11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FFF05-C334-1B10-BA1C-9ECFE75BD56D}"/>
              </a:ext>
            </a:extLst>
          </p:cNvPr>
          <p:cNvSpPr txBox="1"/>
          <p:nvPr/>
        </p:nvSpPr>
        <p:spPr>
          <a:xfrm>
            <a:off x="609600" y="4470400"/>
            <a:ext cx="6604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1F2430"/>
                </a:solidFill>
                <a:latin typeface="Calibri" panose="020F0502020204030204" pitchFamily="34" charset="0"/>
              </a:rPr>
              <a:t>gpt-5-mini, structured output. One rule for all three: nothing the model returns is adopted until it is found again in the document.</a:t>
            </a:r>
            <a:endParaRPr lang="en-MY" sz="120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6FE3E6-B9F0-F6EC-E238-854265D50E5A}"/>
              </a:ext>
            </a:extLst>
          </p:cNvPr>
          <p:cNvSpPr/>
          <p:nvPr/>
        </p:nvSpPr>
        <p:spPr>
          <a:xfrm>
            <a:off x="7620000" y="1320800"/>
            <a:ext cx="3962400" cy="287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508D42-7752-76B0-F9A3-DEC20F8CFF37}"/>
              </a:ext>
            </a:extLst>
          </p:cNvPr>
          <p:cNvSpPr txBox="1"/>
          <p:nvPr/>
        </p:nvSpPr>
        <p:spPr>
          <a:xfrm>
            <a:off x="7772400" y="1549400"/>
            <a:ext cx="1651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MY" sz="5600" b="1">
                <a:solidFill>
                  <a:srgbClr val="6B7280"/>
                </a:solidFill>
                <a:latin typeface="Cambria" panose="02040503050406030204" pitchFamily="18" charset="0"/>
              </a:rPr>
              <a:t>168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4AB2F7-FCF1-2936-FF6D-C72D56F7844F}"/>
              </a:ext>
            </a:extLst>
          </p:cNvPr>
          <p:cNvSpPr txBox="1"/>
          <p:nvPr/>
        </p:nvSpPr>
        <p:spPr>
          <a:xfrm>
            <a:off x="9499600" y="1651000"/>
            <a:ext cx="381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MY" sz="3000">
                <a:solidFill>
                  <a:srgbClr val="6B7280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C5147D-4BB4-DDB9-97EB-ADA4C60C3645}"/>
              </a:ext>
            </a:extLst>
          </p:cNvPr>
          <p:cNvSpPr txBox="1"/>
          <p:nvPr/>
        </p:nvSpPr>
        <p:spPr>
          <a:xfrm>
            <a:off x="9982200" y="15494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5600" b="1">
                <a:solidFill>
                  <a:srgbClr val="D9A441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F8709E-F3F6-E11E-9B34-7C68AB5F7CE9}"/>
              </a:ext>
            </a:extLst>
          </p:cNvPr>
          <p:cNvSpPr txBox="1"/>
          <p:nvPr/>
        </p:nvSpPr>
        <p:spPr>
          <a:xfrm>
            <a:off x="7823200" y="2540000"/>
            <a:ext cx="3556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cases forced to a human on wording we invented - rules alone vs rules + model, 188 documents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691F02-744C-4F5C-02C6-D11EB977E782}"/>
              </a:ext>
            </a:extLst>
          </p:cNvPr>
          <p:cNvSpPr txBox="1"/>
          <p:nvPr/>
        </p:nvSpPr>
        <p:spPr>
          <a:xfrm>
            <a:off x="7823200" y="3175000"/>
            <a:ext cx="3556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 b="1">
                <a:solidFill>
                  <a:srgbClr val="3B4A6B"/>
                </a:solidFill>
                <a:latin typeface="Calibri" panose="020F0502020204030204" pitchFamily="34" charset="0"/>
              </a:rPr>
              <a:t>False discrepancies: 0 both ways. Recall bought by guessing would have shown up there; it didn't.</a:t>
            </a:r>
            <a:endParaRPr lang="en-MY" sz="1150" b="1">
              <a:solidFill>
                <a:srgbClr val="3B4A6B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BB3F4C-2A0A-A306-B2E1-0AEF9B8B0BCA}"/>
              </a:ext>
            </a:extLst>
          </p:cNvPr>
          <p:cNvSpPr/>
          <p:nvPr/>
        </p:nvSpPr>
        <p:spPr>
          <a:xfrm>
            <a:off x="609600" y="5130800"/>
            <a:ext cx="10972800" cy="685800"/>
          </a:xfrm>
          <a:prstGeom prst="roundRect">
            <a:avLst>
              <a:gd name="adj" fmla="val 15000"/>
            </a:avLst>
          </a:prstGeom>
          <a:solidFill>
            <a:srgbClr val="FFF4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C89E20-7F78-62CD-E6A5-5CB35CD7421A}"/>
              </a:ext>
            </a:extLst>
          </p:cNvPr>
          <p:cNvSpPr txBox="1"/>
          <p:nvPr/>
        </p:nvSpPr>
        <p:spPr>
          <a:xfrm>
            <a:off x="812800" y="5207000"/>
            <a:ext cx="105664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$0.0013 per document at the published rates · cached · $2 ceiling per run.   On this inbox: 0 classifier calls, 0 extractor calls, 6 scans read out for the reviewer - every decision is a rule's, and that is measured, not assumed.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D31C88-201F-202E-3A0F-4C78C201E158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MY" sz="900">
                <a:solidFill>
                  <a:srgbClr val="6B7280"/>
                </a:solidFill>
                <a:latin typeface="Calibri" panose="020F0502020204030204" pitchFamily="34" charset="0"/>
              </a:rPr>
              <a:t>CRITERION 3 · TECHNOLOGY INTEGRATION</a:t>
            </a:r>
          </a:p>
        </p:txBody>
      </p:sp>
    </p:spTree>
    <p:extLst>
      <p:ext uri="{BB962C8B-B14F-4D97-AF65-F5344CB8AC3E}">
        <p14:creationId xmlns:p14="http://schemas.microsoft.com/office/powerpoint/2010/main" val="238618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FD31E3-4223-9847-2159-A886B194CFFC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F2430"/>
                </a:solidFill>
                <a:latin typeface="Cambria" panose="02040503050406030204" pitchFamily="18" charset="0"/>
              </a:rPr>
              <a:t>How we know it holds</a:t>
            </a:r>
            <a:endParaRPr lang="en-MY" sz="3200" b="1">
              <a:solidFill>
                <a:srgbClr val="1F243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74BEAB-2256-2813-F6D9-FFE380D69649}"/>
              </a:ext>
            </a:extLst>
          </p:cNvPr>
          <p:cNvSpPr/>
          <p:nvPr/>
        </p:nvSpPr>
        <p:spPr>
          <a:xfrm>
            <a:off x="609600" y="1270000"/>
            <a:ext cx="34544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7C8B5-2320-906C-859F-8F0698A4FC7D}"/>
              </a:ext>
            </a:extLst>
          </p:cNvPr>
          <p:cNvSpPr txBox="1"/>
          <p:nvPr/>
        </p:nvSpPr>
        <p:spPr>
          <a:xfrm>
            <a:off x="787400" y="1422400"/>
            <a:ext cx="309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500" b="1">
                <a:solidFill>
                  <a:srgbClr val="3B4A6B"/>
                </a:solidFill>
                <a:latin typeface="Calibri" panose="020F0502020204030204" pitchFamily="34" charset="0"/>
              </a:rPr>
              <a:t>Not memorised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A03E7-0F6E-F424-540F-FF850279D25A}"/>
              </a:ext>
            </a:extLst>
          </p:cNvPr>
          <p:cNvSpPr txBox="1"/>
          <p:nvPr/>
        </p:nvSpPr>
        <p:spPr>
          <a:xfrm>
            <a:off x="787400" y="1778000"/>
            <a:ext cx="3098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1.0000 on four datasets, three from seeds we never developed against - 225 planted defects caught with the exact field set, 80/80 escalations correct.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0A3163-821F-A073-64AA-EA045276B9A9}"/>
              </a:ext>
            </a:extLst>
          </p:cNvPr>
          <p:cNvSpPr/>
          <p:nvPr/>
        </p:nvSpPr>
        <p:spPr>
          <a:xfrm>
            <a:off x="4241800" y="1270000"/>
            <a:ext cx="34544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AC709-4318-8C90-2BB5-B4459D85757C}"/>
              </a:ext>
            </a:extLst>
          </p:cNvPr>
          <p:cNvSpPr txBox="1"/>
          <p:nvPr/>
        </p:nvSpPr>
        <p:spPr>
          <a:xfrm>
            <a:off x="4419600" y="1422400"/>
            <a:ext cx="309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500" b="1">
                <a:solidFill>
                  <a:srgbClr val="3B4A6B"/>
                </a:solidFill>
                <a:latin typeface="Calibri" panose="020F0502020204030204" pitchFamily="34" charset="0"/>
              </a:rPr>
              <a:t>Attacked ourselves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C96E-6F98-4AA7-650C-0B66919736FF}"/>
              </a:ext>
            </a:extLst>
          </p:cNvPr>
          <p:cNvSpPr txBox="1"/>
          <p:nvPr/>
        </p:nvSpPr>
        <p:spPr>
          <a:xfrm>
            <a:off x="4419600" y="1778000"/>
            <a:ext cx="3098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16 kinds of damage, 3,008 perturbed documents, 20,496 field reads, no answer key. Thirteen modes at zero movement; silent wrong values 982 -&gt; 0.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9E185C-3384-2FEB-2D09-C02B4D24E0F0}"/>
              </a:ext>
            </a:extLst>
          </p:cNvPr>
          <p:cNvSpPr/>
          <p:nvPr/>
        </p:nvSpPr>
        <p:spPr>
          <a:xfrm>
            <a:off x="609600" y="3352800"/>
            <a:ext cx="34544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F4573-8A87-C9D7-3EDC-0C7AB91106BF}"/>
              </a:ext>
            </a:extLst>
          </p:cNvPr>
          <p:cNvSpPr txBox="1"/>
          <p:nvPr/>
        </p:nvSpPr>
        <p:spPr>
          <a:xfrm>
            <a:off x="787400" y="3505200"/>
            <a:ext cx="309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500" b="1">
                <a:solidFill>
                  <a:srgbClr val="3B4A6B"/>
                </a:solidFill>
                <a:latin typeface="Calibri" panose="020F0502020204030204" pitchFamily="34" charset="0"/>
              </a:rPr>
              <a:t>A real carrier's 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7EAF4A-E651-3DBF-A3B4-198C66086FA9}"/>
              </a:ext>
            </a:extLst>
          </p:cNvPr>
          <p:cNvSpPr txBox="1"/>
          <p:nvPr/>
        </p:nvSpPr>
        <p:spPr>
          <a:xfrm>
            <a:off x="787400" y="3860800"/>
            <a:ext cx="3098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CMA CGM's public SI template, from outside the generator: four fields held, one bug found and fixed the same day.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CB26E8-4967-606A-E930-402E64226C3F}"/>
              </a:ext>
            </a:extLst>
          </p:cNvPr>
          <p:cNvSpPr/>
          <p:nvPr/>
        </p:nvSpPr>
        <p:spPr>
          <a:xfrm>
            <a:off x="4241800" y="3352800"/>
            <a:ext cx="3454400" cy="1905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01DEE3-08FF-8812-C261-03D18AA55A23}"/>
              </a:ext>
            </a:extLst>
          </p:cNvPr>
          <p:cNvSpPr txBox="1"/>
          <p:nvPr/>
        </p:nvSpPr>
        <p:spPr>
          <a:xfrm>
            <a:off x="4419600" y="3505200"/>
            <a:ext cx="309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500" b="1">
                <a:solidFill>
                  <a:srgbClr val="3B4A6B"/>
                </a:solidFill>
                <a:latin typeface="Calibri" panose="020F0502020204030204" pitchFamily="34" charset="0"/>
              </a:rPr>
              <a:t>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4203CB-9537-79D3-5F7E-A34857EAC61B}"/>
              </a:ext>
            </a:extLst>
          </p:cNvPr>
          <p:cNvSpPr txBox="1"/>
          <p:nvPr/>
        </p:nvSpPr>
        <p:spPr>
          <a:xfrm>
            <a:off x="4419600" y="3860800"/>
            <a:ext cx="3098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596 tests, 0 failing; CI on every push; a container that runs as a non-root user with no secret baked in; every value carries its evidence.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AC2738-62BC-0F4A-D43B-29DF799D13D5}"/>
              </a:ext>
            </a:extLst>
          </p:cNvPr>
          <p:cNvSpPr/>
          <p:nvPr/>
        </p:nvSpPr>
        <p:spPr>
          <a:xfrm>
            <a:off x="7924800" y="1270000"/>
            <a:ext cx="3657600" cy="39878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BD5936-45A3-2ABE-ADB5-0436D6117826}"/>
              </a:ext>
            </a:extLst>
          </p:cNvPr>
          <p:cNvSpPr txBox="1"/>
          <p:nvPr/>
        </p:nvSpPr>
        <p:spPr>
          <a:xfrm>
            <a:off x="8102600" y="1422400"/>
            <a:ext cx="330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500" b="1">
                <a:solidFill>
                  <a:srgbClr val="9C6C18"/>
                </a:solidFill>
                <a:latin typeface="Calibri" panose="020F0502020204030204" pitchFamily="34" charset="0"/>
              </a:rPr>
              <a:t>What we haven't fixed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4396BA-8907-5301-4ECF-88FBD5B15B30}"/>
              </a:ext>
            </a:extLst>
          </p:cNvPr>
          <p:cNvSpPr txBox="1"/>
          <p:nvPr/>
        </p:nvSpPr>
        <p:spPr>
          <a:xfrm>
            <a:off x="8102600" y="1803400"/>
            <a:ext cx="3302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email_145: a wrapped party name cut short to exactly what the other document says leaves the repair nothing to repair, and one real mismatch in 3,008 perturbed documents is reported as a match.</a:t>
            </a:r>
          </a:p>
          <a:p>
            <a:endParaRPr lang="en-US" sz="1150">
              <a:solidFill>
                <a:srgbClr val="1F2430"/>
              </a:solidFill>
              <a:latin typeface="Calibri" panose="020F0502020204030204" pitchFamily="34" charset="0"/>
            </a:endParaRPr>
          </a:p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The obvious guard would flag 92% of genuine party fields - worse than the gap - so it stays open and written down (ADVERSARIAL.md 5.2).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FD30E-B1AE-F4A4-26CE-DF1610691690}"/>
              </a:ext>
            </a:extLst>
          </p:cNvPr>
          <p:cNvSpPr txBox="1"/>
          <p:nvPr/>
        </p:nvSpPr>
        <p:spPr>
          <a:xfrm>
            <a:off x="8102600" y="4470400"/>
            <a:ext cx="3302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9C6C18"/>
                </a:solidFill>
                <a:latin typeface="Calibri" panose="020F0502020204030204" pitchFamily="34" charset="0"/>
              </a:rPr>
              <a:t>A defect we hide is worse than one we miss.</a:t>
            </a:r>
            <a:endParaRPr lang="en-MY" sz="1200" b="1">
              <a:solidFill>
                <a:srgbClr val="9C6C18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162692-723C-6FBB-1695-1E6F5933369A}"/>
              </a:ext>
            </a:extLst>
          </p:cNvPr>
          <p:cNvSpPr txBox="1"/>
          <p:nvPr/>
        </p:nvSpPr>
        <p:spPr>
          <a:xfrm>
            <a:off x="609600" y="54864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6B7280"/>
                </a:solidFill>
                <a:latin typeface="Calibri" panose="020F0502020204030204" pitchFamily="34" charset="0"/>
              </a:rPr>
              <a:t>A perfect score on the dataset you were handed proves you didn't memorise it. It doesn't prove the reader works - so we went looking for the failures ourselves.</a:t>
            </a:r>
            <a:endParaRPr lang="en-MY" sz="11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6AA309-E2D1-19EB-648B-F44BD8146CC7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00">
                <a:solidFill>
                  <a:srgbClr val="6B7280"/>
                </a:solidFill>
                <a:latin typeface="Calibri" panose="020F0502020204030204" pitchFamily="34" charset="0"/>
              </a:rPr>
              <a:t>CRITERION 4 · ENGINEERING QUALITY &amp; ROBUSTNESS</a:t>
            </a:r>
            <a:endParaRPr lang="en-MY" sz="9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7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CDC2BE-E76D-E028-5C76-A7626E46A29C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MY" sz="3200" b="1">
                <a:solidFill>
                  <a:srgbClr val="FFFFFF"/>
                </a:solidFill>
                <a:latin typeface="Cambria" panose="02040503050406030204" pitchFamily="18" charset="0"/>
              </a:rPr>
              <a:t>Live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6F2CC-F1A1-E8FE-5C84-8AA4E6A84348}"/>
              </a:ext>
            </a:extLst>
          </p:cNvPr>
          <p:cNvSpPr txBox="1"/>
          <p:nvPr/>
        </p:nvSpPr>
        <p:spPr>
          <a:xfrm>
            <a:off x="609600" y="1066800"/>
            <a:ext cx="635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D9A441"/>
                </a:solidFill>
                <a:latin typeface="Calibri" panose="020F0502020204030204" pitchFamily="34" charset="0"/>
              </a:rPr>
              <a:t>90 seconds, on the deployed URLs</a:t>
            </a:r>
            <a:endParaRPr lang="en-MY" sz="1400">
              <a:solidFill>
                <a:srgbClr val="D9A44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41BBFA-0C88-585D-DC87-71434917F96D}"/>
              </a:ext>
            </a:extLst>
          </p:cNvPr>
          <p:cNvSpPr/>
          <p:nvPr/>
        </p:nvSpPr>
        <p:spPr>
          <a:xfrm>
            <a:off x="609600" y="1574800"/>
            <a:ext cx="355600" cy="3556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260" b="1">
                <a:solidFill>
                  <a:srgbClr val="1F243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E8F7A-5915-D1ED-AAA3-EE1DB4259AB8}"/>
              </a:ext>
            </a:extLst>
          </p:cNvPr>
          <p:cNvSpPr txBox="1"/>
          <p:nvPr/>
        </p:nvSpPr>
        <p:spPr>
          <a:xfrm>
            <a:off x="1117600" y="1600200"/>
            <a:ext cx="508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Calibri" panose="020F0502020204030204" pitchFamily="34" charset="0"/>
              </a:rPr>
              <a:t>Start a run with the model tier on - the organisers' full inbox, 520 emails</a:t>
            </a:r>
            <a:endParaRPr lang="en-MY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A15DB8-B014-96E5-8609-84F06C8B5659}"/>
              </a:ext>
            </a:extLst>
          </p:cNvPr>
          <p:cNvSpPr/>
          <p:nvPr/>
        </p:nvSpPr>
        <p:spPr>
          <a:xfrm>
            <a:off x="609600" y="2362200"/>
            <a:ext cx="355600" cy="3556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260" b="1">
                <a:solidFill>
                  <a:srgbClr val="1F243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EB5AA-36A7-F161-4AE8-950855185136}"/>
              </a:ext>
            </a:extLst>
          </p:cNvPr>
          <p:cNvSpPr txBox="1"/>
          <p:nvPr/>
        </p:nvSpPr>
        <p:spPr>
          <a:xfrm>
            <a:off x="1117600" y="2387600"/>
            <a:ext cx="508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Calibri" panose="020F0502020204030204" pitchFamily="34" charset="0"/>
              </a:rPr>
              <a:t>Patterns worth a second look - one shipper, one field, six times</a:t>
            </a:r>
            <a:endParaRPr lang="en-MY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26C8A5-F0FE-0279-62DD-F2E330F3061A}"/>
              </a:ext>
            </a:extLst>
          </p:cNvPr>
          <p:cNvSpPr/>
          <p:nvPr/>
        </p:nvSpPr>
        <p:spPr>
          <a:xfrm>
            <a:off x="609600" y="3149600"/>
            <a:ext cx="355600" cy="3556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260" b="1">
                <a:solidFill>
                  <a:srgbClr val="1F2430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FC030-F60C-579B-C031-D35A31984C20}"/>
              </a:ext>
            </a:extLst>
          </p:cNvPr>
          <p:cNvSpPr txBox="1"/>
          <p:nvPr/>
        </p:nvSpPr>
        <p:spPr>
          <a:xfrm>
            <a:off x="1117600" y="3175000"/>
            <a:ext cx="508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Calibri" panose="020F0502020204030204" pitchFamily="34" charset="0"/>
              </a:rPr>
              <a:t>A mismatch case - under every value, the line it was read from</a:t>
            </a:r>
            <a:endParaRPr lang="en-MY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D6D556-523B-86D6-B5BF-CE2D74343955}"/>
              </a:ext>
            </a:extLst>
          </p:cNvPr>
          <p:cNvSpPr/>
          <p:nvPr/>
        </p:nvSpPr>
        <p:spPr>
          <a:xfrm>
            <a:off x="609600" y="3937000"/>
            <a:ext cx="355600" cy="3556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260" b="1">
                <a:solidFill>
                  <a:srgbClr val="1F2430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AD358-4E5F-B538-6267-86EE9563D790}"/>
              </a:ext>
            </a:extLst>
          </p:cNvPr>
          <p:cNvSpPr txBox="1"/>
          <p:nvPr/>
        </p:nvSpPr>
        <p:spPr>
          <a:xfrm>
            <a:off x="1117600" y="3962400"/>
            <a:ext cx="508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Calibri" panose="020F0502020204030204" pitchFamily="34" charset="0"/>
              </a:rPr>
              <a:t>A scanned case - the page read out for the reviewer; the case still in review, decided per field</a:t>
            </a:r>
            <a:endParaRPr lang="en-MY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22F9DC-7626-0882-19DD-15845A800924}"/>
              </a:ext>
            </a:extLst>
          </p:cNvPr>
          <p:cNvSpPr/>
          <p:nvPr/>
        </p:nvSpPr>
        <p:spPr>
          <a:xfrm>
            <a:off x="609600" y="4724400"/>
            <a:ext cx="355600" cy="3556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260" b="1">
                <a:solidFill>
                  <a:srgbClr val="1F2430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B884A-4017-7D16-931B-A0A2A822BF08}"/>
              </a:ext>
            </a:extLst>
          </p:cNvPr>
          <p:cNvSpPr txBox="1"/>
          <p:nvPr/>
        </p:nvSpPr>
        <p:spPr>
          <a:xfrm>
            <a:off x="1117600" y="4749800"/>
            <a:ext cx="508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Calibri" panose="020F0502020204030204" pitchFamily="34" charset="0"/>
              </a:rPr>
              <a:t>Compare, unfamiliar labels: model off, then on - 'model answered'</a:t>
            </a:r>
            <a:endParaRPr lang="en-MY" sz="13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9B5C11-9EA9-1985-3505-77F9D98FE1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397000"/>
            <a:ext cx="4978400" cy="31115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77F25D-8F4A-70FD-6FCC-F97482A9B0FC}"/>
              </a:ext>
            </a:extLst>
          </p:cNvPr>
          <p:cNvSpPr txBox="1"/>
          <p:nvPr/>
        </p:nvSpPr>
        <p:spPr>
          <a:xfrm>
            <a:off x="609600" y="5689600"/>
            <a:ext cx="5842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E2E5EC"/>
                </a:solidFill>
                <a:latin typeface="Calibri" panose="020F0502020204030204" pitchFamily="34" charset="0"/>
              </a:rPr>
              <a:t>Fallback if the venue network fails: the same inbox on the laptop, 1.5 s, no network - only the model beat changes.</a:t>
            </a:r>
            <a:endParaRPr lang="en-MY" sz="1100">
              <a:solidFill>
                <a:srgbClr val="E2E5E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387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295240-EE2C-1E1D-274A-4B994B4C31BB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MY" sz="3200" b="1">
                <a:solidFill>
                  <a:srgbClr val="1F2430"/>
                </a:solidFill>
                <a:latin typeface="Cambria" panose="02040503050406030204" pitchFamily="18" charset="0"/>
              </a:rPr>
              <a:t>What a reviewer gets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54793-5F34-66D5-AD29-64332EE2E52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3669792" cy="32766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7F1A74-127B-053F-CF57-75C97518C089}"/>
              </a:ext>
            </a:extLst>
          </p:cNvPr>
          <p:cNvSpPr txBox="1"/>
          <p:nvPr/>
        </p:nvSpPr>
        <p:spPr>
          <a:xfrm>
            <a:off x="609600" y="4648200"/>
            <a:ext cx="5334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B7280"/>
                </a:solidFill>
                <a:latin typeface="Calibri" panose="020F0502020204030204" pitchFamily="34" charset="0"/>
              </a:rPr>
              <a:t>A mismatch: the two fields that differ, and under every value the document, the line and the label it was read from.</a:t>
            </a:r>
            <a:endParaRPr lang="en-MY" sz="11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C8B5C3-AC4B-6690-B493-E7426EF5CA0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219200"/>
            <a:ext cx="5334000" cy="2074333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7B5AF6-0799-2482-E39A-2B0002951705}"/>
              </a:ext>
            </a:extLst>
          </p:cNvPr>
          <p:cNvSpPr txBox="1"/>
          <p:nvPr/>
        </p:nvSpPr>
        <p:spPr>
          <a:xfrm>
            <a:off x="6248400" y="4648200"/>
            <a:ext cx="5334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B7280"/>
                </a:solidFill>
                <a:latin typeface="Calibri" panose="020F0502020204030204" pitchFamily="34" charset="0"/>
              </a:rPr>
              <a:t>A scan: the model's reading as reviewer evidence, marked as such - nothing entered the comparison.</a:t>
            </a:r>
            <a:endParaRPr lang="en-MY" sz="11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5C8990-005D-30D5-982B-011DB0B08EBE}"/>
              </a:ext>
            </a:extLst>
          </p:cNvPr>
          <p:cNvSpPr txBox="1"/>
          <p:nvPr/>
        </p:nvSpPr>
        <p:spPr>
          <a:xfrm>
            <a:off x="609600" y="51816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300"/>
              </a:spcAft>
              <a:buClr>
                <a:srgbClr val="D9A441"/>
              </a:buClr>
              <a:buFont typeface="+mj-lt"/>
              <a:buChar char="•"/>
            </a:pPr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Correct a single field, with how often this shipper was wrong on it beside the box</a:t>
            </a:r>
          </a:p>
          <a:p>
            <a:pPr marL="177800" indent="-177800">
              <a:spcAft>
                <a:spcPts val="300"/>
              </a:spcAft>
              <a:buClr>
                <a:srgbClr val="D9A441"/>
              </a:buClr>
              <a:buFont typeface="+mj-lt"/>
              <a:buChar char="•"/>
            </a:pPr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Patterns worth a second look: the same shipper's repeated mistakes, grouped</a:t>
            </a:r>
          </a:p>
          <a:p>
            <a:pPr marL="177800" indent="-177800">
              <a:spcAft>
                <a:spcPts val="300"/>
              </a:spcAft>
              <a:buClr>
                <a:srgbClr val="D9A441"/>
              </a:buClr>
              <a:buFont typeface="+mj-lt"/>
              <a:buChar char="•"/>
            </a:pPr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A reply draft built from the corrected outcome, not the stale one</a:t>
            </a:r>
          </a:p>
          <a:p>
            <a:pPr marL="177800" indent="-177800">
              <a:spcAft>
                <a:spcPts val="300"/>
              </a:spcAft>
              <a:buClr>
                <a:srgbClr val="D9A441"/>
              </a:buClr>
              <a:buFont typeface="+mj-lt"/>
              <a:buChar char="•"/>
            </a:pPr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Every escalation carries the reason and what to do about it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2AD9A-F560-794F-4852-F9A2F3A9A529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900">
                <a:solidFill>
                  <a:srgbClr val="6B7280"/>
                </a:solidFill>
                <a:latin typeface="Calibri" panose="020F0502020204030204" pitchFamily="34" charset="0"/>
              </a:rPr>
              <a:t>CRITERION 6 · USER EXPERIENCE &amp; DIFFERENTIATION</a:t>
            </a:r>
            <a:endParaRPr lang="en-MY" sz="9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32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FE522-F611-302F-BE1C-753F6ECC4044}"/>
              </a:ext>
            </a:extLst>
          </p:cNvPr>
          <p:cNvSpPr txBox="1"/>
          <p:nvPr/>
        </p:nvSpPr>
        <p:spPr>
          <a:xfrm>
            <a:off x="609600" y="457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200" b="1">
                <a:solidFill>
                  <a:srgbClr val="1F2430"/>
                </a:solidFill>
                <a:latin typeface="Cambria" panose="02040503050406030204" pitchFamily="18" charset="0"/>
              </a:rPr>
              <a:t>Impact, and what comes next</a:t>
            </a:r>
            <a:endParaRPr lang="en-MY" sz="3200" b="1">
              <a:solidFill>
                <a:srgbClr val="1F243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D8DE76-4DF3-842D-1898-15B878C78BBF}"/>
              </a:ext>
            </a:extLst>
          </p:cNvPr>
          <p:cNvSpPr/>
          <p:nvPr/>
        </p:nvSpPr>
        <p:spPr>
          <a:xfrm>
            <a:off x="609600" y="1219200"/>
            <a:ext cx="6350000" cy="1219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141647-3370-6A65-7570-B7CA95625640}"/>
              </a:ext>
            </a:extLst>
          </p:cNvPr>
          <p:cNvSpPr txBox="1"/>
          <p:nvPr/>
        </p:nvSpPr>
        <p:spPr>
          <a:xfrm>
            <a:off x="812800" y="1371600"/>
            <a:ext cx="2413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MY" sz="3600" b="1">
                <a:solidFill>
                  <a:srgbClr val="6B7280"/>
                </a:solidFill>
                <a:latin typeface="Cambria" panose="02040503050406030204" pitchFamily="18" charset="0"/>
              </a:rPr>
              <a:t>11 hours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96699-9FAB-FA2F-96B5-CDFFD66FD227}"/>
              </a:ext>
            </a:extLst>
          </p:cNvPr>
          <p:cNvSpPr txBox="1"/>
          <p:nvPr/>
        </p:nvSpPr>
        <p:spPr>
          <a:xfrm>
            <a:off x="3276600" y="1473200"/>
            <a:ext cx="508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MY" sz="2400">
                <a:solidFill>
                  <a:srgbClr val="6B7280"/>
                </a:solidFill>
                <a:latin typeface="Calibri" panose="020F0502020204030204" pitchFamily="34" charset="0"/>
              </a:rPr>
              <a:t>→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D364B-E195-B359-B1E6-15C66987DF62}"/>
              </a:ext>
            </a:extLst>
          </p:cNvPr>
          <p:cNvSpPr txBox="1"/>
          <p:nvPr/>
        </p:nvSpPr>
        <p:spPr>
          <a:xfrm>
            <a:off x="3835400" y="1320800"/>
            <a:ext cx="29972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MY" sz="4000" b="1">
                <a:solidFill>
                  <a:srgbClr val="D9A441"/>
                </a:solidFill>
                <a:latin typeface="Cambria" panose="02040503050406030204" pitchFamily="18" charset="0"/>
              </a:rPr>
              <a:t>13 seconds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17D21-E64B-FE73-E299-83E3539011A9}"/>
              </a:ext>
            </a:extLst>
          </p:cNvPr>
          <p:cNvSpPr txBox="1"/>
          <p:nvPr/>
        </p:nvSpPr>
        <p:spPr>
          <a:xfrm>
            <a:off x="812800" y="2006600"/>
            <a:ext cx="5969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>
                <a:solidFill>
                  <a:srgbClr val="6B7280"/>
                </a:solidFill>
                <a:latin typeface="Calibri" panose="020F0502020204030204" pitchFamily="34" charset="0"/>
              </a:rPr>
              <a:t>520 emails, 124 document pairs. Eleven hours is a conservative estimate (20 s an email, 4 min a pair), not a measurement; thirteen seconds is measured. Every decision on that inbox was a rule's.</a:t>
            </a:r>
            <a:endParaRPr lang="en-MY" sz="105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E32D3-E922-CC74-678F-6DB72E372B69}"/>
              </a:ext>
            </a:extLst>
          </p:cNvPr>
          <p:cNvSpPr txBox="1"/>
          <p:nvPr/>
        </p:nvSpPr>
        <p:spPr>
          <a:xfrm>
            <a:off x="609600" y="2641600"/>
            <a:ext cx="635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3B4A6B"/>
                </a:solidFill>
                <a:latin typeface="Calibri" panose="020F0502020204030204" pitchFamily="34" charset="0"/>
              </a:rPr>
              <a:t>First deployment: one desk, not a region</a:t>
            </a:r>
            <a:endParaRPr lang="en-MY" sz="1400" b="1">
              <a:solidFill>
                <a:srgbClr val="3B4A6B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37033-327A-CFB9-335A-B550E1FE606B}"/>
              </a:ext>
            </a:extLst>
          </p:cNvPr>
          <p:cNvSpPr txBox="1"/>
          <p:nvPr/>
        </p:nvSpPr>
        <p:spPr>
          <a:xfrm>
            <a:off x="609600" y="2946400"/>
            <a:ext cx="635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1F2430"/>
                </a:solidFill>
                <a:latin typeface="Calibri" panose="020F0502020204030204" pitchFamily="34" charset="0"/>
              </a:rPr>
              <a:t>The inbox already carries four desk codes (AFEMY 35, AIE 30, AFRT 29, AFPTME 22 emails). Sentinel sits beside the desk's existing check until the measures below have held for a full cycle of its carriers.</a:t>
            </a:r>
            <a:endParaRPr lang="en-MY" sz="1150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6B7342-722B-41E9-B537-0AF512BAD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717764"/>
              </p:ext>
            </p:extLst>
          </p:nvPr>
        </p:nvGraphicFramePr>
        <p:xfrm>
          <a:off x="609600" y="3683000"/>
          <a:ext cx="6350000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864668623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5119869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41118216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en-MY" sz="10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Measure</a:t>
                      </a:r>
                    </a:p>
                  </a:txBody>
                  <a:tcPr>
                    <a:solidFill>
                      <a:srgbClr val="3B4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Today (graded inbox)</a:t>
                      </a:r>
                    </a:p>
                  </a:txBody>
                  <a:tcPr>
                    <a:solidFill>
                      <a:srgbClr val="3B4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The pilot watches</a:t>
                      </a:r>
                    </a:p>
                  </a:txBody>
                  <a:tcPr>
                    <a:solidFill>
                      <a:srgbClr val="3B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81722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MY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Escalation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20 of 220 requests (9.1%), all correct</a:t>
                      </a:r>
                      <a:endParaRPr lang="en-MY" sz="1050">
                        <a:solidFill>
                          <a:srgbClr val="1F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precision at 1.0 as unfamiliar templates grow</a:t>
                      </a:r>
                      <a:endParaRPr lang="en-MY" sz="1050">
                        <a:solidFill>
                          <a:srgbClr val="1F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9784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MY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False alarms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0 of 46 defects; 0 across 16 perturbation modes</a:t>
                      </a:r>
                      <a:endParaRPr lang="en-MY" sz="1050">
                        <a:solidFill>
                          <a:srgbClr val="1F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the weekly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22044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MY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Reviewer minutes per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not measured yet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solidFill>
                            <a:srgbClr val="1F2430"/>
                          </a:solidFill>
                          <a:latin typeface="Calibri" panose="020F0502020204030204" pitchFamily="34" charset="0"/>
                        </a:rPr>
                        <a:t>the pilot's first new measurement</a:t>
                      </a:r>
                      <a:endParaRPr lang="en-MY" sz="1050">
                        <a:solidFill>
                          <a:srgbClr val="1F243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68793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C6087C-8985-CCAD-000E-ACDA3A050384}"/>
              </a:ext>
            </a:extLst>
          </p:cNvPr>
          <p:cNvSpPr/>
          <p:nvPr/>
        </p:nvSpPr>
        <p:spPr>
          <a:xfrm>
            <a:off x="7366000" y="1219200"/>
            <a:ext cx="4216400" cy="4368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D35A6-6EF0-EBC2-32D7-BA169543B696}"/>
              </a:ext>
            </a:extLst>
          </p:cNvPr>
          <p:cNvSpPr txBox="1"/>
          <p:nvPr/>
        </p:nvSpPr>
        <p:spPr>
          <a:xfrm>
            <a:off x="7569200" y="1397000"/>
            <a:ext cx="381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500" b="1">
                <a:solidFill>
                  <a:srgbClr val="3B4A6B"/>
                </a:solidFill>
                <a:latin typeface="Calibri" panose="020F0502020204030204" pitchFamily="34" charset="0"/>
              </a:rPr>
              <a:t>Next, in order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1493BB-16BA-1486-4D6C-1AAA9162C332}"/>
              </a:ext>
            </a:extLst>
          </p:cNvPr>
          <p:cNvSpPr/>
          <p:nvPr/>
        </p:nvSpPr>
        <p:spPr>
          <a:xfrm>
            <a:off x="7569200" y="1854200"/>
            <a:ext cx="330200" cy="3302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170" b="1">
                <a:solidFill>
                  <a:srgbClr val="1F243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72F4AB-343A-0A9E-2E95-08B28F22FC7F}"/>
              </a:ext>
            </a:extLst>
          </p:cNvPr>
          <p:cNvSpPr txBox="1"/>
          <p:nvPr/>
        </p:nvSpPr>
        <p:spPr>
          <a:xfrm>
            <a:off x="8026400" y="1841500"/>
            <a:ext cx="3403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300" b="1">
                <a:solidFill>
                  <a:srgbClr val="1F2430"/>
                </a:solidFill>
                <a:latin typeface="Calibri" panose="020F0502020204030204" pitchFamily="34" charset="0"/>
              </a:rPr>
              <a:t>Per-desk rules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0F8F5A-5E63-E8A7-4D99-87D2DC71D2CB}"/>
              </a:ext>
            </a:extLst>
          </p:cNvPr>
          <p:cNvSpPr txBox="1"/>
          <p:nvPr/>
        </p:nvSpPr>
        <p:spPr>
          <a:xfrm>
            <a:off x="8026400" y="2108200"/>
            <a:ext cx="3403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B7280"/>
                </a:solidFill>
                <a:latin typeface="Calibri" panose="020F0502020204030204" pitchFamily="34" charset="0"/>
              </a:rPr>
              <a:t>a label table and an escalation policy per desk, selected by the code the inbox already carries</a:t>
            </a:r>
            <a:endParaRPr lang="en-MY" sz="11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BAD0236-6D9B-08CA-C7F9-3D147D5948D2}"/>
              </a:ext>
            </a:extLst>
          </p:cNvPr>
          <p:cNvSpPr/>
          <p:nvPr/>
        </p:nvSpPr>
        <p:spPr>
          <a:xfrm>
            <a:off x="7569200" y="3022600"/>
            <a:ext cx="330200" cy="3302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170" b="1">
                <a:solidFill>
                  <a:srgbClr val="1F243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A2C60-BA41-B0E2-A9F0-1490AE3D8714}"/>
              </a:ext>
            </a:extLst>
          </p:cNvPr>
          <p:cNvSpPr txBox="1"/>
          <p:nvPr/>
        </p:nvSpPr>
        <p:spPr>
          <a:xfrm>
            <a:off x="8026400" y="3009900"/>
            <a:ext cx="3403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 b="1">
                <a:solidFill>
                  <a:srgbClr val="1F2430"/>
                </a:solidFill>
                <a:latin typeface="Calibri" panose="020F0502020204030204" pitchFamily="34" charset="0"/>
              </a:rPr>
              <a:t>Corrections feed the label table</a:t>
            </a:r>
            <a:endParaRPr lang="en-MY" sz="1300" b="1">
              <a:solidFill>
                <a:srgbClr val="1F243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9250AF-7927-00C9-3905-A417BE391D9E}"/>
              </a:ext>
            </a:extLst>
          </p:cNvPr>
          <p:cNvSpPr txBox="1"/>
          <p:nvPr/>
        </p:nvSpPr>
        <p:spPr>
          <a:xfrm>
            <a:off x="8026400" y="3276600"/>
            <a:ext cx="3403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B7280"/>
                </a:solidFill>
                <a:latin typeface="Calibri" panose="020F0502020204030204" pitchFamily="34" charset="0"/>
              </a:rPr>
              <a:t>every confirmed correction is a labelled example of wording we could not read - the one place this system should learn</a:t>
            </a:r>
            <a:endParaRPr lang="en-MY" sz="11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6CE384-5F4A-FDB5-D73C-D6B28684C82B}"/>
              </a:ext>
            </a:extLst>
          </p:cNvPr>
          <p:cNvSpPr/>
          <p:nvPr/>
        </p:nvSpPr>
        <p:spPr>
          <a:xfrm>
            <a:off x="7569200" y="4191000"/>
            <a:ext cx="330200" cy="330200"/>
          </a:xfrm>
          <a:prstGeom prst="ellipse">
            <a:avLst/>
          </a:prstGeom>
          <a:solidFill>
            <a:srgbClr val="D9A4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MY" sz="1170" b="1">
                <a:solidFill>
                  <a:srgbClr val="1F2430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CDB9FD-3B0F-10A4-31D4-AE4779B70913}"/>
              </a:ext>
            </a:extLst>
          </p:cNvPr>
          <p:cNvSpPr txBox="1"/>
          <p:nvPr/>
        </p:nvSpPr>
        <p:spPr>
          <a:xfrm>
            <a:off x="8026400" y="4178300"/>
            <a:ext cx="3403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MY" sz="1300" b="1">
                <a:solidFill>
                  <a:srgbClr val="1F2430"/>
                </a:solidFill>
                <a:latin typeface="Calibri" panose="020F0502020204030204" pitchFamily="34" charset="0"/>
              </a:rPr>
              <a:t>The database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9AEF3F-9996-1D32-FA64-A9872CE10E1E}"/>
              </a:ext>
            </a:extLst>
          </p:cNvPr>
          <p:cNvSpPr txBox="1"/>
          <p:nvPr/>
        </p:nvSpPr>
        <p:spPr>
          <a:xfrm>
            <a:off x="8026400" y="4445000"/>
            <a:ext cx="34036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6B7280"/>
                </a:solidFill>
                <a:latin typeface="Calibri" panose="020F0502020204030204" pitchFamily="34" charset="0"/>
              </a:rPr>
              <a:t>one file; the demo does not need it yet, a pilot will</a:t>
            </a:r>
            <a:endParaRPr lang="en-MY" sz="1100">
              <a:solidFill>
                <a:srgbClr val="6B728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1A0B2-6757-9C81-9501-D2E791590572}"/>
              </a:ext>
            </a:extLst>
          </p:cNvPr>
          <p:cNvSpPr txBox="1"/>
          <p:nvPr/>
        </p:nvSpPr>
        <p:spPr>
          <a:xfrm>
            <a:off x="609600" y="5740400"/>
            <a:ext cx="63500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9C6C18"/>
                </a:solidFill>
                <a:latin typeface="Calibri" panose="020F0502020204030204" pitchFamily="34" charset="0"/>
              </a:rPr>
              <a:t>Cheap because the model is aimed, not because it is absent.</a:t>
            </a:r>
            <a:endParaRPr lang="en-MY" sz="1200" b="1">
              <a:solidFill>
                <a:srgbClr val="9C6C18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2304D8-CDD5-CC4F-D847-64B094B61E40}"/>
              </a:ext>
            </a:extLst>
          </p:cNvPr>
          <p:cNvSpPr txBox="1"/>
          <p:nvPr/>
        </p:nvSpPr>
        <p:spPr>
          <a:xfrm>
            <a:off x="609600" y="64262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MY" sz="900">
                <a:solidFill>
                  <a:srgbClr val="6B7280"/>
                </a:solidFill>
                <a:latin typeface="Calibri" panose="020F0502020204030204" pitchFamily="34" charset="0"/>
              </a:rPr>
              <a:t>CRITERION 7 · IMPACT &amp;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37498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08786-5998-A83A-AC45-9F128E268305}"/>
              </a:ext>
            </a:extLst>
          </p:cNvPr>
          <p:cNvSpPr txBox="1"/>
          <p:nvPr/>
        </p:nvSpPr>
        <p:spPr>
          <a:xfrm>
            <a:off x="609600" y="25400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Cambria" panose="02040503050406030204" pitchFamily="18" charset="0"/>
              </a:rPr>
              <a:t>Every answer comes with its evidence.</a:t>
            </a:r>
            <a:endParaRPr lang="en-MY" sz="36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21938-34D9-F132-4809-C0B83E3DC61F}"/>
              </a:ext>
            </a:extLst>
          </p:cNvPr>
          <p:cNvSpPr txBox="1"/>
          <p:nvPr/>
        </p:nvSpPr>
        <p:spPr>
          <a:xfrm>
            <a:off x="609600" y="3403600"/>
            <a:ext cx="10972800" cy="30008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MY" sz="1800">
                <a:solidFill>
                  <a:srgbClr val="D9A441"/>
                </a:solidFill>
                <a:latin typeface="Cambria" panose="02040503050406030204" pitchFamily="18" charset="0"/>
              </a:rPr>
              <a:t>Sentinel, by DuoCode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AE39B-DDEB-3D32-C05C-58E295E7A705}"/>
              </a:ext>
            </a:extLst>
          </p:cNvPr>
          <p:cNvSpPr txBox="1"/>
          <p:nvPr/>
        </p:nvSpPr>
        <p:spPr>
          <a:xfrm>
            <a:off x="609600" y="3937000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MY" sz="1300">
                <a:solidFill>
                  <a:srgbClr val="E2E5EC"/>
                </a:solidFill>
                <a:latin typeface="Calibri" panose="020F0502020204030204" pitchFamily="34" charset="0"/>
              </a:rPr>
              <a:t>github.com/TCF1209/duocode-sentinel  ·  duocode-sentinel.vercel.app</a:t>
            </a:r>
          </a:p>
        </p:txBody>
      </p:sp>
    </p:spTree>
    <p:extLst>
      <p:ext uri="{BB962C8B-B14F-4D97-AF65-F5344CB8AC3E}">
        <p14:creationId xmlns:p14="http://schemas.microsoft.com/office/powerpoint/2010/main" val="136428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2502</Words>
  <Application>Microsoft Office PowerPoint</Application>
  <PresentationFormat>Custom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 YEE TENG</dc:creator>
  <cp:lastModifiedBy>LIM YEE TENG</cp:lastModifiedBy>
  <cp:revision>1</cp:revision>
  <dcterms:created xsi:type="dcterms:W3CDTF">2026-09-24T09:59:55Z</dcterms:created>
  <dcterms:modified xsi:type="dcterms:W3CDTF">2026-09-24T09:59:55Z</dcterms:modified>
</cp:coreProperties>
</file>