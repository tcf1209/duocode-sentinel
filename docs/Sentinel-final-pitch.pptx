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2D12D2-935B-49E8-BF1E-3F0C487C06CE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F61A80-68B1-422B-9D68-85FD71C666C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1801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We're DuoCode. Sentinel is built on one rule: it never reports anything it cannot prove. Everything in the next five minutes is evidence for that sentence. (0:00-0:15)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61A80-68B1-422B-9D68-85FD71C666C5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91143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we built it: a shipping desk gets five kinds of mail in one inbox, and for every document check a person compares the Shipping Instruction against the draft Bill of Lading - seven fields, by hand. At a conservative estimate that is about four minutes a pair and twenty seconds to triage each email; this inbox alone is a day and a half of desk work. Miss one field and it's a correction, a delay, rework. And there's a fourth case the statement names: sometimes the check can't be done - an unreadable scan, a blank field, the wrong document. That has to reach a person with the reason, not be guessed at. Sentinel does all four. (0:15-0:40)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61A80-68B1-422B-9D68-85FD71C666C5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66233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whole inbox, live on Render and Vercel - not a sample, the organisers' 520 emails. Every email classified, every document pair compared, every case Sentinel can't decide sent to a person with the reason attached. Thirteen seconds. And this is how a desk uses it, four steps: run the inbox, open a flagged case, confirm it or correct one field or re-upload the corrected document, send the drafted reply. Do not say the accuracy here - that is slide 6. (0:40-1:05)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61A80-68B1-422B-9D68-85FD71C666C5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390139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Six stages, one direction. Two choices carry the design. Values are compared exactly after canonicalising, never by similarity - a threshold loose enough to forgive a scan artefact also merges two real companies, and the data has those. And the gate after the comparison can overrule it: a value we cannot find again in the document it was read from is never reported as a discrepancy - it becomes a question for a person. The pipeline is a stateless library with no web or database in it, which is also the scaling story: throughput is more copies of it; the state sits behind one class in one file. (1:05-1:40)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61A80-68B1-422B-9D68-85FD71C666C5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5164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Never say 'we use less AI'. Say: the AI is reserved for the cases the rules cannot handle - and the system performs just as well. A judge in the first round said we use AI less than most teams. True, and measured. On this inbox the rules answer all 520 and the scoring is all-or-nothing per email, so a model that is almost always right costs places. The model goes only where the rules admit they can't read: an ambiguous email, a label we've never seen, a scanned page. On documents with wording we invented, rules alone send 168 of 188 cases to a human; with the model, two - and false discrepancies stay at zero, because nothing the model says is adopted until we find it again in the source. You'll see both in the demo: a scan read out for the reviewer, and four unknown labels read on request. (1:40-2:20)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61A80-68B1-422B-9D68-85FD71C666C5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333771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perfect score on the dataset you were handed proves you didn't memorise it. It doesn't prove the reader works. So we attacked our own reader - three thousand perturbed documents, sixteen kinds of damage, no answer key. Thirteen of sixteen don't move. OCR noise used to produce 982 silently wrong values; it produces zero now, because a damaged number is refused instead of parsed short. Then we fed it a real carrier's template from outside the generator, and it found a bug we fixed the same day. And the one we haven't fixed is on the slide, because a defect we hide is worse than one we miss. (2:20-2:55)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61A80-68B1-422B-9D68-85FD71C666C5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791016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mismatch case: 'Under every value - the line it was read from. A reviewer never has to open the source document to trust this.' At the scan: 'No text layer, so Sentinel did not decide. But the model read the page for the reviewer - seven fields, and it says which ones it couldn't read rather than guessing. The case stays in review; the person decides, per field.' At Compare, off: 'wording our table has never seen - the honest answer is can't read it, and it says which labels.' On: 'the model reads them, every value re-located in the document before it's adopted, and it surfaces the real discrepancy - badge says model answered.' (2:55-4:25)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61A80-68B1-422B-9D68-85FD71C666C5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508973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top-ten stage everyone meets the brief, so this is the slide to slow down on - thirty seconds. Five things the others mostly don't have: the sender re-sends a fixed document and you re-upload it on the case, the check runs again and the old answer stays on record; a scan still goes to a person but already read out by the model; correcting a field shows this shipper's history on that field; the original document is one click away from every value; and the reply is drafted from what the reviewer decided, not the stale answer. (4:10-4:40)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61A80-68B1-422B-9D68-85FD71C666C5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518267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520 emails and 124 document pairs is, at a conservative estimate, about eleven hours of desk work. Sentinel does it in thirteen seconds and every decision on that inbox was a rule, so it costs nothing to run - cheap because the model is aimed, not because it's absent. The first deployment is one desk, with three numbers we'd watch; two of them we can already show you and the third is what the pilot is for. Say 'at a conservative estimate' aloud, always. (4:40-4:58)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61A80-68B1-422B-9D68-85FD71C666C5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880681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Sentinel, by DuoCode. Every answer comes with its evidence. Thank you. (4:58-5:00)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61A80-68B1-422B-9D68-85FD71C666C5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57150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CC9FC-85CD-1FCB-2B8B-B1C956648C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EFD356-D93D-C4D7-75E1-0CC1E3A26E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980623-15B8-71E2-5338-54BCE67E65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26A6-D71B-4538-BE7E-D2A35FE8C500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EC12D-2DDA-2C56-2F70-EFBC3FBA8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EA3D9-0A18-698E-81BA-826D2308A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571EA-3779-4ED8-A27C-B0EAA1CBA9C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53467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20C09-64EE-4F98-E127-92E992DA4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E8323-0378-D6D5-C708-0609029F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117E4D-8376-A8F7-B588-6EFF3201A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26A6-D71B-4538-BE7E-D2A35FE8C500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14C2B-F51D-CA8F-9356-684F86311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53F87-7097-7B58-18BF-3219EC9E2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571EA-3779-4ED8-A27C-B0EAA1CBA9C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99681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3EE73-0C43-16FA-1D49-DDB1F392A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57038-E67F-A147-6C5B-6394E166D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F8EE7C-0EDD-D017-D7AD-7F4C20533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26A6-D71B-4538-BE7E-D2A35FE8C500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BE3C9-6F6C-1B81-9909-8E7255E27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91389A-F1D1-0724-EE4C-FE31D43D9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571EA-3779-4ED8-A27C-B0EAA1CBA9C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5454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C2AC4-B386-B674-3BC1-BAE12A74A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DD1D7-5DFC-44EF-103E-D8C80A8F46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523931-5A72-EC64-1F14-1212A54BF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17711C-1E25-1A5F-AAFD-E08D5EEC7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26A6-D71B-4538-BE7E-D2A35FE8C500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F32876-7EFF-6C5C-8965-9CF11B136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19C50-EDA7-CD83-965F-FF59C69B4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571EA-3779-4ED8-A27C-B0EAA1CBA9C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7521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E9EAF-92EC-B4B3-668F-DBE0CDFD4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63AA3-0A68-5F62-3CB9-3FDFB00D5E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9C4D1E-3392-6F55-6E4C-A1EA7ABED1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C3261C-221D-9223-654F-EF428AF401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A78D58-5C7D-E701-3A5B-EDCD29D9F5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D4F4A8-AC9F-5609-1E38-4C2BBE4F9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26A6-D71B-4538-BE7E-D2A35FE8C500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99F672-CA61-8F20-01FF-68EE92292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789F15-7F6E-16B5-43D3-2D679A9FE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571EA-3779-4ED8-A27C-B0EAA1CBA9C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18558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2A4DF-AC8D-B685-35A5-2725D019B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08B965-5D73-14E2-E2D8-6A6F0A5E4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26A6-D71B-4538-BE7E-D2A35FE8C500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60080-C673-1CDC-B779-B964784BE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656AF1-B230-2462-582E-2FBF5CE9F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571EA-3779-4ED8-A27C-B0EAA1CBA9C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15134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4F3FEB-F1B2-B4A5-5F8A-8979177BE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26A6-D71B-4538-BE7E-D2A35FE8C500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115850-7D30-F05E-4F34-BB3B79145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DBCCA-1AF8-A7F4-33DA-6354CA81E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571EA-3779-4ED8-A27C-B0EAA1CBA9C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58236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FD0A8-4BDE-DB82-89F2-817042BB1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780A2-D2F0-73DA-7259-4B91C4DED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A70730-9B95-696E-38C0-7B1F8D460B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5A39B1-B87C-A9C9-6CD4-B33A0EF05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26A6-D71B-4538-BE7E-D2A35FE8C500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1FCB0-ACD3-26A1-9312-3FCB1B237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74D84-18C2-AB84-50D5-7F1E02D55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571EA-3779-4ED8-A27C-B0EAA1CBA9C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6720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E2EAB-8EB8-5809-B09E-C5A0A68D2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8E499D-8849-39FF-0382-9CFF05A071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4AE888-E2D5-CA38-BA31-6F24910AD4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2CCA2A-DD7C-0253-3FF5-7DEDD211D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26A6-D71B-4538-BE7E-D2A35FE8C500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00417B-837E-4429-405B-2209D41A0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762FA2-6CE3-E274-4B6C-2EDA6EE66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571EA-3779-4ED8-A27C-B0EAA1CBA9C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1667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59A2F-1856-0EC6-5771-C53BBE212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628F09-881E-7BA0-38D4-031A79D170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449A9-7395-EAD7-A978-6117EC910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26A6-D71B-4538-BE7E-D2A35FE8C500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270686-63C5-2C96-35D9-1115F792A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348DC-BCE1-D3F0-4514-CE5391B0E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571EA-3779-4ED8-A27C-B0EAA1CBA9C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410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7B5DB-3C13-A7EA-D2E7-CD589CDDCB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52690E-804E-05B8-C094-7CB34921D7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C68D13-FDFF-B1C8-01ED-06180EF0B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26A6-D71B-4538-BE7E-D2A35FE8C500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9CE22C-68F6-0D57-A1A0-0D9D6E65A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C94AB-11EF-8B96-DA2A-4953DCDD1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571EA-3779-4ED8-A27C-B0EAA1CBA9C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0173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23BD1A-37C8-8331-A9AB-6E2AB9766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A7ACD9-0A91-47F1-6E7F-668571C3E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9AE63-1565-10AC-91FF-007FC2788F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8D26A6-D71B-4538-BE7E-D2A35FE8C500}" type="datetimeFigureOut">
              <a:rPr lang="en-MY" smtClean="0"/>
              <a:t>24/9/2026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60928-FB6D-3A7F-D452-5ACB74753C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BF07E-1364-8772-1087-DA776997BE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1571EA-3779-4ED8-A27C-B0EAA1CBA9C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52899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688185-681C-B34E-810A-0A8877458AB1}"/>
              </a:ext>
            </a:extLst>
          </p:cNvPr>
          <p:cNvSpPr txBox="1"/>
          <p:nvPr/>
        </p:nvSpPr>
        <p:spPr>
          <a:xfrm>
            <a:off x="609600" y="1905000"/>
            <a:ext cx="762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6000" b="1">
                <a:solidFill>
                  <a:srgbClr val="D9A441"/>
                </a:solidFill>
                <a:latin typeface="Cambria" panose="02040503050406030204" pitchFamily="18" charset="0"/>
              </a:rPr>
              <a:t>Sentinel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568EAB-E7D6-8521-1BE2-FA84676E2452}"/>
              </a:ext>
            </a:extLst>
          </p:cNvPr>
          <p:cNvSpPr txBox="1"/>
          <p:nvPr/>
        </p:nvSpPr>
        <p:spPr>
          <a:xfrm>
            <a:off x="609600" y="2921000"/>
            <a:ext cx="889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800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2800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2D47D5-2481-95B1-4CC3-8CD19FCA3166}"/>
              </a:ext>
            </a:extLst>
          </p:cNvPr>
          <p:cNvSpPr txBox="1"/>
          <p:nvPr/>
        </p:nvSpPr>
        <p:spPr>
          <a:xfrm>
            <a:off x="609600" y="3683000"/>
            <a:ext cx="787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E2E5EC"/>
                </a:solidFill>
                <a:latin typeface="Calibri" panose="020F0502020204030204" pitchFamily="34" charset="0"/>
              </a:rPr>
              <a:t>A document checker that is confidently wrong is worse than no checker at all - because nobody goes back and looks.</a:t>
            </a:r>
            <a:endParaRPr lang="en-MY" sz="16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0FD74F-7A65-AF98-B07E-04AB0F9AFF3C}"/>
              </a:ext>
            </a:extLst>
          </p:cNvPr>
          <p:cNvSpPr txBox="1"/>
          <p:nvPr/>
        </p:nvSpPr>
        <p:spPr>
          <a:xfrm>
            <a:off x="609600" y="56388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2E5EC"/>
                </a:solidFill>
                <a:latin typeface="Calibri" panose="020F0502020204030204" pitchFamily="34" charset="0"/>
              </a:rPr>
              <a:t>DuoCode  ·  Tang Chye Fong  ·  Lim Yee Teng  ·  Asia Pacific University</a:t>
            </a:r>
            <a:endParaRPr lang="en-MY" sz="13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D69BDF-93F1-2297-291F-21D4BAA5099E}"/>
              </a:ext>
            </a:extLst>
          </p:cNvPr>
          <p:cNvSpPr txBox="1"/>
          <p:nvPr/>
        </p:nvSpPr>
        <p:spPr>
          <a:xfrm>
            <a:off x="609600" y="59690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D9A441"/>
                </a:solidFill>
                <a:latin typeface="Calibri" panose="020F0502020204030204" pitchFamily="34" charset="0"/>
              </a:rPr>
              <a:t>duocode-sentinel.vercel.app  ·  github.com/TCF1209/duocode-sentinel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2AF74C-62FF-3ADC-854D-55A7B87A5293}"/>
              </a:ext>
            </a:extLst>
          </p:cNvPr>
          <p:cNvSpPr txBox="1"/>
          <p:nvPr/>
        </p:nvSpPr>
        <p:spPr>
          <a:xfrm>
            <a:off x="7518400" y="5969000"/>
            <a:ext cx="406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E2E5EC"/>
                </a:solidFill>
                <a:latin typeface="Calibri" panose="020F0502020204030204" pitchFamily="34" charset="0"/>
              </a:rPr>
              <a:t>Averis x Monash Hackathon 2026 · Final Round</a:t>
            </a:r>
            <a:endParaRPr lang="en-MY" sz="12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7751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5ED394-EAE2-B73B-E5FF-50C696B3B0A4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The problem - and the fourth case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BF4ABDB-995D-31DE-3B13-3789C1A37E78}"/>
              </a:ext>
            </a:extLst>
          </p:cNvPr>
          <p:cNvSpPr/>
          <p:nvPr/>
        </p:nvSpPr>
        <p:spPr>
          <a:xfrm>
            <a:off x="609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EE34568-2BEF-B4DC-3EB5-8D8F0F0D075D}"/>
              </a:ext>
            </a:extLst>
          </p:cNvPr>
          <p:cNvSpPr/>
          <p:nvPr/>
        </p:nvSpPr>
        <p:spPr>
          <a:xfrm>
            <a:off x="787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AA5F87-A9CD-DB72-D6C4-CD93FEAB0FFA}"/>
              </a:ext>
            </a:extLst>
          </p:cNvPr>
          <p:cNvSpPr txBox="1"/>
          <p:nvPr/>
        </p:nvSpPr>
        <p:spPr>
          <a:xfrm>
            <a:off x="1270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Classify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D9F93-08F4-D9AD-0D58-ED7D621A6459}"/>
              </a:ext>
            </a:extLst>
          </p:cNvPr>
          <p:cNvSpPr txBox="1"/>
          <p:nvPr/>
        </p:nvSpPr>
        <p:spPr>
          <a:xfrm>
            <a:off x="787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Tell message types apart: comparison requests, new SI requests, invoice queries, general mail, spam.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1D93166-7B04-76BB-ECA4-ADEA8F4340DE}"/>
              </a:ext>
            </a:extLst>
          </p:cNvPr>
          <p:cNvSpPr/>
          <p:nvPr/>
        </p:nvSpPr>
        <p:spPr>
          <a:xfrm>
            <a:off x="3403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3BFCEDA-DEA8-2BDE-BD18-56DAD6F4DEF7}"/>
              </a:ext>
            </a:extLst>
          </p:cNvPr>
          <p:cNvSpPr/>
          <p:nvPr/>
        </p:nvSpPr>
        <p:spPr>
          <a:xfrm>
            <a:off x="3581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4CC75F-136A-8DFB-2878-3C10E175A096}"/>
              </a:ext>
            </a:extLst>
          </p:cNvPr>
          <p:cNvSpPr txBox="1"/>
          <p:nvPr/>
        </p:nvSpPr>
        <p:spPr>
          <a:xfrm>
            <a:off x="4064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Extract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305E01-A1DE-22F3-C14D-48B5A0A2504A}"/>
              </a:ext>
            </a:extLst>
          </p:cNvPr>
          <p:cNvSpPr txBox="1"/>
          <p:nvPr/>
        </p:nvSpPr>
        <p:spPr>
          <a:xfrm>
            <a:off x="3581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comparison requests, read the SI and BL attachments and pull the matching shipment fields.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7779ABA-ACD1-F11C-7459-68684860B058}"/>
              </a:ext>
            </a:extLst>
          </p:cNvPr>
          <p:cNvSpPr/>
          <p:nvPr/>
        </p:nvSpPr>
        <p:spPr>
          <a:xfrm>
            <a:off x="6197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C29447A-8E9B-3EB7-7E3C-93584493EFD6}"/>
              </a:ext>
            </a:extLst>
          </p:cNvPr>
          <p:cNvSpPr/>
          <p:nvPr/>
        </p:nvSpPr>
        <p:spPr>
          <a:xfrm>
            <a:off x="6375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1A25C5-1F69-C158-D2B6-386EBF239FBE}"/>
              </a:ext>
            </a:extLst>
          </p:cNvPr>
          <p:cNvSpPr txBox="1"/>
          <p:nvPr/>
        </p:nvSpPr>
        <p:spPr>
          <a:xfrm>
            <a:off x="6858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Compare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96D5D2-2E50-B42D-80DF-6B79133BA98F}"/>
              </a:ext>
            </a:extLst>
          </p:cNvPr>
          <p:cNvSpPr txBox="1"/>
          <p:nvPr/>
        </p:nvSpPr>
        <p:spPr>
          <a:xfrm>
            <a:off x="6375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Surface any mismatched fields, showing the SI and BL values side by side.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9529E7B-4E89-D09A-DFE8-83652183BDCE}"/>
              </a:ext>
            </a:extLst>
          </p:cNvPr>
          <p:cNvSpPr/>
          <p:nvPr/>
        </p:nvSpPr>
        <p:spPr>
          <a:xfrm>
            <a:off x="8991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99CE4F5-89CD-83DA-2414-5C9065B4B087}"/>
              </a:ext>
            </a:extLst>
          </p:cNvPr>
          <p:cNvSpPr/>
          <p:nvPr/>
        </p:nvSpPr>
        <p:spPr>
          <a:xfrm>
            <a:off x="9169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7993B5-4333-0281-DAD8-97958FE50A7F}"/>
              </a:ext>
            </a:extLst>
          </p:cNvPr>
          <p:cNvSpPr txBox="1"/>
          <p:nvPr/>
        </p:nvSpPr>
        <p:spPr>
          <a:xfrm>
            <a:off x="9652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Ask for help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3445B8-F7AF-69F7-0957-10E0F0D5D7E6}"/>
              </a:ext>
            </a:extLst>
          </p:cNvPr>
          <p:cNvSpPr txBox="1"/>
          <p:nvPr/>
        </p:nvSpPr>
        <p:spPr>
          <a:xfrm>
            <a:off x="9169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When it can't finish on its own, escalate to a person with full context instead of guessing or failing silently.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4E800A-F043-AA62-316E-5071C3FC342F}"/>
              </a:ext>
            </a:extLst>
          </p:cNvPr>
          <p:cNvSpPr txBox="1"/>
          <p:nvPr/>
        </p:nvSpPr>
        <p:spPr>
          <a:xfrm>
            <a:off x="609600" y="3378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Why we built it: today a documentation clerk does this by hand - about 4 minutes per SI/BL pair and 20 seconds to triage each email (a conservative estimate, not a measurement) - and a missed field becomes a correction, a delay, rework.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6290B6-92E5-DDE1-4A45-86EBDE78BD5E}"/>
              </a:ext>
            </a:extLst>
          </p:cNvPr>
          <p:cNvSpPr txBox="1"/>
          <p:nvPr/>
        </p:nvSpPr>
        <p:spPr>
          <a:xfrm>
            <a:off x="6096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Finding the right emails takes time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F3586E-6E8C-F9B0-AD56-857489101578}"/>
              </a:ext>
            </a:extLst>
          </p:cNvPr>
          <p:cNvSpPr txBox="1"/>
          <p:nvPr/>
        </p:nvSpPr>
        <p:spPr>
          <a:xfrm>
            <a:off x="6096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A document request that is overlooked never reaches the checking step.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65143E-E947-7E61-8233-219E9BAB8CFD}"/>
              </a:ext>
            </a:extLst>
          </p:cNvPr>
          <p:cNvSpPr txBox="1"/>
          <p:nvPr/>
        </p:nvSpPr>
        <p:spPr>
          <a:xfrm>
            <a:off x="43307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Manual comparison is easy to get wrong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8B3E9E-02E1-18E1-94D6-67CFB87DA086}"/>
              </a:ext>
            </a:extLst>
          </p:cNvPr>
          <p:cNvSpPr txBox="1"/>
          <p:nvPr/>
        </p:nvSpPr>
        <p:spPr>
          <a:xfrm>
            <a:off x="43307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Names, ports, quantities and weight across two documents; a missed discrepancy is a correction, a delay, rework.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890D010-EBCC-C972-24E7-AC0EDE13A5DC}"/>
              </a:ext>
            </a:extLst>
          </p:cNvPr>
          <p:cNvSpPr txBox="1"/>
          <p:nvPr/>
        </p:nvSpPr>
        <p:spPr>
          <a:xfrm>
            <a:off x="80518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The same fact looks different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D1208B-B573-1B59-EFE6-A30711210E28}"/>
              </a:ext>
            </a:extLst>
          </p:cNvPr>
          <p:cNvSpPr txBox="1"/>
          <p:nvPr/>
        </p:nvSpPr>
        <p:spPr>
          <a:xfrm>
            <a:off x="80518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One document says 'Port of Loading', the other 'Load Port' - the system has to know they are the same field.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D174602-3BE8-1A03-4EED-0AFB74E41F72}"/>
              </a:ext>
            </a:extLst>
          </p:cNvPr>
          <p:cNvSpPr/>
          <p:nvPr/>
        </p:nvSpPr>
        <p:spPr>
          <a:xfrm>
            <a:off x="609600" y="5537200"/>
            <a:ext cx="10972800" cy="558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7247F8-7C2B-071B-78B6-727628AB7857}"/>
              </a:ext>
            </a:extLst>
          </p:cNvPr>
          <p:cNvSpPr txBox="1"/>
          <p:nvPr/>
        </p:nvSpPr>
        <p:spPr>
          <a:xfrm>
            <a:off x="812800" y="56261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The fourth case: sometimes the check cannot be done at all - an unreadable scan, a blank field, the wrong document. That has to reach a person with the reason attached, not be guessed at. Sentinel does all four.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0982EC-AAE6-473E-E60F-56FA31B64A3C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5 · SOLUTION EFFECTIVENESS &amp; USER VALUE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9902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43D84F-5A8B-7685-1146-1338948D88F1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What it does, end to end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9AEFDB-A4F0-9301-8DDB-39A69CB7EAA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270000"/>
            <a:ext cx="6858000" cy="42862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107C9FD-4F4A-918F-07DF-32992E4F16B1}"/>
              </a:ext>
            </a:extLst>
          </p:cNvPr>
          <p:cNvSpPr txBox="1"/>
          <p:nvPr/>
        </p:nvSpPr>
        <p:spPr>
          <a:xfrm>
            <a:off x="7874000" y="12700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520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AAAD95-132B-4F8A-A18D-2CABC9FD7194}"/>
              </a:ext>
            </a:extLst>
          </p:cNvPr>
          <p:cNvSpPr txBox="1"/>
          <p:nvPr/>
        </p:nvSpPr>
        <p:spPr>
          <a:xfrm>
            <a:off x="7874000" y="18542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emails, classified and routed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ADE83B-7E2F-6548-0462-364E35F53722}"/>
              </a:ext>
            </a:extLst>
          </p:cNvPr>
          <p:cNvSpPr txBox="1"/>
          <p:nvPr/>
        </p:nvSpPr>
        <p:spPr>
          <a:xfrm>
            <a:off x="7874000" y="24384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1A2123-0637-9355-7D07-8C7E66503E9D}"/>
              </a:ext>
            </a:extLst>
          </p:cNvPr>
          <p:cNvSpPr txBox="1"/>
          <p:nvPr/>
        </p:nvSpPr>
        <p:spPr>
          <a:xfrm>
            <a:off x="7874000" y="30226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mismatches, with the fields that differ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FF3DC6-6984-502A-CBAA-D59705E4278D}"/>
              </a:ext>
            </a:extLst>
          </p:cNvPr>
          <p:cNvSpPr txBox="1"/>
          <p:nvPr/>
        </p:nvSpPr>
        <p:spPr>
          <a:xfrm>
            <a:off x="7874000" y="36068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667BCF-44AD-DDED-EDA6-818D91EFC955}"/>
              </a:ext>
            </a:extLst>
          </p:cNvPr>
          <p:cNvSpPr txBox="1"/>
          <p:nvPr/>
        </p:nvSpPr>
        <p:spPr>
          <a:xfrm>
            <a:off x="7874000" y="41910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sent to a person - with the reason and what to do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95EE4C-66A0-181A-96DA-F211AA160F7A}"/>
              </a:ext>
            </a:extLst>
          </p:cNvPr>
          <p:cNvSpPr txBox="1"/>
          <p:nvPr/>
        </p:nvSpPr>
        <p:spPr>
          <a:xfrm>
            <a:off x="7874000" y="47752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12.7 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1399FD-C70D-68F7-36FC-12CE0573971A}"/>
              </a:ext>
            </a:extLst>
          </p:cNvPr>
          <p:cNvSpPr txBox="1"/>
          <p:nvPr/>
        </p:nvSpPr>
        <p:spPr>
          <a:xfrm>
            <a:off x="7874000" y="53594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the whole inbox, on a free-tier container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CAB584-D163-5A5F-6F28-5A4676360938}"/>
              </a:ext>
            </a:extLst>
          </p:cNvPr>
          <p:cNvSpPr txBox="1"/>
          <p:nvPr/>
        </p:nvSpPr>
        <p:spPr>
          <a:xfrm>
            <a:off x="609600" y="5715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How a desk uses it:   1  Run the inbox   ·   2  Open a flagged case   ·   3  Confirm it, correct a single field, or re-upload the corrected document   ·   4  Send the drafted reply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CC8A3B-5EC3-7DE0-F0C3-5F1B7AAB73A2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1 · END-TO-END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220596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5210E2-601F-E436-7829-E814D3EA6B90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How it decides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A5824E-E493-86C3-36B0-457917776671}"/>
              </a:ext>
            </a:extLst>
          </p:cNvPr>
          <p:cNvSpPr/>
          <p:nvPr/>
        </p:nvSpPr>
        <p:spPr>
          <a:xfrm>
            <a:off x="711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Classify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389B498-9609-20EB-1B68-5F9191CE8B21}"/>
              </a:ext>
            </a:extLst>
          </p:cNvPr>
          <p:cNvCxnSpPr/>
          <p:nvPr/>
        </p:nvCxnSpPr>
        <p:spPr>
          <a:xfrm>
            <a:off x="22987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700954B-1423-972A-92A1-B5E494485D66}"/>
              </a:ext>
            </a:extLst>
          </p:cNvPr>
          <p:cNvSpPr/>
          <p:nvPr/>
        </p:nvSpPr>
        <p:spPr>
          <a:xfrm>
            <a:off x="25400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Intake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93353-9F52-B126-B37E-C81D9FB509C1}"/>
              </a:ext>
            </a:extLst>
          </p:cNvPr>
          <p:cNvCxnSpPr/>
          <p:nvPr/>
        </p:nvCxnSpPr>
        <p:spPr>
          <a:xfrm>
            <a:off x="41275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6C72DA4-1D4F-C20F-A311-5A8307320CDA}"/>
              </a:ext>
            </a:extLst>
          </p:cNvPr>
          <p:cNvSpPr/>
          <p:nvPr/>
        </p:nvSpPr>
        <p:spPr>
          <a:xfrm>
            <a:off x="43688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Extract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C595D6C-4653-C985-26E3-5992F8B3FB29}"/>
              </a:ext>
            </a:extLst>
          </p:cNvPr>
          <p:cNvCxnSpPr/>
          <p:nvPr/>
        </p:nvCxnSpPr>
        <p:spPr>
          <a:xfrm>
            <a:off x="59563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FCD73A-4C3B-B69A-D703-ADA60986DFF2}"/>
              </a:ext>
            </a:extLst>
          </p:cNvPr>
          <p:cNvSpPr/>
          <p:nvPr/>
        </p:nvSpPr>
        <p:spPr>
          <a:xfrm>
            <a:off x="61976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Compare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95A24-E05E-D7D0-0891-8AC0DBE0878A}"/>
              </a:ext>
            </a:extLst>
          </p:cNvPr>
          <p:cNvCxnSpPr/>
          <p:nvPr/>
        </p:nvCxnSpPr>
        <p:spPr>
          <a:xfrm>
            <a:off x="77851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5B568CD-DAF8-9F18-BAAE-559CF785EBAE}"/>
              </a:ext>
            </a:extLst>
          </p:cNvPr>
          <p:cNvSpPr/>
          <p:nvPr/>
        </p:nvSpPr>
        <p:spPr>
          <a:xfrm>
            <a:off x="80264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GATE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C6C8729-E9DB-DBC4-E40F-500924B62702}"/>
              </a:ext>
            </a:extLst>
          </p:cNvPr>
          <p:cNvCxnSpPr/>
          <p:nvPr/>
        </p:nvCxnSpPr>
        <p:spPr>
          <a:xfrm>
            <a:off x="96139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C0278A6-4C2F-5C97-1974-880A6915CC12}"/>
              </a:ext>
            </a:extLst>
          </p:cNvPr>
          <p:cNvSpPr/>
          <p:nvPr/>
        </p:nvSpPr>
        <p:spPr>
          <a:xfrm>
            <a:off x="9855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Decide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AC4D31B-65EA-753F-FDA9-C21133F00C51}"/>
              </a:ext>
            </a:extLst>
          </p:cNvPr>
          <p:cNvCxnSpPr/>
          <p:nvPr/>
        </p:nvCxnSpPr>
        <p:spPr>
          <a:xfrm flipH="1">
            <a:off x="6972300" y="1422400"/>
            <a:ext cx="1828800" cy="0"/>
          </a:xfrm>
          <a:prstGeom prst="line">
            <a:avLst/>
          </a:prstGeom>
          <a:ln w="19050">
            <a:solidFill>
              <a:srgbClr val="9C6C1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E1E9ED4-FE6E-3826-5728-6F8C0DF3195C}"/>
              </a:ext>
            </a:extLst>
          </p:cNvPr>
          <p:cNvSpPr txBox="1"/>
          <p:nvPr/>
        </p:nvSpPr>
        <p:spPr>
          <a:xfrm>
            <a:off x="6324600" y="11176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000">
                <a:solidFill>
                  <a:srgbClr val="9C6C18"/>
                </a:solidFill>
                <a:latin typeface="Calibri" panose="020F0502020204030204" pitchFamily="34" charset="0"/>
              </a:rPr>
              <a:t>can veto the comparison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BB0B3F-B584-28E9-A031-94589BEDFE3D}"/>
              </a:ext>
            </a:extLst>
          </p:cNvPr>
          <p:cNvSpPr txBox="1"/>
          <p:nvPr/>
        </p:nvSpPr>
        <p:spPr>
          <a:xfrm>
            <a:off x="609600" y="2413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Six stages, one direction. The gate runs after the comparison: a value we cannot find again in the document it was read from is never reported as a discrepancy - it becomes a question for a person, with both readings attached.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A57345F-E631-5C5E-05D5-EB6E9EC2A020}"/>
              </a:ext>
            </a:extLst>
          </p:cNvPr>
          <p:cNvSpPr/>
          <p:nvPr/>
        </p:nvSpPr>
        <p:spPr>
          <a:xfrm>
            <a:off x="6096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B7DF2C-40E1-152A-A702-6200F13AEB0F}"/>
              </a:ext>
            </a:extLst>
          </p:cNvPr>
          <p:cNvSpPr txBox="1"/>
          <p:nvPr/>
        </p:nvSpPr>
        <p:spPr>
          <a:xfrm>
            <a:off x="7874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Labels by meaning, values exactly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5DFF2B-E755-F292-2AE9-58FB050BB0C6}"/>
              </a:ext>
            </a:extLst>
          </p:cNvPr>
          <p:cNvSpPr txBox="1"/>
          <p:nvPr/>
        </p:nvSpPr>
        <p:spPr>
          <a:xfrm>
            <a:off x="7874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Never a similarity score. A threshold loose enough to forgive a scan artefact also merges two real companies - and this data has them.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43EA754-3CC1-2F41-FEBB-D97E7A88E6A2}"/>
              </a:ext>
            </a:extLst>
          </p:cNvPr>
          <p:cNvSpPr/>
          <p:nvPr/>
        </p:nvSpPr>
        <p:spPr>
          <a:xfrm>
            <a:off x="43307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AE596F-436E-6D1C-8626-5EC395EDC526}"/>
              </a:ext>
            </a:extLst>
          </p:cNvPr>
          <p:cNvSpPr txBox="1"/>
          <p:nvPr/>
        </p:nvSpPr>
        <p:spPr>
          <a:xfrm>
            <a:off x="45085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Rules first, model second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BB9AA5-53C0-6D06-E82A-B402228F5BAF}"/>
              </a:ext>
            </a:extLst>
          </p:cNvPr>
          <p:cNvSpPr txBox="1"/>
          <p:nvPr/>
        </p:nvSpPr>
        <p:spPr>
          <a:xfrm>
            <a:off x="45085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stage tries a deterministic answer before a model, and records which one answered (decided_by). The model is asked only where the rules admit they cannot read.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8D7BF01-4221-CCE9-6386-1BA4027FB55F}"/>
              </a:ext>
            </a:extLst>
          </p:cNvPr>
          <p:cNvSpPr/>
          <p:nvPr/>
        </p:nvSpPr>
        <p:spPr>
          <a:xfrm>
            <a:off x="80518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3F700B-6F27-5486-1430-74F16503E3C2}"/>
              </a:ext>
            </a:extLst>
          </p:cNvPr>
          <p:cNvSpPr txBox="1"/>
          <p:nvPr/>
        </p:nvSpPr>
        <p:spPr>
          <a:xfrm>
            <a:off x="82296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One stateless pipeline library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A64297-CF63-1392-ED5B-218253132056}"/>
              </a:ext>
            </a:extLst>
          </p:cNvPr>
          <p:cNvSpPr txBox="1"/>
          <p:nvPr/>
        </p:nvSpPr>
        <p:spPr>
          <a:xfrm>
            <a:off x="82296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No web framework or database in backend/sdoc. The CLI, the API and the tests run the same code, so the thing scored is the thing demonstrated.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53B89B-B970-E337-3027-C6A8987A682C}"/>
              </a:ext>
            </a:extLst>
          </p:cNvPr>
          <p:cNvSpPr txBox="1"/>
          <p:nvPr/>
        </p:nvSpPr>
        <p:spPr>
          <a:xfrm>
            <a:off x="609600" y="5308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Scaling, as built: state sits behind one class in one file (store.py) - Postgres is a one-file change · one worker on purpose · throughput is more copies of a stateless library · cost does not scale with volume on this inbox · per-desk rules slot into the existing stage boundaries.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DFEC5C-6B4C-E46D-E634-68A35670CDF6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2 · ARCHITECTURE &amp; SCALABILITY</a:t>
            </a:r>
          </a:p>
        </p:txBody>
      </p:sp>
    </p:spTree>
    <p:extLst>
      <p:ext uri="{BB962C8B-B14F-4D97-AF65-F5344CB8AC3E}">
        <p14:creationId xmlns:p14="http://schemas.microsoft.com/office/powerpoint/2010/main" val="1782283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FB1CD9-D6D1-D2ED-8C0F-9D9BD01967DA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Where the AI is - and why it is aimed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62AED0B-9F4C-C6C9-5BBF-9DBB023811F6}"/>
              </a:ext>
            </a:extLst>
          </p:cNvPr>
          <p:cNvSpPr/>
          <p:nvPr/>
        </p:nvSpPr>
        <p:spPr>
          <a:xfrm>
            <a:off x="609600" y="13208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159FF5-CB36-5287-5577-AA7F2C18E208}"/>
              </a:ext>
            </a:extLst>
          </p:cNvPr>
          <p:cNvSpPr txBox="1"/>
          <p:nvPr/>
        </p:nvSpPr>
        <p:spPr>
          <a:xfrm>
            <a:off x="1219200" y="12954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Classify - an email the rules cannot separate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69856-5847-64C1-300E-C9E633953501}"/>
              </a:ext>
            </a:extLst>
          </p:cNvPr>
          <p:cNvSpPr txBox="1"/>
          <p:nvPr/>
        </p:nvSpPr>
        <p:spPr>
          <a:xfrm>
            <a:off x="1219200" y="1600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when the rule score is ambiguous; a closed five-way answer, never free text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C57F6D-BB3A-A59B-8571-59E4B23CEF89}"/>
              </a:ext>
            </a:extLst>
          </p:cNvPr>
          <p:cNvSpPr/>
          <p:nvPr/>
        </p:nvSpPr>
        <p:spPr>
          <a:xfrm>
            <a:off x="609600" y="23622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45C49A-E799-8A15-5692-534E5E10EBE5}"/>
              </a:ext>
            </a:extLst>
          </p:cNvPr>
          <p:cNvSpPr txBox="1"/>
          <p:nvPr/>
        </p:nvSpPr>
        <p:spPr>
          <a:xfrm>
            <a:off x="1219200" y="23368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Read - a field label the table has never seen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CE63B4-5855-882F-4536-5011E0A9DF1E}"/>
              </a:ext>
            </a:extLst>
          </p:cNvPr>
          <p:cNvSpPr txBox="1"/>
          <p:nvPr/>
        </p:nvSpPr>
        <p:spPr>
          <a:xfrm>
            <a:off x="1219200" y="2641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about fields no rule resolved; every value must be found again in the document before it is adopted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2AB324B-7053-C306-F6B9-46F2A818E094}"/>
              </a:ext>
            </a:extLst>
          </p:cNvPr>
          <p:cNvSpPr/>
          <p:nvPr/>
        </p:nvSpPr>
        <p:spPr>
          <a:xfrm>
            <a:off x="609600" y="34036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B1E7F6-F198-175C-9990-E67FBF484FE5}"/>
              </a:ext>
            </a:extLst>
          </p:cNvPr>
          <p:cNvSpPr txBox="1"/>
          <p:nvPr/>
        </p:nvSpPr>
        <p:spPr>
          <a:xfrm>
            <a:off x="1219200" y="3378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See - a scanned page with no text layer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0B4AEA-972B-4836-E1AD-C75395FDAA66}"/>
              </a:ext>
            </a:extLst>
          </p:cNvPr>
          <p:cNvSpPr txBox="1"/>
          <p:nvPr/>
        </p:nvSpPr>
        <p:spPr>
          <a:xfrm>
            <a:off x="1219200" y="36830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transcribed for the reviewer, never fed into a comparison - the case stays in review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0AD510-FDB3-66D8-327A-FD31C7EF2B91}"/>
              </a:ext>
            </a:extLst>
          </p:cNvPr>
          <p:cNvSpPr txBox="1"/>
          <p:nvPr/>
        </p:nvSpPr>
        <p:spPr>
          <a:xfrm>
            <a:off x="609600" y="4470400"/>
            <a:ext cx="660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gpt-5-mini, structured output. One rule for all three: nothing the model returns is adopted until it is found again in the document.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AD2C984-4A87-6DE0-D1E5-210D67806E14}"/>
              </a:ext>
            </a:extLst>
          </p:cNvPr>
          <p:cNvSpPr/>
          <p:nvPr/>
        </p:nvSpPr>
        <p:spPr>
          <a:xfrm>
            <a:off x="7620000" y="1320800"/>
            <a:ext cx="3962400" cy="2870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C3BFC0-5A23-E2B1-66A9-158F6A69B6E0}"/>
              </a:ext>
            </a:extLst>
          </p:cNvPr>
          <p:cNvSpPr txBox="1"/>
          <p:nvPr/>
        </p:nvSpPr>
        <p:spPr>
          <a:xfrm>
            <a:off x="7772400" y="1549400"/>
            <a:ext cx="165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5600" b="1">
                <a:solidFill>
                  <a:srgbClr val="6B7280"/>
                </a:solidFill>
                <a:latin typeface="Cambria" panose="02040503050406030204" pitchFamily="18" charset="0"/>
              </a:rPr>
              <a:t>168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D22E1-1A0B-5989-CCB6-98AA6748722C}"/>
              </a:ext>
            </a:extLst>
          </p:cNvPr>
          <p:cNvSpPr txBox="1"/>
          <p:nvPr/>
        </p:nvSpPr>
        <p:spPr>
          <a:xfrm>
            <a:off x="9499600" y="1651000"/>
            <a:ext cx="38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30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227F73-56C3-F808-7B26-1CA4C0A738B1}"/>
              </a:ext>
            </a:extLst>
          </p:cNvPr>
          <p:cNvSpPr txBox="1"/>
          <p:nvPr/>
        </p:nvSpPr>
        <p:spPr>
          <a:xfrm>
            <a:off x="9982200" y="1549400"/>
            <a:ext cx="1397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5600" b="1">
                <a:solidFill>
                  <a:srgbClr val="D9A441"/>
                </a:solidFill>
                <a:latin typeface="Cambria" panose="02040503050406030204" pitchFamily="18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7F7929-D7C4-028C-53E4-CB3048027614}"/>
              </a:ext>
            </a:extLst>
          </p:cNvPr>
          <p:cNvSpPr txBox="1"/>
          <p:nvPr/>
        </p:nvSpPr>
        <p:spPr>
          <a:xfrm>
            <a:off x="7823200" y="2540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cases forced to a human on wording we invented - rules alone vs rules + model, 188 documents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3D4037-E95C-C9F9-9673-6B6704950B71}"/>
              </a:ext>
            </a:extLst>
          </p:cNvPr>
          <p:cNvSpPr txBox="1"/>
          <p:nvPr/>
        </p:nvSpPr>
        <p:spPr>
          <a:xfrm>
            <a:off x="7823200" y="3175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 b="1">
                <a:solidFill>
                  <a:srgbClr val="3B4A6B"/>
                </a:solidFill>
                <a:latin typeface="Calibri" panose="020F0502020204030204" pitchFamily="34" charset="0"/>
              </a:rPr>
              <a:t>False discrepancies: 0 both ways. Recall bought by guessing would have shown up there; it didn't.</a:t>
            </a:r>
            <a:endParaRPr lang="en-MY" sz="115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54FCD0-B0EC-4096-6EF2-6B1643EDF26D}"/>
              </a:ext>
            </a:extLst>
          </p:cNvPr>
          <p:cNvSpPr/>
          <p:nvPr/>
        </p:nvSpPr>
        <p:spPr>
          <a:xfrm>
            <a:off x="609600" y="5130800"/>
            <a:ext cx="10972800" cy="685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9D6760-0D40-025E-DE44-984863C822DC}"/>
              </a:ext>
            </a:extLst>
          </p:cNvPr>
          <p:cNvSpPr txBox="1"/>
          <p:nvPr/>
        </p:nvSpPr>
        <p:spPr>
          <a:xfrm>
            <a:off x="812800" y="52070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$0.0013 per document at the published rates · cached · $2 ceiling per run.   On this inbox: 0 classifier calls, 0 extractor calls, 6 scans read out for the reviewer - every decision is a rule's, and that is measured, not assumed.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EA700B-8363-4AA9-E3A2-E9E824C3052D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3 · TECHNOLOGY INTEGRATION</a:t>
            </a:r>
          </a:p>
        </p:txBody>
      </p:sp>
    </p:spTree>
    <p:extLst>
      <p:ext uri="{BB962C8B-B14F-4D97-AF65-F5344CB8AC3E}">
        <p14:creationId xmlns:p14="http://schemas.microsoft.com/office/powerpoint/2010/main" val="3233756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83DEC8-4B15-A868-DE93-7782D4B06137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How we know it holds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9D0CC1-4E90-FDA7-DC68-C24B3579448E}"/>
              </a:ext>
            </a:extLst>
          </p:cNvPr>
          <p:cNvSpPr/>
          <p:nvPr/>
        </p:nvSpPr>
        <p:spPr>
          <a:xfrm>
            <a:off x="6096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CB9491-737E-BDFA-D52F-34F7FABB058B}"/>
              </a:ext>
            </a:extLst>
          </p:cNvPr>
          <p:cNvSpPr txBox="1"/>
          <p:nvPr/>
        </p:nvSpPr>
        <p:spPr>
          <a:xfrm>
            <a:off x="7874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Not memorised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9AD20D-CC9B-39CE-2B00-3777976A59EE}"/>
              </a:ext>
            </a:extLst>
          </p:cNvPr>
          <p:cNvSpPr txBox="1"/>
          <p:nvPr/>
        </p:nvSpPr>
        <p:spPr>
          <a:xfrm>
            <a:off x="7874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1.0000 on four datasets, three from seeds we never developed against - 225 planted defects caught with the exact field set, 80/80 escalations correct.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3ED4F47-0D85-08F7-7C38-76ABB94039CD}"/>
              </a:ext>
            </a:extLst>
          </p:cNvPr>
          <p:cNvSpPr/>
          <p:nvPr/>
        </p:nvSpPr>
        <p:spPr>
          <a:xfrm>
            <a:off x="42418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14A506-C458-DB3E-4D7F-A5373A12727C}"/>
              </a:ext>
            </a:extLst>
          </p:cNvPr>
          <p:cNvSpPr txBox="1"/>
          <p:nvPr/>
        </p:nvSpPr>
        <p:spPr>
          <a:xfrm>
            <a:off x="44196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Attacked ourselves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CA03B4-9243-75BF-1E2F-31DF474BC2F9}"/>
              </a:ext>
            </a:extLst>
          </p:cNvPr>
          <p:cNvSpPr txBox="1"/>
          <p:nvPr/>
        </p:nvSpPr>
        <p:spPr>
          <a:xfrm>
            <a:off x="44196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16 kinds of damage, 3,008 perturbed documents, 20,496 field reads, no answer key. Thirteen modes at zero movement; silent wrong values 982 -&gt; 0.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F60F3FF-7C01-4F8C-C790-80BFB15DEB48}"/>
              </a:ext>
            </a:extLst>
          </p:cNvPr>
          <p:cNvSpPr/>
          <p:nvPr/>
        </p:nvSpPr>
        <p:spPr>
          <a:xfrm>
            <a:off x="6096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EE0929-96B0-281F-1BEE-B41C6430B388}"/>
              </a:ext>
            </a:extLst>
          </p:cNvPr>
          <p:cNvSpPr txBox="1"/>
          <p:nvPr/>
        </p:nvSpPr>
        <p:spPr>
          <a:xfrm>
            <a:off x="7874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 real carrier's form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231BF5-B316-C032-B52F-168851CB5BE8}"/>
              </a:ext>
            </a:extLst>
          </p:cNvPr>
          <p:cNvSpPr txBox="1"/>
          <p:nvPr/>
        </p:nvSpPr>
        <p:spPr>
          <a:xfrm>
            <a:off x="7874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CMA CGM's public SI template, from outside the generator: four fields held, one bug found and fixed the same day.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C037217-0643-4E79-67DB-A55402FB4680}"/>
              </a:ext>
            </a:extLst>
          </p:cNvPr>
          <p:cNvSpPr/>
          <p:nvPr/>
        </p:nvSpPr>
        <p:spPr>
          <a:xfrm>
            <a:off x="42418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5D4B8B-F73D-AB3C-B759-DBF23E98C357}"/>
              </a:ext>
            </a:extLst>
          </p:cNvPr>
          <p:cNvSpPr txBox="1"/>
          <p:nvPr/>
        </p:nvSpPr>
        <p:spPr>
          <a:xfrm>
            <a:off x="44196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Engineering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F76765-C96B-30B6-0C28-84419440260C}"/>
              </a:ext>
            </a:extLst>
          </p:cNvPr>
          <p:cNvSpPr txBox="1"/>
          <p:nvPr/>
        </p:nvSpPr>
        <p:spPr>
          <a:xfrm>
            <a:off x="44196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596 tests, 0 failing; CI on every push; a container that runs as a non-root user with no secret baked in; every value carries its evidence.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2204F93-9FD6-CA9F-600C-E2533024A9AA}"/>
              </a:ext>
            </a:extLst>
          </p:cNvPr>
          <p:cNvSpPr/>
          <p:nvPr/>
        </p:nvSpPr>
        <p:spPr>
          <a:xfrm>
            <a:off x="7924800" y="1270000"/>
            <a:ext cx="3657600" cy="398780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8212FB-227D-53FB-1A62-DDC989A5F306}"/>
              </a:ext>
            </a:extLst>
          </p:cNvPr>
          <p:cNvSpPr txBox="1"/>
          <p:nvPr/>
        </p:nvSpPr>
        <p:spPr>
          <a:xfrm>
            <a:off x="8102600" y="1422400"/>
            <a:ext cx="330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9C6C18"/>
                </a:solidFill>
                <a:latin typeface="Calibri" panose="020F0502020204030204" pitchFamily="34" charset="0"/>
              </a:rPr>
              <a:t>What we haven't fixed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BE6B6E-A481-96B4-E85A-BBB334EBB6F6}"/>
              </a:ext>
            </a:extLst>
          </p:cNvPr>
          <p:cNvSpPr txBox="1"/>
          <p:nvPr/>
        </p:nvSpPr>
        <p:spPr>
          <a:xfrm>
            <a:off x="8102600" y="1803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email_145: a wrapped party name cut short to exactly what the other document says leaves the repair nothing to repair, and one real mismatch in 3,008 perturbed documents is reported as a match.</a:t>
            </a:r>
          </a:p>
          <a:p>
            <a:endParaRPr lang="en-US" sz="1150">
              <a:solidFill>
                <a:srgbClr val="1F2430"/>
              </a:solidFill>
              <a:latin typeface="Calibri" panose="020F0502020204030204" pitchFamily="34" charset="0"/>
            </a:endParaRPr>
          </a:p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obvious guard would flag 92% of genuine party fields - worse than the gap - so it stays open and written down (ADVERSARIAL.md 5.2).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96255A-517A-E6B4-2D85-C691891DB3E7}"/>
              </a:ext>
            </a:extLst>
          </p:cNvPr>
          <p:cNvSpPr txBox="1"/>
          <p:nvPr/>
        </p:nvSpPr>
        <p:spPr>
          <a:xfrm>
            <a:off x="8102600" y="4470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A defect we hide is worse than one we miss.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57D6AC-1677-BBFD-B1CA-7775A150E5FA}"/>
              </a:ext>
            </a:extLst>
          </p:cNvPr>
          <p:cNvSpPr txBox="1"/>
          <p:nvPr/>
        </p:nvSpPr>
        <p:spPr>
          <a:xfrm>
            <a:off x="609600" y="548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 perfect score on the dataset you were handed proves you didn't memorise it. It doesn't prove the reader works - so we went looking for the failures ourselves.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D529C0-4237-7AF9-0EE1-52D403638FE1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4 · ENGINEERING QUALITY &amp; ROBUSTNESS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068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0769EA-E699-9CA5-A518-4A2A9A41BE24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FFFFFF"/>
                </a:solidFill>
                <a:latin typeface="Cambria" panose="02040503050406030204" pitchFamily="18" charset="0"/>
              </a:rPr>
              <a:t>Live 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1A2C1-D09D-0BD7-4433-EBDB5B1F1C29}"/>
              </a:ext>
            </a:extLst>
          </p:cNvPr>
          <p:cNvSpPr txBox="1"/>
          <p:nvPr/>
        </p:nvSpPr>
        <p:spPr>
          <a:xfrm>
            <a:off x="609600" y="1066800"/>
            <a:ext cx="635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D9A441"/>
                </a:solidFill>
                <a:latin typeface="Calibri" panose="020F0502020204030204" pitchFamily="34" charset="0"/>
              </a:rPr>
              <a:t>90 seconds, on the deployed URLs</a:t>
            </a:r>
            <a:endParaRPr lang="en-MY" sz="1400">
              <a:solidFill>
                <a:srgbClr val="D9A44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C3F65EF-1758-6BB6-529A-F854F08D1C80}"/>
              </a:ext>
            </a:extLst>
          </p:cNvPr>
          <p:cNvSpPr/>
          <p:nvPr/>
        </p:nvSpPr>
        <p:spPr>
          <a:xfrm>
            <a:off x="609600" y="15748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C4AE5-C918-ACE3-8092-1AFA39CCE60A}"/>
              </a:ext>
            </a:extLst>
          </p:cNvPr>
          <p:cNvSpPr txBox="1"/>
          <p:nvPr/>
        </p:nvSpPr>
        <p:spPr>
          <a:xfrm>
            <a:off x="1117600" y="16002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Start a run with the model tier on - the organisers' full inbox, 520 emails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27029DA-BB52-1FCD-276F-AA915D1B3F30}"/>
              </a:ext>
            </a:extLst>
          </p:cNvPr>
          <p:cNvSpPr/>
          <p:nvPr/>
        </p:nvSpPr>
        <p:spPr>
          <a:xfrm>
            <a:off x="609600" y="23622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A8CEDE-3942-8E21-3EF3-01EC57AFFD07}"/>
              </a:ext>
            </a:extLst>
          </p:cNvPr>
          <p:cNvSpPr txBox="1"/>
          <p:nvPr/>
        </p:nvSpPr>
        <p:spPr>
          <a:xfrm>
            <a:off x="1117600" y="23876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Patterns worth a second look - one shipper, one field, six times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3C0904F-1215-726A-B2F1-45C7A4BD5B3C}"/>
              </a:ext>
            </a:extLst>
          </p:cNvPr>
          <p:cNvSpPr/>
          <p:nvPr/>
        </p:nvSpPr>
        <p:spPr>
          <a:xfrm>
            <a:off x="609600" y="31496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D79AF6-CC6B-9D07-0550-B46B7EC8FE7D}"/>
              </a:ext>
            </a:extLst>
          </p:cNvPr>
          <p:cNvSpPr txBox="1"/>
          <p:nvPr/>
        </p:nvSpPr>
        <p:spPr>
          <a:xfrm>
            <a:off x="1117600" y="31750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mismatch case - under every value, the line it was read from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A45EEDA-6464-D86A-12B3-E08F54920F90}"/>
              </a:ext>
            </a:extLst>
          </p:cNvPr>
          <p:cNvSpPr/>
          <p:nvPr/>
        </p:nvSpPr>
        <p:spPr>
          <a:xfrm>
            <a:off x="609600" y="39370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223473-0096-EC57-1996-4C02A929076B}"/>
              </a:ext>
            </a:extLst>
          </p:cNvPr>
          <p:cNvSpPr txBox="1"/>
          <p:nvPr/>
        </p:nvSpPr>
        <p:spPr>
          <a:xfrm>
            <a:off x="1117600" y="39624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scanned case - the page read out for the reviewer; the case still in review, decided per field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382F9AE-45CC-7770-BBE1-AA4AA357E351}"/>
              </a:ext>
            </a:extLst>
          </p:cNvPr>
          <p:cNvSpPr/>
          <p:nvPr/>
        </p:nvSpPr>
        <p:spPr>
          <a:xfrm>
            <a:off x="609600" y="47244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ED635F-AFFC-379F-F623-5501E1BC5174}"/>
              </a:ext>
            </a:extLst>
          </p:cNvPr>
          <p:cNvSpPr txBox="1"/>
          <p:nvPr/>
        </p:nvSpPr>
        <p:spPr>
          <a:xfrm>
            <a:off x="1117600" y="47498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Compare, unfamiliar labels: model off, then on - 'model answered'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F6F7046-D363-E936-35B8-C2C77878A2E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0" y="1397000"/>
            <a:ext cx="4978400" cy="311150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F1EB5F6-C7C6-E60D-0A6F-CBAA2F77111D}"/>
              </a:ext>
            </a:extLst>
          </p:cNvPr>
          <p:cNvSpPr txBox="1"/>
          <p:nvPr/>
        </p:nvSpPr>
        <p:spPr>
          <a:xfrm>
            <a:off x="609600" y="5689600"/>
            <a:ext cx="584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E2E5EC"/>
                </a:solidFill>
                <a:latin typeface="Calibri" panose="020F0502020204030204" pitchFamily="34" charset="0"/>
              </a:rPr>
              <a:t>Fallback if the venue network fails: the same inbox on the laptop, 1.5 s, no network - only the model beat changes.</a:t>
            </a:r>
            <a:endParaRPr lang="en-MY" sz="11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7793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61A244-F027-F4DF-B51B-DA1B9B51D349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What makes it different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AC75AD2-E50B-A0C0-5B79-BAC6611C6B19}"/>
              </a:ext>
            </a:extLst>
          </p:cNvPr>
          <p:cNvSpPr/>
          <p:nvPr/>
        </p:nvSpPr>
        <p:spPr>
          <a:xfrm>
            <a:off x="609600" y="1219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5F72C1-3DEC-11E2-A1E9-81BF16D29016}"/>
              </a:ext>
            </a:extLst>
          </p:cNvPr>
          <p:cNvSpPr txBox="1"/>
          <p:nvPr/>
        </p:nvSpPr>
        <p:spPr>
          <a:xfrm>
            <a:off x="1066800" y="1193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Correct by re-upload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4D7421-C657-CFAD-09D0-726232C6DE9F}"/>
              </a:ext>
            </a:extLst>
          </p:cNvPr>
          <p:cNvSpPr txBox="1"/>
          <p:nvPr/>
        </p:nvSpPr>
        <p:spPr>
          <a:xfrm>
            <a:off x="1066800" y="1473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The sender re-sends a fixed SI or BL? Attach it on the case and the same check runs again. The old answer stays on record.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9C5D531-C8ED-7A37-3486-0669E6662FBE}"/>
              </a:ext>
            </a:extLst>
          </p:cNvPr>
          <p:cNvSpPr/>
          <p:nvPr/>
        </p:nvSpPr>
        <p:spPr>
          <a:xfrm>
            <a:off x="609600" y="20828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DAA1BC-700D-EB24-5E07-E5A0A4B021CF}"/>
              </a:ext>
            </a:extLst>
          </p:cNvPr>
          <p:cNvSpPr txBox="1"/>
          <p:nvPr/>
        </p:nvSpPr>
        <p:spPr>
          <a:xfrm>
            <a:off x="1066800" y="2057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Scans read out for the reviewer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910C63-3416-AAF1-BBF6-BECFD56EF6A0}"/>
              </a:ext>
            </a:extLst>
          </p:cNvPr>
          <p:cNvSpPr txBox="1"/>
          <p:nvPr/>
        </p:nvSpPr>
        <p:spPr>
          <a:xfrm>
            <a:off x="1066800" y="2336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An image-only PDF still goes to a person - but with the seven fields already read by the model, marked as evidence, not a verdict.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641CD8E-D788-FD4B-5222-ACE4099FEEE6}"/>
              </a:ext>
            </a:extLst>
          </p:cNvPr>
          <p:cNvSpPr/>
          <p:nvPr/>
        </p:nvSpPr>
        <p:spPr>
          <a:xfrm>
            <a:off x="609600" y="29464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B2F309-7043-6823-CFA0-172ABBDCC853}"/>
              </a:ext>
            </a:extLst>
          </p:cNvPr>
          <p:cNvSpPr txBox="1"/>
          <p:nvPr/>
        </p:nvSpPr>
        <p:spPr>
          <a:xfrm>
            <a:off x="1066800" y="2921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Shipper history on the field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DBB224-D5BB-F090-AADD-C76D84E361A2}"/>
              </a:ext>
            </a:extLst>
          </p:cNvPr>
          <p:cNvSpPr txBox="1"/>
          <p:nvPr/>
        </p:nvSpPr>
        <p:spPr>
          <a:xfrm>
            <a:off x="1066800" y="3200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Correcting a field shows how often this shipper was wrong on that same field before. A count, not a guess.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A55D6EC-49B0-50BF-30B1-1EF9EF6A90C7}"/>
              </a:ext>
            </a:extLst>
          </p:cNvPr>
          <p:cNvSpPr/>
          <p:nvPr/>
        </p:nvSpPr>
        <p:spPr>
          <a:xfrm>
            <a:off x="609600" y="3810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AAAE46-66FE-3DDC-9D9C-4E4BC7DF0296}"/>
              </a:ext>
            </a:extLst>
          </p:cNvPr>
          <p:cNvSpPr txBox="1"/>
          <p:nvPr/>
        </p:nvSpPr>
        <p:spPr>
          <a:xfrm>
            <a:off x="1066800" y="3784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The original, one click away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5032E0-6489-1F95-FE19-9A5392963135}"/>
              </a:ext>
            </a:extLst>
          </p:cNvPr>
          <p:cNvSpPr txBox="1"/>
          <p:nvPr/>
        </p:nvSpPr>
        <p:spPr>
          <a:xfrm>
            <a:off x="1066800" y="4064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value carries its line, and the source document opens beside it.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5E3243F-F3BD-96FD-7973-8E668BE1F9CA}"/>
              </a:ext>
            </a:extLst>
          </p:cNvPr>
          <p:cNvSpPr/>
          <p:nvPr/>
        </p:nvSpPr>
        <p:spPr>
          <a:xfrm>
            <a:off x="609600" y="4673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5204F4-DBB9-78AB-2BE7-89739FC41C8D}"/>
              </a:ext>
            </a:extLst>
          </p:cNvPr>
          <p:cNvSpPr txBox="1"/>
          <p:nvPr/>
        </p:nvSpPr>
        <p:spPr>
          <a:xfrm>
            <a:off x="1066800" y="4648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A reply drafted from the corrected outcome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519ECA-C2B2-426B-F335-8450EFC22E7D}"/>
              </a:ext>
            </a:extLst>
          </p:cNvPr>
          <p:cNvSpPr txBox="1"/>
          <p:nvPr/>
        </p:nvSpPr>
        <p:spPr>
          <a:xfrm>
            <a:off x="1066800" y="4927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Subject and body ready, built from what the reviewer decided - not the stale answer. A person still presses send.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7B028DE-82FE-871B-D738-3DB358EBECA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1219200"/>
            <a:ext cx="4724400" cy="1837267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7AE7AD1-426C-4D04-DA2F-1AD46E680297}"/>
              </a:ext>
            </a:extLst>
          </p:cNvPr>
          <p:cNvSpPr txBox="1"/>
          <p:nvPr/>
        </p:nvSpPr>
        <p:spPr>
          <a:xfrm>
            <a:off x="6858000" y="4318000"/>
            <a:ext cx="4724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The scan read-out, as the reviewer sees it: seven fields, the model's confidence, and the sentence that none of it entered the comparison.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1FF6AE3-08E3-2176-ACCF-E61549E5E729}"/>
              </a:ext>
            </a:extLst>
          </p:cNvPr>
          <p:cNvSpPr/>
          <p:nvPr/>
        </p:nvSpPr>
        <p:spPr>
          <a:xfrm>
            <a:off x="609600" y="5588000"/>
            <a:ext cx="10972800" cy="5080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749409-1CF9-4C9C-993A-6609C9CD1D78}"/>
              </a:ext>
            </a:extLst>
          </p:cNvPr>
          <p:cNvSpPr txBox="1"/>
          <p:nvPr/>
        </p:nvSpPr>
        <p:spPr>
          <a:xfrm>
            <a:off x="812800" y="56642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flag carries the line it came from. Every escalation carries the reason and what to do about it. Most teams at this stage meet the brief; these are the things a reviewer actually uses.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46A69B-E70D-0C8E-D9B8-24161E95C137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6 · USER EXPERIENCE &amp; DIFFERENTIATION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078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F84BD4-CA6D-DD44-CEB0-727AE5B5BD7B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Impact, and what comes next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4D35C28-96BC-FDDE-A400-9A38795C4C6B}"/>
              </a:ext>
            </a:extLst>
          </p:cNvPr>
          <p:cNvSpPr/>
          <p:nvPr/>
        </p:nvSpPr>
        <p:spPr>
          <a:xfrm>
            <a:off x="609600" y="1219200"/>
            <a:ext cx="6350000" cy="1219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B49AE9-D6C8-5B0A-85D8-2130E8BBABE0}"/>
              </a:ext>
            </a:extLst>
          </p:cNvPr>
          <p:cNvSpPr txBox="1"/>
          <p:nvPr/>
        </p:nvSpPr>
        <p:spPr>
          <a:xfrm>
            <a:off x="812800" y="1371600"/>
            <a:ext cx="2413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600" b="1">
                <a:solidFill>
                  <a:srgbClr val="6B7280"/>
                </a:solidFill>
                <a:latin typeface="Cambria" panose="02040503050406030204" pitchFamily="18" charset="0"/>
              </a:rPr>
              <a:t>11 hours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0FBA5-E946-8E47-2878-B0B147F0E73A}"/>
              </a:ext>
            </a:extLst>
          </p:cNvPr>
          <p:cNvSpPr txBox="1"/>
          <p:nvPr/>
        </p:nvSpPr>
        <p:spPr>
          <a:xfrm>
            <a:off x="3276600" y="1473200"/>
            <a:ext cx="50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MY" sz="24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2ED602-2886-7D3D-029A-2E800583FAE8}"/>
              </a:ext>
            </a:extLst>
          </p:cNvPr>
          <p:cNvSpPr txBox="1"/>
          <p:nvPr/>
        </p:nvSpPr>
        <p:spPr>
          <a:xfrm>
            <a:off x="3835400" y="1320800"/>
            <a:ext cx="2997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13 seconds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F2C088-8D31-CF3D-EF81-7421717E9CC3}"/>
              </a:ext>
            </a:extLst>
          </p:cNvPr>
          <p:cNvSpPr txBox="1"/>
          <p:nvPr/>
        </p:nvSpPr>
        <p:spPr>
          <a:xfrm>
            <a:off x="812800" y="2006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520 emails, 124 document pairs. Eleven hours is a conservative estimate (20 s an email, 4 min a pair), not a measurement; thirteen seconds is measured. Every decision on that inbox was a rule's.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FA07E7-9ED3-88B7-0A23-7C74EB3913BC}"/>
              </a:ext>
            </a:extLst>
          </p:cNvPr>
          <p:cNvSpPr txBox="1"/>
          <p:nvPr/>
        </p:nvSpPr>
        <p:spPr>
          <a:xfrm>
            <a:off x="609600" y="26416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First deployment: one desk, not a region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2C4F84-0129-0A85-BBC8-80F88CE739CE}"/>
              </a:ext>
            </a:extLst>
          </p:cNvPr>
          <p:cNvSpPr txBox="1"/>
          <p:nvPr/>
        </p:nvSpPr>
        <p:spPr>
          <a:xfrm>
            <a:off x="609600" y="2946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inbox already carries four desk codes (AFEMY 35, AIE 30, AFRT 29, AFPTME 22 emails). Sentinel sits beside the desk's existing check until the measures below have held for a full cycle of its carriers.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AAD3784-CD8C-E73B-1625-194C9ECE5F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259051"/>
              </p:ext>
            </p:extLst>
          </p:nvPr>
        </p:nvGraphicFramePr>
        <p:xfrm>
          <a:off x="609600" y="3683000"/>
          <a:ext cx="6350000" cy="1905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415162259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13759151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199924233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Measure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Today (graded inbox)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The pilot watches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5423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Escalation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20 of 220 requests (9.1%), all correct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precision at 1.0 as unfamiliar templates grow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678648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False alarms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0 of 46 defects; 0 across 16 perturbation modes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weekly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92626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Reviewer minutes per escalation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not measured yet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pilot's first new measurement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205588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DD5AE3E-7485-7FE6-35CB-972C69FB3EBB}"/>
              </a:ext>
            </a:extLst>
          </p:cNvPr>
          <p:cNvSpPr/>
          <p:nvPr/>
        </p:nvSpPr>
        <p:spPr>
          <a:xfrm>
            <a:off x="7366000" y="1219200"/>
            <a:ext cx="4216400" cy="436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72DD2B-6904-FEC6-991A-D600661159FB}"/>
              </a:ext>
            </a:extLst>
          </p:cNvPr>
          <p:cNvSpPr txBox="1"/>
          <p:nvPr/>
        </p:nvSpPr>
        <p:spPr>
          <a:xfrm>
            <a:off x="7569200" y="1397000"/>
            <a:ext cx="381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Next, in order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C9E7BD2-7DAC-E8DA-303B-83B78E631E0F}"/>
              </a:ext>
            </a:extLst>
          </p:cNvPr>
          <p:cNvSpPr/>
          <p:nvPr/>
        </p:nvSpPr>
        <p:spPr>
          <a:xfrm>
            <a:off x="7569200" y="1854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379FDB-4825-4C63-15DB-DFFD6141B638}"/>
              </a:ext>
            </a:extLst>
          </p:cNvPr>
          <p:cNvSpPr txBox="1"/>
          <p:nvPr/>
        </p:nvSpPr>
        <p:spPr>
          <a:xfrm>
            <a:off x="8026400" y="18415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Per-desk rules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8B4E7E-0C81-4C8E-905F-0B0B1F180CCC}"/>
              </a:ext>
            </a:extLst>
          </p:cNvPr>
          <p:cNvSpPr txBox="1"/>
          <p:nvPr/>
        </p:nvSpPr>
        <p:spPr>
          <a:xfrm>
            <a:off x="8026400" y="21082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 label table and an escalation policy per desk, selected by the code the inbox already carries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3E4FE72-245A-7029-1621-C3FC2A00496F}"/>
              </a:ext>
            </a:extLst>
          </p:cNvPr>
          <p:cNvSpPr/>
          <p:nvPr/>
        </p:nvSpPr>
        <p:spPr>
          <a:xfrm>
            <a:off x="7569200" y="3022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39274F-859B-89CA-E981-525B0B112806}"/>
              </a:ext>
            </a:extLst>
          </p:cNvPr>
          <p:cNvSpPr txBox="1"/>
          <p:nvPr/>
        </p:nvSpPr>
        <p:spPr>
          <a:xfrm>
            <a:off x="8026400" y="30099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 b="1">
                <a:solidFill>
                  <a:srgbClr val="1F2430"/>
                </a:solidFill>
                <a:latin typeface="Calibri" panose="020F0502020204030204" pitchFamily="34" charset="0"/>
              </a:rPr>
              <a:t>Corrections feed the label table</a:t>
            </a:r>
            <a:endParaRPr lang="en-MY" sz="13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EF6F5D-2A52-6EEF-87BB-C89164CAB1B1}"/>
              </a:ext>
            </a:extLst>
          </p:cNvPr>
          <p:cNvSpPr txBox="1"/>
          <p:nvPr/>
        </p:nvSpPr>
        <p:spPr>
          <a:xfrm>
            <a:off x="8026400" y="32766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confirmed correction is a labelled example of wording we could not read - the one place this system should learn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C4AB10C-676E-8543-00AF-F111C5D7EF3F}"/>
              </a:ext>
            </a:extLst>
          </p:cNvPr>
          <p:cNvSpPr/>
          <p:nvPr/>
        </p:nvSpPr>
        <p:spPr>
          <a:xfrm>
            <a:off x="7569200" y="4191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A67589-3FF5-5FB0-B389-E299FDCB5DFA}"/>
              </a:ext>
            </a:extLst>
          </p:cNvPr>
          <p:cNvSpPr txBox="1"/>
          <p:nvPr/>
        </p:nvSpPr>
        <p:spPr>
          <a:xfrm>
            <a:off x="8026400" y="41783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The database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5290EE-B362-CD2F-794A-5C18E1D36B6E}"/>
              </a:ext>
            </a:extLst>
          </p:cNvPr>
          <p:cNvSpPr txBox="1"/>
          <p:nvPr/>
        </p:nvSpPr>
        <p:spPr>
          <a:xfrm>
            <a:off x="8026400" y="44450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one file; the demo does not need it yet, a pilot will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9025DA-FC0B-AAF1-B955-7410E0AB95DA}"/>
              </a:ext>
            </a:extLst>
          </p:cNvPr>
          <p:cNvSpPr txBox="1"/>
          <p:nvPr/>
        </p:nvSpPr>
        <p:spPr>
          <a:xfrm>
            <a:off x="609600" y="5740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Cheap because the model is aimed, not because it is absent.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1E6289-F853-5D8B-0D3D-56F270878E4A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7 · IMPACT &amp;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1732380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225ABB-F83B-7C1B-9319-97F9C972F146}"/>
              </a:ext>
            </a:extLst>
          </p:cNvPr>
          <p:cNvSpPr txBox="1"/>
          <p:nvPr/>
        </p:nvSpPr>
        <p:spPr>
          <a:xfrm>
            <a:off x="609600" y="2540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36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59134A-766F-CC39-5370-E1D4761D6BE5}"/>
              </a:ext>
            </a:extLst>
          </p:cNvPr>
          <p:cNvSpPr txBox="1"/>
          <p:nvPr/>
        </p:nvSpPr>
        <p:spPr>
          <a:xfrm>
            <a:off x="609600" y="340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800">
                <a:solidFill>
                  <a:srgbClr val="D9A441"/>
                </a:solidFill>
                <a:latin typeface="Cambria" panose="02040503050406030204" pitchFamily="18" charset="0"/>
              </a:rPr>
              <a:t>Sentinel, by DuoCode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2F9563-F324-610B-1360-28668B9BE730}"/>
              </a:ext>
            </a:extLst>
          </p:cNvPr>
          <p:cNvSpPr txBox="1"/>
          <p:nvPr/>
        </p:nvSpPr>
        <p:spPr>
          <a:xfrm>
            <a:off x="609600" y="3937000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300">
                <a:solidFill>
                  <a:srgbClr val="E2E5EC"/>
                </a:solidFill>
                <a:latin typeface="Calibri" panose="020F0502020204030204" pitchFamily="34" charset="0"/>
              </a:rPr>
              <a:t>github.com/TCF1209/duocode-sentinel  ·  duocode-sentinel.vercel.app</a:t>
            </a:r>
          </a:p>
        </p:txBody>
      </p:sp>
    </p:spTree>
    <p:extLst>
      <p:ext uri="{BB962C8B-B14F-4D97-AF65-F5344CB8AC3E}">
        <p14:creationId xmlns:p14="http://schemas.microsoft.com/office/powerpoint/2010/main" val="2554288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2808</Words>
  <Application>Microsoft Office PowerPoint</Application>
  <PresentationFormat>Custom</PresentationFormat>
  <Paragraphs>176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LIM YEE TENG</dc:creator>
  <cp:lastModifiedBy>LIM YEE TENG</cp:lastModifiedBy>
  <cp:revision>1</cp:revision>
  <dcterms:created xsi:type="dcterms:W3CDTF">2026-09-24T15:54:49Z</dcterms:created>
  <dcterms:modified xsi:type="dcterms:W3CDTF">2026-09-24T15:54:49Z</dcterms:modified>
</cp:coreProperties>
</file>