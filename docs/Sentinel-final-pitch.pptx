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2EEB48-D76A-4F0B-A911-28B67C8066E0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9A505-9FD4-4536-B0A5-E8F96FD98A8B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98754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We're DuoCode. Sentinel is built on one rule: it never reports anything it cannot prove. Everything in the next five minutes is evidence for that sentence. (0:00-0:15)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05620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we built it: a shipping desk gets five kinds of mail in one inbox, and for every document check a person compares the Shipping Instruction against the draft Bill of Lading - seven fields, by hand. At a conservative estimate that is about four minutes a pair and twenty seconds to triage each email; this inbox alone is a day and a half of desk work. Miss one field and it's a correction, a delay, rework. And there's a fourth case the statement names: sometimes the check can't be done - an unreadable scan, a blank field, the wrong document. That has to reach a person with the reason, not be guessed at. Sentinel does all four. (0:15-0:40)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725557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whole inbox, live on Render and Vercel - not a sample, the organisers' 520 emails. Every email classified, every document pair compared, every case Sentinel can't decide sent to a person with the reason attached. Thirteen seconds. And this is how a desk uses it, four steps: run the inbox, open a flagged case, confirm it or correct one field or re-upload the corrected document, send the drafted reply. Do not say the accuracy here - that is slide 6. (0:40-1:05)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23625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Six stages, one direction. Two choices carry the design. Values are compared exactly after canonicalising, never by similarity - a threshold loose enough to forgive a scan artefact also merges two real companies, and the data has those. And the gate after the comparison can overrule it: a value we cannot find again in the document it was read from is never reported as a discrepancy - it becomes a question for a person. The pipeline is a stateless library with no web or database in it, which is also the scaling story: throughput is more copies of it; the state sits behind one class in one file. (1:05-1:40)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29578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Never say 'we use less AI'. Say: the AI is reserved for the cases the rules cannot handle - and the system performs just as well. A judge in the first round said we use AI less than most teams. True, and measured. On this inbox the rules answer all 520 and the scoring is all-or-nothing per email, so a model that is almost always right costs places. The model goes only where the rules admit they can't read: an ambiguous email, a label we've never seen, a scanned page. On documents with wording we invented, rules alone send 168 of 188 cases to a human; with the model, two - and false discrepancies stay at zero, because nothing the model says is adopted until we find it again in the source. You'll see both in the demo: a scan read out for the reviewer, and four unknown labels read on request. (1:40-2:20)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45995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perfect score on the dataset you were handed proves you didn't memorise it. It doesn't prove the reader works. So we attacked our own reader - three thousand perturbed documents, sixteen kinds of damage, no answer key. Thirteen of sixteen don't move. OCR noise used to produce 982 silently wrong values; it produces zero now, because a damaged number is refused instead of parsed short. Then we fed it a real carrier's template from outside the generator, and it found a bug we fixed the same day. And the one we haven't fixed is on the slide, because a defect we hide is worse than one we miss. (2:20-2:55)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966327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mismatch case: 'Under every value - the line it was read from. A reviewer never has to open the source document to trust this.' At the scan: 'No text layer, so Sentinel did not decide. But the model read the page for the reviewer - seven fields, and it says which ones it couldn't read rather than guessing. The case stays in review; the person decides, per field.' At Compare, off: 'wording our table has never seen - the honest answer is can't read it, and it says which labels.' On: 'the model reads them, every value re-located in the document before it's adopted, and it surfaces the real discrepancy - badge says model answered.' (2:55-4:25)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158376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At the top-ten stage everyone meets the brief, so this is the slide to slow down on - thirty seconds. Five things the others mostly don't have: the sender re-sends a fixed document and you re-upload it on the case, the check runs again and the old answer stays on record; a scan still goes to a person but already read out by the model; correcting a field shows this shipper's history on that field; the original document is one click away from every value; and the reply is drafted from what the reviewer decided, not the stale answer. (4:10-4:40)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522377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520 emails and 124 document pairs is, at a conservative estimate, about eleven hours of desk work. Sentinel does it in thirteen seconds and every decision on that inbox was a rule, so it costs nothing to run - cheap because the model is aimed, not because it's absent. The first deployment is one desk, with three numbers we'd watch; two of them we can already show you and the third is what the pilot is for. Say 'at a conservative estimate' aloud, always. (4:40-4:58)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134194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Sentinel, by DuoCode. Every answer comes with its evidence. Thank you. (4:58-5:00)</a:t>
            </a:r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9A505-9FD4-4536-B0A5-E8F96FD98A8B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99060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7D5D7-2E62-0B2E-042B-9DE1DB28E6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AA784F-6487-6A71-9BFF-4393FB20E0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58B7F-9A58-69C4-0E82-CC879897E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2ED1C-3E39-5280-E2C7-56ECD7B56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EFF88A-3B27-BBAC-2A3E-63138C911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140653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B89A9-403D-1A84-8FA8-9EF69BA55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AEB6B2-6572-84E2-220D-8A61275D0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66C4D-4EE1-3E2A-3DA3-A8477A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1363DD-FF5E-72A5-86C3-EE1000D24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DA0B7-680B-6CE2-1DF3-1DC9AC796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297769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30508-E82E-9084-39AC-8759F3EF5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1CB667-1674-0F09-0534-92C008A159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C6E793-8BE1-FFF1-F13D-ED3E382E5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4D396-E554-AA1F-ED80-F798F442E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C7AF9-02DD-BF72-C4A4-4B17BAB49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40715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B751A-6343-D60C-34C9-EE1BC02A5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77CDB-BCEF-D672-634E-AD323BB7BD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D465EA-5623-ED21-3B7C-69FF84B79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727508-9EB9-C7FB-ABA6-C5E44CCEF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C1D64D-9261-1CF9-C200-BA94C3935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84FFF8-F8D0-01DA-9279-AC77D6587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89627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23CD1-FAA5-D6FB-26CB-66532367E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6CF641-0728-00E8-0D0B-6DBA5B110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4F0887-8673-60CF-C243-3440B35C9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7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E5BA1F-03B0-7924-6112-CB16CDCA5E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E5288D-FC66-0104-A8FD-4A533BDEA2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7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D50269-9C0B-D678-D136-2F82A8FE3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9FCC72-DD8F-F2EE-70D7-0E3A8DB30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3904BF-0A78-33B4-B49C-21D434854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025041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1D2EA-438A-93F9-2D91-95641AAA2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B09537-3DF7-7B86-9A5E-7063DDC0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31D48E-6C60-6C9C-4299-0AC453A96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F692E5-ACAC-0013-6B85-7F4D17F7C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12375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DF73BE-18A8-041F-344D-32D3C692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3B6468-8FD7-C087-480A-B9C6E43C0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35A87-960A-330E-2FF8-A12EB4E67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26848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5D647-DEB4-0C91-252E-487373853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F574DF-9B65-D023-DC35-914DD4E49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A21A5F-8683-C984-AE45-A94CD24428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4345B0-0489-8D8F-52F9-1C90F5CD9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9D7F4C-FFBE-7324-AE82-41EF1B16C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F77ABD-52E9-BEDA-40B4-0DCC04EC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37381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E82F-4245-0C46-3F1B-BE58113F5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7EFC82-8034-2584-01E1-6726F8B1E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MY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A401B4-16AC-98DD-9789-DBD3920FC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2"/>
            <a:ext cx="393223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BA10CB-8164-C7EB-4DA7-EF7FC262A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EB6BD9-4E31-F73D-2FA8-7211A394D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1E74BF-77A0-0972-CCFC-00E7FA696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54144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D5711-E889-CAED-1A32-E19154AD0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DE4F0-BCF9-F277-889D-AF18523671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3D029-6AFD-8164-9777-678516B27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49B82-5E74-4E0F-66CD-98242DF43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F7CF31-712B-6A01-66E3-1308EE5D1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09397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54BE30-AF0D-3C4A-EE9F-686EEBDD0B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7"/>
            <a:ext cx="2628900" cy="581183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DAF64-F0A3-EEAB-715C-9E8EC6600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7"/>
            <a:ext cx="7734300" cy="581183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6317D-1622-E153-7929-6B7B02F47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C305F-18FE-62F5-E5D7-6FF00D2B6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FD7ED-17D8-3110-6641-8F03AC8B8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7735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7F31C-07EE-7F85-9907-974AB939F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30AAC-7A60-3B63-2F8A-12C3E8C5E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356B-A5D5-99CA-B909-9859D5311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728AF7-151B-41DA-8187-545C3068964B}" type="datetimeFigureOut">
              <a:rPr lang="en-MY" smtClean="0"/>
              <a:t>25/9/2026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A543B-2B55-E124-EDC2-E779F73605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76DCCA-E041-72E4-D339-A039E356B1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CA58A0-11E7-4277-A1A1-0F6207FCBDA4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7215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12030B-DEF6-B366-D679-99E47DE6051B}"/>
              </a:ext>
            </a:extLst>
          </p:cNvPr>
          <p:cNvSpPr txBox="1"/>
          <p:nvPr/>
        </p:nvSpPr>
        <p:spPr>
          <a:xfrm>
            <a:off x="609600" y="1905000"/>
            <a:ext cx="762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6000" b="1">
                <a:solidFill>
                  <a:srgbClr val="D9A441"/>
                </a:solidFill>
                <a:latin typeface="Cambria" panose="02040503050406030204" pitchFamily="18" charset="0"/>
              </a:rPr>
              <a:t>Sentinel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0C1EDB-B7FF-0413-8D9F-C16C942FC594}"/>
              </a:ext>
            </a:extLst>
          </p:cNvPr>
          <p:cNvSpPr txBox="1"/>
          <p:nvPr/>
        </p:nvSpPr>
        <p:spPr>
          <a:xfrm>
            <a:off x="609600" y="2921000"/>
            <a:ext cx="889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280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BFF565-FB81-0364-7635-87E4452EE2A6}"/>
              </a:ext>
            </a:extLst>
          </p:cNvPr>
          <p:cNvSpPr txBox="1"/>
          <p:nvPr/>
        </p:nvSpPr>
        <p:spPr>
          <a:xfrm>
            <a:off x="609600" y="3683000"/>
            <a:ext cx="787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600">
                <a:solidFill>
                  <a:srgbClr val="E2E5EC"/>
                </a:solidFill>
                <a:latin typeface="Calibri" panose="020F0502020204030204" pitchFamily="34" charset="0"/>
              </a:rPr>
              <a:t>A document checker that is confidently wrong is worse than no checker at all - because nobody goes back and looks.</a:t>
            </a:r>
            <a:endParaRPr lang="en-MY" sz="16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7FC9AB-507C-95BB-EEFF-2A832BED6250}"/>
              </a:ext>
            </a:extLst>
          </p:cNvPr>
          <p:cNvSpPr txBox="1"/>
          <p:nvPr/>
        </p:nvSpPr>
        <p:spPr>
          <a:xfrm>
            <a:off x="609600" y="56388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E2E5EC"/>
                </a:solidFill>
                <a:latin typeface="Calibri" panose="020F0502020204030204" pitchFamily="34" charset="0"/>
              </a:rPr>
              <a:t>DuoCode  ·  Tang Chye Fong  ·  Lim Yee Teng  ·  Asia Pacific University</a:t>
            </a:r>
            <a:endParaRPr lang="en-MY" sz="13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FA56DB-1A8C-93FC-9316-F883291A5E5A}"/>
              </a:ext>
            </a:extLst>
          </p:cNvPr>
          <p:cNvSpPr txBox="1"/>
          <p:nvPr/>
        </p:nvSpPr>
        <p:spPr>
          <a:xfrm>
            <a:off x="609600" y="5969000"/>
            <a:ext cx="812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D9A441"/>
                </a:solidFill>
                <a:latin typeface="Calibri" panose="020F0502020204030204" pitchFamily="34" charset="0"/>
              </a:rPr>
              <a:t>duocode-sentinel.vercel.app  ·  github.com/TCF1209/duocode-sentinel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0E2D9-7C24-D8F2-B0EF-E4D395F890C3}"/>
              </a:ext>
            </a:extLst>
          </p:cNvPr>
          <p:cNvSpPr txBox="1"/>
          <p:nvPr/>
        </p:nvSpPr>
        <p:spPr>
          <a:xfrm>
            <a:off x="7518400" y="5969000"/>
            <a:ext cx="406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E2E5EC"/>
                </a:solidFill>
                <a:latin typeface="Calibri" panose="020F0502020204030204" pitchFamily="34" charset="0"/>
              </a:rPr>
              <a:t>Averis x Monash Hackathon 2026 · Final Round</a:t>
            </a:r>
            <a:endParaRPr lang="en-MY" sz="12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6442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7D65C0-698E-92CA-052B-9518BDABB3C8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The problem - and the fourth case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3C9C682-1327-76E8-4AAB-D6608E32BAAD}"/>
              </a:ext>
            </a:extLst>
          </p:cNvPr>
          <p:cNvSpPr/>
          <p:nvPr/>
        </p:nvSpPr>
        <p:spPr>
          <a:xfrm>
            <a:off x="609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DDFC3E4-4ABD-8B61-E575-CA0CCFC25B17}"/>
              </a:ext>
            </a:extLst>
          </p:cNvPr>
          <p:cNvSpPr/>
          <p:nvPr/>
        </p:nvSpPr>
        <p:spPr>
          <a:xfrm>
            <a:off x="787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6E10EA-5843-35AB-A529-3BF5492439CB}"/>
              </a:ext>
            </a:extLst>
          </p:cNvPr>
          <p:cNvSpPr txBox="1"/>
          <p:nvPr/>
        </p:nvSpPr>
        <p:spPr>
          <a:xfrm>
            <a:off x="1270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Classify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3C2AEA-59C0-3A91-B89F-F35EBF182E14}"/>
              </a:ext>
            </a:extLst>
          </p:cNvPr>
          <p:cNvSpPr txBox="1"/>
          <p:nvPr/>
        </p:nvSpPr>
        <p:spPr>
          <a:xfrm>
            <a:off x="787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Tell message types apart: comparison requests, new SI requests, invoice queries, general mail, spam.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3167F5-45BC-C832-371F-CEEE87AA64F0}"/>
              </a:ext>
            </a:extLst>
          </p:cNvPr>
          <p:cNvSpPr/>
          <p:nvPr/>
        </p:nvSpPr>
        <p:spPr>
          <a:xfrm>
            <a:off x="3403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189B305-5032-4679-363C-59FD368A56FB}"/>
              </a:ext>
            </a:extLst>
          </p:cNvPr>
          <p:cNvSpPr/>
          <p:nvPr/>
        </p:nvSpPr>
        <p:spPr>
          <a:xfrm>
            <a:off x="3581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AB0024-9038-FBB4-90FF-29DB3D8AD400}"/>
              </a:ext>
            </a:extLst>
          </p:cNvPr>
          <p:cNvSpPr txBox="1"/>
          <p:nvPr/>
        </p:nvSpPr>
        <p:spPr>
          <a:xfrm>
            <a:off x="4064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Extract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1AFCBF-9B7F-1F5D-3342-CE6A9ED382EB}"/>
              </a:ext>
            </a:extLst>
          </p:cNvPr>
          <p:cNvSpPr txBox="1"/>
          <p:nvPr/>
        </p:nvSpPr>
        <p:spPr>
          <a:xfrm>
            <a:off x="3581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comparison requests, read the SI and BL attachments and pull the matching shipment fields.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9A2B72A-4E8C-30E8-73A9-08EA4CE730A8}"/>
              </a:ext>
            </a:extLst>
          </p:cNvPr>
          <p:cNvSpPr/>
          <p:nvPr/>
        </p:nvSpPr>
        <p:spPr>
          <a:xfrm>
            <a:off x="6197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5A03BD7-CB24-6C2C-0B71-7F42985EB686}"/>
              </a:ext>
            </a:extLst>
          </p:cNvPr>
          <p:cNvSpPr/>
          <p:nvPr/>
        </p:nvSpPr>
        <p:spPr>
          <a:xfrm>
            <a:off x="6375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2F89F5-3A58-AB56-D14E-D9603B3ED5D8}"/>
              </a:ext>
            </a:extLst>
          </p:cNvPr>
          <p:cNvSpPr txBox="1"/>
          <p:nvPr/>
        </p:nvSpPr>
        <p:spPr>
          <a:xfrm>
            <a:off x="6858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Compare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581A7C-7686-E00B-3B72-2DD64DDAC20D}"/>
              </a:ext>
            </a:extLst>
          </p:cNvPr>
          <p:cNvSpPr txBox="1"/>
          <p:nvPr/>
        </p:nvSpPr>
        <p:spPr>
          <a:xfrm>
            <a:off x="6375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Surface any mismatched fields, showing the SI and BL values side by side.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1B0776E-2313-0A39-F15F-EA93D85F7740}"/>
              </a:ext>
            </a:extLst>
          </p:cNvPr>
          <p:cNvSpPr/>
          <p:nvPr/>
        </p:nvSpPr>
        <p:spPr>
          <a:xfrm>
            <a:off x="8991600" y="1320800"/>
            <a:ext cx="25908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9FBD91A-3059-CC9A-9B97-F7EAFF60B97D}"/>
              </a:ext>
            </a:extLst>
          </p:cNvPr>
          <p:cNvSpPr/>
          <p:nvPr/>
        </p:nvSpPr>
        <p:spPr>
          <a:xfrm>
            <a:off x="9169400" y="1498600"/>
            <a:ext cx="381000" cy="3810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04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C2087B-47FE-C68C-BFAB-BBD5B070B01D}"/>
              </a:ext>
            </a:extLst>
          </p:cNvPr>
          <p:cNvSpPr txBox="1"/>
          <p:nvPr/>
        </p:nvSpPr>
        <p:spPr>
          <a:xfrm>
            <a:off x="9652000" y="1549400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600" b="1">
                <a:solidFill>
                  <a:srgbClr val="1F2430"/>
                </a:solidFill>
                <a:latin typeface="Calibri" panose="020F0502020204030204" pitchFamily="34" charset="0"/>
              </a:rPr>
              <a:t>Ask for help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602246-6061-FBB4-35D7-977701709FBF}"/>
              </a:ext>
            </a:extLst>
          </p:cNvPr>
          <p:cNvSpPr txBox="1"/>
          <p:nvPr/>
        </p:nvSpPr>
        <p:spPr>
          <a:xfrm>
            <a:off x="9169400" y="2006600"/>
            <a:ext cx="2235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When it can't finish on its own, escalate to a person with full context instead of guessing or failing silently.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077379-4A82-A2D1-A5F7-212426B663F5}"/>
              </a:ext>
            </a:extLst>
          </p:cNvPr>
          <p:cNvSpPr txBox="1"/>
          <p:nvPr/>
        </p:nvSpPr>
        <p:spPr>
          <a:xfrm>
            <a:off x="609600" y="3378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Why we built it: today a documentation clerk does this by hand - about 4 minutes per SI/BL pair and 20 seconds to triage each email (a conservative estimate, not a measurement) - and a missed field becomes a correction, a delay, rework.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9D0BC0-252B-2E22-6CF5-9908FC34E0AE}"/>
              </a:ext>
            </a:extLst>
          </p:cNvPr>
          <p:cNvSpPr txBox="1"/>
          <p:nvPr/>
        </p:nvSpPr>
        <p:spPr>
          <a:xfrm>
            <a:off x="6096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Finding the right emails takes time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5E7FDD-7963-4185-0467-CC004DD1742A}"/>
              </a:ext>
            </a:extLst>
          </p:cNvPr>
          <p:cNvSpPr txBox="1"/>
          <p:nvPr/>
        </p:nvSpPr>
        <p:spPr>
          <a:xfrm>
            <a:off x="6096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A document request that is overlooked never reaches the checking step.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655DF2-A9B6-17E0-A41F-2C9F1D13FD38}"/>
              </a:ext>
            </a:extLst>
          </p:cNvPr>
          <p:cNvSpPr txBox="1"/>
          <p:nvPr/>
        </p:nvSpPr>
        <p:spPr>
          <a:xfrm>
            <a:off x="43307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Manual comparison is easy to get wrong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D2F1BA-12CD-F949-B848-47ACE4C3E04B}"/>
              </a:ext>
            </a:extLst>
          </p:cNvPr>
          <p:cNvSpPr txBox="1"/>
          <p:nvPr/>
        </p:nvSpPr>
        <p:spPr>
          <a:xfrm>
            <a:off x="43307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Names, ports, quantities and weight across two documents; a missed discrepancy is a correction, a delay, rework.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AF54401-7154-727D-AC9C-D5DED18E94C3}"/>
              </a:ext>
            </a:extLst>
          </p:cNvPr>
          <p:cNvSpPr txBox="1"/>
          <p:nvPr/>
        </p:nvSpPr>
        <p:spPr>
          <a:xfrm>
            <a:off x="8051800" y="38862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The same fact looks different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B389D8-E086-5500-E44E-6C3CDC428E7E}"/>
              </a:ext>
            </a:extLst>
          </p:cNvPr>
          <p:cNvSpPr txBox="1"/>
          <p:nvPr/>
        </p:nvSpPr>
        <p:spPr>
          <a:xfrm>
            <a:off x="8051800" y="4419600"/>
            <a:ext cx="35179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One document says 'Port of Loading', the other 'Load Port' - the system has to know they are the same field.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98EDABD5-9D2D-CE2C-B367-E8D9D01A4D22}"/>
              </a:ext>
            </a:extLst>
          </p:cNvPr>
          <p:cNvSpPr/>
          <p:nvPr/>
        </p:nvSpPr>
        <p:spPr>
          <a:xfrm>
            <a:off x="609600" y="5537200"/>
            <a:ext cx="10972800" cy="558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553718-392D-A359-ACEF-A3F95B7EECFD}"/>
              </a:ext>
            </a:extLst>
          </p:cNvPr>
          <p:cNvSpPr txBox="1"/>
          <p:nvPr/>
        </p:nvSpPr>
        <p:spPr>
          <a:xfrm>
            <a:off x="812800" y="56261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The fourth case: sometimes the check cannot be done at all - an unreadable scan, a blank field, the wrong document. That has to reach a person with the reason attached, not be guessed at. Sentinel does all four.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62E463-30E3-7617-59B8-EFFA671470DA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5 · SOLUTION EFFECTIVENESS &amp; USER VALUE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5465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C20A8E-3934-5ED5-AACF-D80379EC6078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What it does, end to end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4275F3-E2D6-15A0-C521-45E9FDC2E6D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270000"/>
            <a:ext cx="6858000" cy="428625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ABE30E-1992-4163-B9DC-D555B1D55D31}"/>
              </a:ext>
            </a:extLst>
          </p:cNvPr>
          <p:cNvSpPr txBox="1"/>
          <p:nvPr/>
        </p:nvSpPr>
        <p:spPr>
          <a:xfrm>
            <a:off x="7874000" y="12700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520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0D1569-4E4B-9EBE-D28E-33D991285844}"/>
              </a:ext>
            </a:extLst>
          </p:cNvPr>
          <p:cNvSpPr txBox="1"/>
          <p:nvPr/>
        </p:nvSpPr>
        <p:spPr>
          <a:xfrm>
            <a:off x="7874000" y="18542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200">
                <a:solidFill>
                  <a:srgbClr val="1F2430"/>
                </a:solidFill>
                <a:latin typeface="Calibri" panose="020F0502020204030204" pitchFamily="34" charset="0"/>
              </a:rPr>
              <a:t>emails, classified and routed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2EF1B9-77D2-C6BD-DCE0-995ABEBECF0A}"/>
              </a:ext>
            </a:extLst>
          </p:cNvPr>
          <p:cNvSpPr txBox="1"/>
          <p:nvPr/>
        </p:nvSpPr>
        <p:spPr>
          <a:xfrm>
            <a:off x="7874000" y="24384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46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4F280-1728-955B-C346-EED9CAFEA778}"/>
              </a:ext>
            </a:extLst>
          </p:cNvPr>
          <p:cNvSpPr txBox="1"/>
          <p:nvPr/>
        </p:nvSpPr>
        <p:spPr>
          <a:xfrm>
            <a:off x="7874000" y="30226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mismatches, with the fields that differ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C51512-300F-8410-C273-84E452CC5814}"/>
              </a:ext>
            </a:extLst>
          </p:cNvPr>
          <p:cNvSpPr txBox="1"/>
          <p:nvPr/>
        </p:nvSpPr>
        <p:spPr>
          <a:xfrm>
            <a:off x="7874000" y="36068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8CD486-5060-0882-92C6-67DE6878BA45}"/>
              </a:ext>
            </a:extLst>
          </p:cNvPr>
          <p:cNvSpPr txBox="1"/>
          <p:nvPr/>
        </p:nvSpPr>
        <p:spPr>
          <a:xfrm>
            <a:off x="7874000" y="41910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sent to a person - with the reason and what to do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05F32-095F-9B50-2F69-D39B61B81206}"/>
              </a:ext>
            </a:extLst>
          </p:cNvPr>
          <p:cNvSpPr txBox="1"/>
          <p:nvPr/>
        </p:nvSpPr>
        <p:spPr>
          <a:xfrm>
            <a:off x="7874000" y="4775200"/>
            <a:ext cx="381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12.7 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218D8C-8799-DE95-7590-ACFA0A493E99}"/>
              </a:ext>
            </a:extLst>
          </p:cNvPr>
          <p:cNvSpPr txBox="1"/>
          <p:nvPr/>
        </p:nvSpPr>
        <p:spPr>
          <a:xfrm>
            <a:off x="7874000" y="5359400"/>
            <a:ext cx="3708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for the whole inbox, on a free-tier container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7D4974-F4CD-BC77-9F98-9CFC285C0D28}"/>
              </a:ext>
            </a:extLst>
          </p:cNvPr>
          <p:cNvSpPr txBox="1"/>
          <p:nvPr/>
        </p:nvSpPr>
        <p:spPr>
          <a:xfrm>
            <a:off x="609600" y="5715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How a desk uses it:   1  Run the inbox   ·   2  Open a flagged case   ·   3  Agree with it, correct a single field, or re-upload the corrected document   ·   4  Send the drafted reply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15D491-89FF-5A12-7013-8A7E69A4A545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1 · END-TO-END FUNCTIONALITY</a:t>
            </a:r>
          </a:p>
        </p:txBody>
      </p:sp>
    </p:spTree>
    <p:extLst>
      <p:ext uri="{BB962C8B-B14F-4D97-AF65-F5344CB8AC3E}">
        <p14:creationId xmlns:p14="http://schemas.microsoft.com/office/powerpoint/2010/main" val="5550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5E8092-E697-5349-D59A-172FE9B7F8FF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How it decides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42ED012-5C6A-DB45-3E46-6E2F1F643E43}"/>
              </a:ext>
            </a:extLst>
          </p:cNvPr>
          <p:cNvSpPr/>
          <p:nvPr/>
        </p:nvSpPr>
        <p:spPr>
          <a:xfrm>
            <a:off x="711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Classify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ED9E4E7-A829-2EDB-6D0C-85F6D7055899}"/>
              </a:ext>
            </a:extLst>
          </p:cNvPr>
          <p:cNvCxnSpPr/>
          <p:nvPr/>
        </p:nvCxnSpPr>
        <p:spPr>
          <a:xfrm>
            <a:off x="22987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0B697F3-C97B-53F1-F667-F0882F2EB1D8}"/>
              </a:ext>
            </a:extLst>
          </p:cNvPr>
          <p:cNvSpPr/>
          <p:nvPr/>
        </p:nvSpPr>
        <p:spPr>
          <a:xfrm>
            <a:off x="25400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Intake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98A341D-B37E-DD23-0AE7-740E42127F7B}"/>
              </a:ext>
            </a:extLst>
          </p:cNvPr>
          <p:cNvCxnSpPr/>
          <p:nvPr/>
        </p:nvCxnSpPr>
        <p:spPr>
          <a:xfrm>
            <a:off x="41275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1F1896-06BB-A751-CF03-96BF4B3878F9}"/>
              </a:ext>
            </a:extLst>
          </p:cNvPr>
          <p:cNvSpPr/>
          <p:nvPr/>
        </p:nvSpPr>
        <p:spPr>
          <a:xfrm>
            <a:off x="43688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Extract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6C811D4-374D-B459-C6E8-05C3C7C49DA7}"/>
              </a:ext>
            </a:extLst>
          </p:cNvPr>
          <p:cNvCxnSpPr/>
          <p:nvPr/>
        </p:nvCxnSpPr>
        <p:spPr>
          <a:xfrm>
            <a:off x="59563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3970952-1F57-FB62-14E0-01147885E29F}"/>
              </a:ext>
            </a:extLst>
          </p:cNvPr>
          <p:cNvSpPr/>
          <p:nvPr/>
        </p:nvSpPr>
        <p:spPr>
          <a:xfrm>
            <a:off x="61976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Compare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88CB5F-620B-A3E2-952F-20CED99C4E41}"/>
              </a:ext>
            </a:extLst>
          </p:cNvPr>
          <p:cNvCxnSpPr/>
          <p:nvPr/>
        </p:nvCxnSpPr>
        <p:spPr>
          <a:xfrm>
            <a:off x="77851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6847E0B-2C08-B037-EE93-0BDC1829C66E}"/>
              </a:ext>
            </a:extLst>
          </p:cNvPr>
          <p:cNvSpPr/>
          <p:nvPr/>
        </p:nvSpPr>
        <p:spPr>
          <a:xfrm>
            <a:off x="80264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5C51136-06D0-E3EF-1262-E782D9A0AE8B}"/>
              </a:ext>
            </a:extLst>
          </p:cNvPr>
          <p:cNvCxnSpPr/>
          <p:nvPr/>
        </p:nvCxnSpPr>
        <p:spPr>
          <a:xfrm>
            <a:off x="9613900" y="1841500"/>
            <a:ext cx="203200" cy="0"/>
          </a:xfrm>
          <a:prstGeom prst="line">
            <a:avLst/>
          </a:prstGeom>
          <a:ln w="19050">
            <a:solidFill>
              <a:srgbClr val="3B4A6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19499C-9B5F-AB51-91BA-0F46D4922284}"/>
              </a:ext>
            </a:extLst>
          </p:cNvPr>
          <p:cNvSpPr/>
          <p:nvPr/>
        </p:nvSpPr>
        <p:spPr>
          <a:xfrm>
            <a:off x="9855200" y="1498600"/>
            <a:ext cx="1549400" cy="685800"/>
          </a:xfrm>
          <a:prstGeom prst="roundRect">
            <a:avLst>
              <a:gd name="adj" fmla="val 1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sz="1500" b="1">
                <a:solidFill>
                  <a:srgbClr val="1F2430"/>
                </a:solidFill>
                <a:latin typeface="Cambria" panose="02040503050406030204" pitchFamily="18" charset="0"/>
              </a:rPr>
              <a:t>Decide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50752F7-7DFF-74EB-625E-439CFE6DC98C}"/>
              </a:ext>
            </a:extLst>
          </p:cNvPr>
          <p:cNvCxnSpPr/>
          <p:nvPr/>
        </p:nvCxnSpPr>
        <p:spPr>
          <a:xfrm flipH="1">
            <a:off x="6972300" y="1422400"/>
            <a:ext cx="1828800" cy="0"/>
          </a:xfrm>
          <a:prstGeom prst="line">
            <a:avLst/>
          </a:prstGeom>
          <a:ln w="19050">
            <a:solidFill>
              <a:srgbClr val="9C6C18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E71104E-F024-6901-14DD-EE942B765AC2}"/>
              </a:ext>
            </a:extLst>
          </p:cNvPr>
          <p:cNvSpPr txBox="1"/>
          <p:nvPr/>
        </p:nvSpPr>
        <p:spPr>
          <a:xfrm>
            <a:off x="6324600" y="11176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000">
                <a:solidFill>
                  <a:srgbClr val="9C6C18"/>
                </a:solidFill>
                <a:latin typeface="Calibri" panose="020F0502020204030204" pitchFamily="34" charset="0"/>
              </a:rPr>
              <a:t>can veto the comparison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1ED6F0-EB88-0717-9008-CAF0052C4485}"/>
              </a:ext>
            </a:extLst>
          </p:cNvPr>
          <p:cNvSpPr txBox="1"/>
          <p:nvPr/>
        </p:nvSpPr>
        <p:spPr>
          <a:xfrm>
            <a:off x="609600" y="2413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Six stages, one direction. The gate runs after the comparison: a value we cannot find again in the document it was read from is never reported as a discrepancy - it becomes a question for a person, with both readings attached.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681F1D9-91D3-774E-5D63-7135358D66AB}"/>
              </a:ext>
            </a:extLst>
          </p:cNvPr>
          <p:cNvSpPr/>
          <p:nvPr/>
        </p:nvSpPr>
        <p:spPr>
          <a:xfrm>
            <a:off x="6096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6F891A-8344-E549-A652-21E26A5A0F9B}"/>
              </a:ext>
            </a:extLst>
          </p:cNvPr>
          <p:cNvSpPr txBox="1"/>
          <p:nvPr/>
        </p:nvSpPr>
        <p:spPr>
          <a:xfrm>
            <a:off x="7874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Labels by meaning, values exactly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F1B7AC-DCF4-A659-AF21-06DF31403886}"/>
              </a:ext>
            </a:extLst>
          </p:cNvPr>
          <p:cNvSpPr txBox="1"/>
          <p:nvPr/>
        </p:nvSpPr>
        <p:spPr>
          <a:xfrm>
            <a:off x="7874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Never a similarity score. A threshold loose enough to forgive a scan artefact also merges two real companies - and this data has them.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98B59F0-C3C3-117B-51F9-48D2CCC7B4AC}"/>
              </a:ext>
            </a:extLst>
          </p:cNvPr>
          <p:cNvSpPr/>
          <p:nvPr/>
        </p:nvSpPr>
        <p:spPr>
          <a:xfrm>
            <a:off x="43307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15FD23-9230-657F-0A86-38C75D5A9090}"/>
              </a:ext>
            </a:extLst>
          </p:cNvPr>
          <p:cNvSpPr txBox="1"/>
          <p:nvPr/>
        </p:nvSpPr>
        <p:spPr>
          <a:xfrm>
            <a:off x="45085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Rules first, model second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8F991F-A24C-B425-D2CC-FEA3256C4D67}"/>
              </a:ext>
            </a:extLst>
          </p:cNvPr>
          <p:cNvSpPr txBox="1"/>
          <p:nvPr/>
        </p:nvSpPr>
        <p:spPr>
          <a:xfrm>
            <a:off x="45085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stage tries a deterministic answer before a model, and records which one answered (decided_by). The model is asked only where the rules admit they cannot read.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6922C99-F992-C5A1-7FB0-7020D2AFFCEE}"/>
              </a:ext>
            </a:extLst>
          </p:cNvPr>
          <p:cNvSpPr/>
          <p:nvPr/>
        </p:nvSpPr>
        <p:spPr>
          <a:xfrm>
            <a:off x="8051800" y="3098800"/>
            <a:ext cx="3517900" cy="2032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461BD7-FE9F-6A07-08DB-8F4755DB4979}"/>
              </a:ext>
            </a:extLst>
          </p:cNvPr>
          <p:cNvSpPr txBox="1"/>
          <p:nvPr/>
        </p:nvSpPr>
        <p:spPr>
          <a:xfrm>
            <a:off x="8229600" y="32766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400" b="1">
                <a:solidFill>
                  <a:srgbClr val="3B4A6B"/>
                </a:solidFill>
                <a:latin typeface="Calibri" panose="020F0502020204030204" pitchFamily="34" charset="0"/>
              </a:rPr>
              <a:t>One stateless pipeline library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E00E8B-D6CD-4817-29E0-A19040D85414}"/>
              </a:ext>
            </a:extLst>
          </p:cNvPr>
          <p:cNvSpPr txBox="1"/>
          <p:nvPr/>
        </p:nvSpPr>
        <p:spPr>
          <a:xfrm>
            <a:off x="8229600" y="3810000"/>
            <a:ext cx="31623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No web framework or database in backend/sdoc. The CLI, the API and the tests run the same code, so the thing scored is the thing demonstrated.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A91DA4-BC96-ED70-88F9-3C8CBB1B7B56}"/>
              </a:ext>
            </a:extLst>
          </p:cNvPr>
          <p:cNvSpPr txBox="1"/>
          <p:nvPr/>
        </p:nvSpPr>
        <p:spPr>
          <a:xfrm>
            <a:off x="609600" y="5308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Scaling, as built: state sits behind one class in one file (store.py) - Postgres is a one-file change · one worker on purpose · throughput is more copies of a stateless library · cost does not scale with volume on this inbox · per-desk rules slot into the existing stage boundaries.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19D7999-B80D-EBF4-0B87-EF4FDF3DA82A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2 · ARCHITECTURE &amp; SCALABILITY</a:t>
            </a:r>
          </a:p>
        </p:txBody>
      </p:sp>
    </p:spTree>
    <p:extLst>
      <p:ext uri="{BB962C8B-B14F-4D97-AF65-F5344CB8AC3E}">
        <p14:creationId xmlns:p14="http://schemas.microsoft.com/office/powerpoint/2010/main" val="121903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9DB62E-E284-A27D-C43A-0FCD48E2BE39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Where the AI is - and why it is aimed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0432FB6-2F0B-6006-1E6F-5764835602F7}"/>
              </a:ext>
            </a:extLst>
          </p:cNvPr>
          <p:cNvSpPr/>
          <p:nvPr/>
        </p:nvSpPr>
        <p:spPr>
          <a:xfrm>
            <a:off x="609600" y="13208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E886A9-6D30-2976-E5DD-A18F84DDC9AC}"/>
              </a:ext>
            </a:extLst>
          </p:cNvPr>
          <p:cNvSpPr txBox="1"/>
          <p:nvPr/>
        </p:nvSpPr>
        <p:spPr>
          <a:xfrm>
            <a:off x="1219200" y="12954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Classify - an email the rules cannot separate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F98729-FBEB-2994-0453-B534295A0C86}"/>
              </a:ext>
            </a:extLst>
          </p:cNvPr>
          <p:cNvSpPr txBox="1"/>
          <p:nvPr/>
        </p:nvSpPr>
        <p:spPr>
          <a:xfrm>
            <a:off x="1219200" y="1600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when the rule score is ambiguous; a closed five-way answer, never free text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34C03E-EA94-BCDE-45AA-2621B9ADD0F4}"/>
              </a:ext>
            </a:extLst>
          </p:cNvPr>
          <p:cNvSpPr/>
          <p:nvPr/>
        </p:nvSpPr>
        <p:spPr>
          <a:xfrm>
            <a:off x="609600" y="23622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B976F-F08C-5F34-6D3D-1A2B6284445E}"/>
              </a:ext>
            </a:extLst>
          </p:cNvPr>
          <p:cNvSpPr txBox="1"/>
          <p:nvPr/>
        </p:nvSpPr>
        <p:spPr>
          <a:xfrm>
            <a:off x="1219200" y="23368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Read - a field label the table has never seen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EF5F7-AEDB-3687-E10A-FF287F8623A0}"/>
              </a:ext>
            </a:extLst>
          </p:cNvPr>
          <p:cNvSpPr txBox="1"/>
          <p:nvPr/>
        </p:nvSpPr>
        <p:spPr>
          <a:xfrm>
            <a:off x="1219200" y="2641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asked only about fields no rule resolved; every value must be found again in the document before it is adopted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3F1D464-FCFA-F14D-C3B7-3DFB2A9997A4}"/>
              </a:ext>
            </a:extLst>
          </p:cNvPr>
          <p:cNvSpPr/>
          <p:nvPr/>
        </p:nvSpPr>
        <p:spPr>
          <a:xfrm>
            <a:off x="609600" y="3403600"/>
            <a:ext cx="431800" cy="431800"/>
          </a:xfrm>
          <a:prstGeom prst="ellipse">
            <a:avLst/>
          </a:prstGeom>
          <a:solidFill>
            <a:srgbClr val="7C5CB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530" b="1">
                <a:solidFill>
                  <a:srgbClr val="FFFFFF"/>
                </a:solidFill>
                <a:latin typeface="Calibri" panose="020F0502020204030204" pitchFamily="34" charset="0"/>
              </a:rPr>
              <a:t>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54BAEB-3B82-8C28-FAF9-0B2CC88A2493}"/>
              </a:ext>
            </a:extLst>
          </p:cNvPr>
          <p:cNvSpPr txBox="1"/>
          <p:nvPr/>
        </p:nvSpPr>
        <p:spPr>
          <a:xfrm>
            <a:off x="1219200" y="33782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1F2430"/>
                </a:solidFill>
                <a:latin typeface="Calibri" panose="020F0502020204030204" pitchFamily="34" charset="0"/>
              </a:rPr>
              <a:t>See - a scanned page with no text layer</a:t>
            </a:r>
            <a:endParaRPr lang="en-MY" sz="14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91DE38-FE70-0D6E-8F12-855743F45406}"/>
              </a:ext>
            </a:extLst>
          </p:cNvPr>
          <p:cNvSpPr txBox="1"/>
          <p:nvPr/>
        </p:nvSpPr>
        <p:spPr>
          <a:xfrm>
            <a:off x="1219200" y="36830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transcribed for the reviewer, never fed into a comparison - the case stays in review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2B2919-B87C-07F6-3F83-31648BF26BBA}"/>
              </a:ext>
            </a:extLst>
          </p:cNvPr>
          <p:cNvSpPr txBox="1"/>
          <p:nvPr/>
        </p:nvSpPr>
        <p:spPr>
          <a:xfrm>
            <a:off x="609600" y="4470400"/>
            <a:ext cx="6604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>
                <a:solidFill>
                  <a:srgbClr val="1F2430"/>
                </a:solidFill>
                <a:latin typeface="Calibri" panose="020F0502020204030204" pitchFamily="34" charset="0"/>
              </a:rPr>
              <a:t>gpt-5-mini, structured output. One rule for all three: nothing the model returns is adopted until it is found again in the document.</a:t>
            </a:r>
            <a:endParaRPr lang="en-MY" sz="120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DFCBAC7-6A71-509F-1D1E-AC1C86FDF050}"/>
              </a:ext>
            </a:extLst>
          </p:cNvPr>
          <p:cNvSpPr/>
          <p:nvPr/>
        </p:nvSpPr>
        <p:spPr>
          <a:xfrm>
            <a:off x="7620000" y="1320800"/>
            <a:ext cx="3962400" cy="2870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DAF381-53C6-B9FC-54F3-847013757542}"/>
              </a:ext>
            </a:extLst>
          </p:cNvPr>
          <p:cNvSpPr txBox="1"/>
          <p:nvPr/>
        </p:nvSpPr>
        <p:spPr>
          <a:xfrm>
            <a:off x="7772400" y="1549400"/>
            <a:ext cx="165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5600" b="1">
                <a:solidFill>
                  <a:srgbClr val="6B7280"/>
                </a:solidFill>
                <a:latin typeface="Cambria" panose="02040503050406030204" pitchFamily="18" charset="0"/>
              </a:rPr>
              <a:t>168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3A945C-C139-AE1B-5693-1AC75085693D}"/>
              </a:ext>
            </a:extLst>
          </p:cNvPr>
          <p:cNvSpPr txBox="1"/>
          <p:nvPr/>
        </p:nvSpPr>
        <p:spPr>
          <a:xfrm>
            <a:off x="9499600" y="1651000"/>
            <a:ext cx="381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30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5D051B-56BB-462B-7587-94C3B9916971}"/>
              </a:ext>
            </a:extLst>
          </p:cNvPr>
          <p:cNvSpPr txBox="1"/>
          <p:nvPr/>
        </p:nvSpPr>
        <p:spPr>
          <a:xfrm>
            <a:off x="9982200" y="1549400"/>
            <a:ext cx="1397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5600" b="1">
                <a:solidFill>
                  <a:srgbClr val="D9A441"/>
                </a:solidFill>
                <a:latin typeface="Cambria" panose="02040503050406030204" pitchFamily="18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11BE6-AA9D-F65F-CC7D-8552DCB31440}"/>
              </a:ext>
            </a:extLst>
          </p:cNvPr>
          <p:cNvSpPr txBox="1"/>
          <p:nvPr/>
        </p:nvSpPr>
        <p:spPr>
          <a:xfrm>
            <a:off x="7823200" y="2540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cases forced to a human on wording we invented - rules alone vs rules + model, 188 documents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02EB3D-A2D5-FCC7-D339-30FCC1E91ABD}"/>
              </a:ext>
            </a:extLst>
          </p:cNvPr>
          <p:cNvSpPr txBox="1"/>
          <p:nvPr/>
        </p:nvSpPr>
        <p:spPr>
          <a:xfrm>
            <a:off x="7823200" y="3175000"/>
            <a:ext cx="3556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 b="1">
                <a:solidFill>
                  <a:srgbClr val="3B4A6B"/>
                </a:solidFill>
                <a:latin typeface="Calibri" panose="020F0502020204030204" pitchFamily="34" charset="0"/>
              </a:rPr>
              <a:t>False discrepancies: 0 both ways. Recall bought by guessing would have shown up there; it didn't.</a:t>
            </a:r>
            <a:endParaRPr lang="en-MY" sz="115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9702871-DE6E-519F-DAF9-131884616022}"/>
              </a:ext>
            </a:extLst>
          </p:cNvPr>
          <p:cNvSpPr/>
          <p:nvPr/>
        </p:nvSpPr>
        <p:spPr>
          <a:xfrm>
            <a:off x="609600" y="5130800"/>
            <a:ext cx="10972800" cy="6858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E4D715-D968-CA26-BB41-18276E681FB8}"/>
              </a:ext>
            </a:extLst>
          </p:cNvPr>
          <p:cNvSpPr txBox="1"/>
          <p:nvPr/>
        </p:nvSpPr>
        <p:spPr>
          <a:xfrm>
            <a:off x="812800" y="52070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$0.0013 per document at the published rates · cached · $2 ceiling per run.   On this inbox: 0 classifier calls, 0 extractor calls, 6 scans read out for the reviewer - every decision is a rule's, and that is measured, not assumed.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A03819-E4D4-E086-288F-3794A5ACFFB3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3 · TECHNOLOGY INTEGRATION</a:t>
            </a:r>
          </a:p>
        </p:txBody>
      </p:sp>
    </p:spTree>
    <p:extLst>
      <p:ext uri="{BB962C8B-B14F-4D97-AF65-F5344CB8AC3E}">
        <p14:creationId xmlns:p14="http://schemas.microsoft.com/office/powerpoint/2010/main" val="3079075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ACD8D7-FA06-40E5-BD6C-255CAE8764BF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How we know it holds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AD6E720-CC4D-6322-E6BF-8AF96D1E0470}"/>
              </a:ext>
            </a:extLst>
          </p:cNvPr>
          <p:cNvSpPr/>
          <p:nvPr/>
        </p:nvSpPr>
        <p:spPr>
          <a:xfrm>
            <a:off x="6096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6D4436-0F6C-8C0C-231D-A91D5B69263F}"/>
              </a:ext>
            </a:extLst>
          </p:cNvPr>
          <p:cNvSpPr txBox="1"/>
          <p:nvPr/>
        </p:nvSpPr>
        <p:spPr>
          <a:xfrm>
            <a:off x="7874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Not memorised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C20595-6D76-3690-EA3E-5C200B44689C}"/>
              </a:ext>
            </a:extLst>
          </p:cNvPr>
          <p:cNvSpPr txBox="1"/>
          <p:nvPr/>
        </p:nvSpPr>
        <p:spPr>
          <a:xfrm>
            <a:off x="7874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1.0000 on four datasets, three from seeds we never developed against - 225 planted defects caught with the exact field set, 80/80 escalations correct.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FAC2459-2512-24F7-1D05-391C86233EEA}"/>
              </a:ext>
            </a:extLst>
          </p:cNvPr>
          <p:cNvSpPr/>
          <p:nvPr/>
        </p:nvSpPr>
        <p:spPr>
          <a:xfrm>
            <a:off x="4241800" y="12700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06FF3-C84C-E428-E14C-083F02BF57AF}"/>
              </a:ext>
            </a:extLst>
          </p:cNvPr>
          <p:cNvSpPr txBox="1"/>
          <p:nvPr/>
        </p:nvSpPr>
        <p:spPr>
          <a:xfrm>
            <a:off x="4419600" y="14224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Attacked ourselves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1EB02-7148-00A3-EAE9-1763E2D98424}"/>
              </a:ext>
            </a:extLst>
          </p:cNvPr>
          <p:cNvSpPr txBox="1"/>
          <p:nvPr/>
        </p:nvSpPr>
        <p:spPr>
          <a:xfrm>
            <a:off x="4419600" y="17780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16 kinds of damage, 3,008 perturbed documents, 20,496 field reads, no answer key. Thirteen modes at zero movement; silent wrong values 982 -&gt; 0.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F4BF82F-4592-2B47-55FD-EB58D1F6FDA2}"/>
              </a:ext>
            </a:extLst>
          </p:cNvPr>
          <p:cNvSpPr/>
          <p:nvPr/>
        </p:nvSpPr>
        <p:spPr>
          <a:xfrm>
            <a:off x="6096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27D290-D0B4-1264-8976-895EB878FDB8}"/>
              </a:ext>
            </a:extLst>
          </p:cNvPr>
          <p:cNvSpPr txBox="1"/>
          <p:nvPr/>
        </p:nvSpPr>
        <p:spPr>
          <a:xfrm>
            <a:off x="7874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A real carrier's form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6F8015-E9BC-B2FF-B684-B9DAE52DE4B1}"/>
              </a:ext>
            </a:extLst>
          </p:cNvPr>
          <p:cNvSpPr txBox="1"/>
          <p:nvPr/>
        </p:nvSpPr>
        <p:spPr>
          <a:xfrm>
            <a:off x="7874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CMA CGM's public SI template, from outside the generator: four fields held, one bug found and fixed the same day.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93E133-86B8-1BFD-9830-BC120EE2DCE0}"/>
              </a:ext>
            </a:extLst>
          </p:cNvPr>
          <p:cNvSpPr/>
          <p:nvPr/>
        </p:nvSpPr>
        <p:spPr>
          <a:xfrm>
            <a:off x="4241800" y="3352800"/>
            <a:ext cx="3454400" cy="1905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100D62-815A-B629-28E2-101D6F435C78}"/>
              </a:ext>
            </a:extLst>
          </p:cNvPr>
          <p:cNvSpPr txBox="1"/>
          <p:nvPr/>
        </p:nvSpPr>
        <p:spPr>
          <a:xfrm>
            <a:off x="4419600" y="3505200"/>
            <a:ext cx="3098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Engineering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07239B-FD31-A8EE-C329-E1D42717F4DF}"/>
              </a:ext>
            </a:extLst>
          </p:cNvPr>
          <p:cNvSpPr txBox="1"/>
          <p:nvPr/>
        </p:nvSpPr>
        <p:spPr>
          <a:xfrm>
            <a:off x="4419600" y="3860800"/>
            <a:ext cx="3098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732 tests, 0 failing; CI on every push; a container that runs as a non-root user with no secret baked in; every value carries its evidence.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1669DBA-D338-56EB-D946-D2E64D21E11A}"/>
              </a:ext>
            </a:extLst>
          </p:cNvPr>
          <p:cNvSpPr/>
          <p:nvPr/>
        </p:nvSpPr>
        <p:spPr>
          <a:xfrm>
            <a:off x="7924800" y="1270000"/>
            <a:ext cx="3657600" cy="39878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DD73A0-8D1E-1EA1-F438-2E98812F3704}"/>
              </a:ext>
            </a:extLst>
          </p:cNvPr>
          <p:cNvSpPr txBox="1"/>
          <p:nvPr/>
        </p:nvSpPr>
        <p:spPr>
          <a:xfrm>
            <a:off x="8102600" y="1422400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9C6C18"/>
                </a:solidFill>
                <a:latin typeface="Calibri" panose="020F0502020204030204" pitchFamily="34" charset="0"/>
              </a:rPr>
              <a:t>What we haven't fixed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9705F4-446F-5BAA-5A8D-BEED25BC3EAF}"/>
              </a:ext>
            </a:extLst>
          </p:cNvPr>
          <p:cNvSpPr txBox="1"/>
          <p:nvPr/>
        </p:nvSpPr>
        <p:spPr>
          <a:xfrm>
            <a:off x="8102600" y="1803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email_145: a wrapped party name cut short to exactly what the other document says leaves the repair nothing to repair, and one real mismatch in 3,008 perturbed documents is reported as a match.</a:t>
            </a:r>
          </a:p>
          <a:p>
            <a:endParaRPr lang="en-US" sz="1150">
              <a:solidFill>
                <a:srgbClr val="1F2430"/>
              </a:solidFill>
              <a:latin typeface="Calibri" panose="020F0502020204030204" pitchFamily="34" charset="0"/>
            </a:endParaRPr>
          </a:p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obvious guard would flag 114 of 124 SI/BL pairs (92%) - worse than the gap - so it stays open and written down (ADVERSARIAL.md 5.2).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A851D3-3175-D565-CC80-41D36463DB54}"/>
              </a:ext>
            </a:extLst>
          </p:cNvPr>
          <p:cNvSpPr txBox="1"/>
          <p:nvPr/>
        </p:nvSpPr>
        <p:spPr>
          <a:xfrm>
            <a:off x="8102600" y="4470400"/>
            <a:ext cx="330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A defect we hide is worse than one we miss.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0098F8-8A6B-B9F5-0612-FBCDC50C394E}"/>
              </a:ext>
            </a:extLst>
          </p:cNvPr>
          <p:cNvSpPr txBox="1"/>
          <p:nvPr/>
        </p:nvSpPr>
        <p:spPr>
          <a:xfrm>
            <a:off x="609600" y="54864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6B7280"/>
                </a:solidFill>
                <a:latin typeface="Calibri" panose="020F0502020204030204" pitchFamily="34" charset="0"/>
              </a:rPr>
              <a:t>A perfect score on the dataset you were handed proves you didn't memorise it. It doesn't prove the reader works - so we went looking for the failures ourselves.</a:t>
            </a:r>
            <a:endParaRPr lang="en-MY" sz="11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A0E533-9C07-2767-6DBE-7F6B1CC5CF8F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4 · ENGINEERING QUALITY &amp; ROBUSTNESS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94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A7BB2-42CD-7906-1F4C-CED16579D43D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FFFFFF"/>
                </a:solidFill>
                <a:latin typeface="Cambria" panose="02040503050406030204" pitchFamily="18" charset="0"/>
              </a:rPr>
              <a:t>Live 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6323EA-AD4B-7643-D079-C515C71A3660}"/>
              </a:ext>
            </a:extLst>
          </p:cNvPr>
          <p:cNvSpPr txBox="1"/>
          <p:nvPr/>
        </p:nvSpPr>
        <p:spPr>
          <a:xfrm>
            <a:off x="609600" y="1066800"/>
            <a:ext cx="635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D9A441"/>
                </a:solidFill>
                <a:latin typeface="Calibri" panose="020F0502020204030204" pitchFamily="34" charset="0"/>
              </a:rPr>
              <a:t>90 seconds, on the deployed URLs</a:t>
            </a:r>
            <a:endParaRPr lang="en-MY" sz="1400">
              <a:solidFill>
                <a:srgbClr val="D9A441"/>
              </a:solidFill>
              <a:latin typeface="Calibri" panose="020F0502020204030204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F08CB45-761A-0652-4D46-46A78B9D04DD}"/>
              </a:ext>
            </a:extLst>
          </p:cNvPr>
          <p:cNvSpPr/>
          <p:nvPr/>
        </p:nvSpPr>
        <p:spPr>
          <a:xfrm>
            <a:off x="609600" y="15748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61431-5D3F-7D15-7C17-F3B24A02CC8D}"/>
              </a:ext>
            </a:extLst>
          </p:cNvPr>
          <p:cNvSpPr txBox="1"/>
          <p:nvPr/>
        </p:nvSpPr>
        <p:spPr>
          <a:xfrm>
            <a:off x="1117600" y="16002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Start a run with the model tier on - then Before / With Sentinel: the inbox as it arrived, and what it made of it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3F5CA2F-3048-E6FC-3054-A1B9791E1128}"/>
              </a:ext>
            </a:extLst>
          </p:cNvPr>
          <p:cNvSpPr/>
          <p:nvPr/>
        </p:nvSpPr>
        <p:spPr>
          <a:xfrm>
            <a:off x="609600" y="23622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D1D18-02B5-758A-EC94-AD3010490F3A}"/>
              </a:ext>
            </a:extLst>
          </p:cNvPr>
          <p:cNvSpPr txBox="1"/>
          <p:nvPr/>
        </p:nvSpPr>
        <p:spPr>
          <a:xfrm>
            <a:off x="1117600" y="23876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Patterns worth a second look - one shipper, one field, seven times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79CD5B6-2A00-9C96-60D5-1CC84AE8BF93}"/>
              </a:ext>
            </a:extLst>
          </p:cNvPr>
          <p:cNvSpPr/>
          <p:nvPr/>
        </p:nvSpPr>
        <p:spPr>
          <a:xfrm>
            <a:off x="609600" y="31496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49DD4C-1077-D193-9230-23D73D817FE2}"/>
              </a:ext>
            </a:extLst>
          </p:cNvPr>
          <p:cNvSpPr txBox="1"/>
          <p:nvPr/>
        </p:nvSpPr>
        <p:spPr>
          <a:xfrm>
            <a:off x="1117600" y="31750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mismatch case - under every value, the line it was read from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342A0A1-8544-6C7B-87A1-B8C863AA7021}"/>
              </a:ext>
            </a:extLst>
          </p:cNvPr>
          <p:cNvSpPr/>
          <p:nvPr/>
        </p:nvSpPr>
        <p:spPr>
          <a:xfrm>
            <a:off x="609600" y="39370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467831-D72A-C329-8D14-144788CD3893}"/>
              </a:ext>
            </a:extLst>
          </p:cNvPr>
          <p:cNvSpPr txBox="1"/>
          <p:nvPr/>
        </p:nvSpPr>
        <p:spPr>
          <a:xfrm>
            <a:off x="1117600" y="39624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A scanned case - the page read out for the reviewer; the case still in review, decided per field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E9C3768-C85B-9AF8-5F52-01BAB1D171DD}"/>
              </a:ext>
            </a:extLst>
          </p:cNvPr>
          <p:cNvSpPr/>
          <p:nvPr/>
        </p:nvSpPr>
        <p:spPr>
          <a:xfrm>
            <a:off x="609600" y="4724400"/>
            <a:ext cx="355600" cy="3556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26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493E13-FAE6-BB37-455F-A0E41A9286C4}"/>
              </a:ext>
            </a:extLst>
          </p:cNvPr>
          <p:cNvSpPr txBox="1"/>
          <p:nvPr/>
        </p:nvSpPr>
        <p:spPr>
          <a:xfrm>
            <a:off x="1117600" y="4749800"/>
            <a:ext cx="508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alibri" panose="020F0502020204030204" pitchFamily="34" charset="0"/>
              </a:rPr>
              <a:t>Compare, unfamiliar labels: model off, then on - 'model answered'</a:t>
            </a:r>
            <a:endParaRPr lang="en-MY" sz="1300">
              <a:solidFill>
                <a:srgbClr val="FFFFFF"/>
              </a:solidFill>
              <a:latin typeface="Calibri" panose="020F050202020403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50F8924-5EE8-5604-798E-E13A0EA73F3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0" y="1397000"/>
            <a:ext cx="4978400" cy="3111500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C221306-A152-98F6-D9A7-A0ACF9B32B49}"/>
              </a:ext>
            </a:extLst>
          </p:cNvPr>
          <p:cNvSpPr txBox="1"/>
          <p:nvPr/>
        </p:nvSpPr>
        <p:spPr>
          <a:xfrm>
            <a:off x="609600" y="5689600"/>
            <a:ext cx="5842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E2E5EC"/>
                </a:solidFill>
                <a:latin typeface="Calibri" panose="020F0502020204030204" pitchFamily="34" charset="0"/>
              </a:rPr>
              <a:t>Fallback if the venue network fails: the same inbox on the laptop, 1.5 s, no network - only the model beat changes.</a:t>
            </a:r>
            <a:endParaRPr lang="en-MY" sz="1100">
              <a:solidFill>
                <a:srgbClr val="E2E5E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2383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73E559-3757-3261-FB24-65C3BDD5F871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200" b="1">
                <a:solidFill>
                  <a:srgbClr val="1F2430"/>
                </a:solidFill>
                <a:latin typeface="Cambria" panose="02040503050406030204" pitchFamily="18" charset="0"/>
              </a:rPr>
              <a:t>What makes it different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1CBEB9-3DAA-6A4B-0A4B-D96C1D83B48E}"/>
              </a:ext>
            </a:extLst>
          </p:cNvPr>
          <p:cNvSpPr/>
          <p:nvPr/>
        </p:nvSpPr>
        <p:spPr>
          <a:xfrm>
            <a:off x="609600" y="1219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D021A-250D-1D40-37C4-3CB05DD37FCD}"/>
              </a:ext>
            </a:extLst>
          </p:cNvPr>
          <p:cNvSpPr txBox="1"/>
          <p:nvPr/>
        </p:nvSpPr>
        <p:spPr>
          <a:xfrm>
            <a:off x="1066800" y="1193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b="1">
                <a:solidFill>
                  <a:srgbClr val="1F2430"/>
                </a:solidFill>
                <a:latin typeface="Calibri" panose="020F0502020204030204" pitchFamily="34" charset="0"/>
              </a:rPr>
              <a:t>Correct by re-upload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46406A-6148-EF7B-0FD7-6A8973FE9962}"/>
              </a:ext>
            </a:extLst>
          </p:cNvPr>
          <p:cNvSpPr txBox="1"/>
          <p:nvPr/>
        </p:nvSpPr>
        <p:spPr>
          <a:xfrm>
            <a:off x="1066800" y="1473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The sender re-sends a fixed SI or BL? Attach it on the case and the same check runs again. The old answer stays on record.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22E4A9F-E1D9-38D5-A0C3-A4E31DCBEC7C}"/>
              </a:ext>
            </a:extLst>
          </p:cNvPr>
          <p:cNvSpPr/>
          <p:nvPr/>
        </p:nvSpPr>
        <p:spPr>
          <a:xfrm>
            <a:off x="609600" y="20828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6FC0F6-B898-8D58-2DE2-B113435FEB3A}"/>
              </a:ext>
            </a:extLst>
          </p:cNvPr>
          <p:cNvSpPr txBox="1"/>
          <p:nvPr/>
        </p:nvSpPr>
        <p:spPr>
          <a:xfrm>
            <a:off x="1066800" y="2057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Scans read out for the reviewer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EBB80F-880C-3F30-D7A5-1CBBD66A58B3}"/>
              </a:ext>
            </a:extLst>
          </p:cNvPr>
          <p:cNvSpPr txBox="1"/>
          <p:nvPr/>
        </p:nvSpPr>
        <p:spPr>
          <a:xfrm>
            <a:off x="1066800" y="23368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An image-only PDF still goes to a person - but with the seven fields already read by the model, marked as evidence, not a verdict.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BBD53B9-A1A4-7B47-35EC-B7A2768E73E7}"/>
              </a:ext>
            </a:extLst>
          </p:cNvPr>
          <p:cNvSpPr/>
          <p:nvPr/>
        </p:nvSpPr>
        <p:spPr>
          <a:xfrm>
            <a:off x="609600" y="29464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DE1AE-0BA5-84BB-4B7B-B49F966804CD}"/>
              </a:ext>
            </a:extLst>
          </p:cNvPr>
          <p:cNvSpPr txBox="1"/>
          <p:nvPr/>
        </p:nvSpPr>
        <p:spPr>
          <a:xfrm>
            <a:off x="1066800" y="2921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Shipper history on the field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9AFFA9-9BE1-26FD-0A6A-3CB8CBC718F8}"/>
              </a:ext>
            </a:extLst>
          </p:cNvPr>
          <p:cNvSpPr txBox="1"/>
          <p:nvPr/>
        </p:nvSpPr>
        <p:spPr>
          <a:xfrm>
            <a:off x="1066800" y="32004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Correcting a field shows how often this shipper was wrong on that same field before. A count, not a guess.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FF7A821-2932-E8D1-F722-86C9502BE3C1}"/>
              </a:ext>
            </a:extLst>
          </p:cNvPr>
          <p:cNvSpPr/>
          <p:nvPr/>
        </p:nvSpPr>
        <p:spPr>
          <a:xfrm>
            <a:off x="609600" y="3810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EC38D5-CB04-87D8-DDBF-55D08E74CD72}"/>
              </a:ext>
            </a:extLst>
          </p:cNvPr>
          <p:cNvSpPr txBox="1"/>
          <p:nvPr/>
        </p:nvSpPr>
        <p:spPr>
          <a:xfrm>
            <a:off x="1066800" y="3784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The original, one click away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DB3493-2084-DA51-893E-A1E3114B80CC}"/>
              </a:ext>
            </a:extLst>
          </p:cNvPr>
          <p:cNvSpPr txBox="1"/>
          <p:nvPr/>
        </p:nvSpPr>
        <p:spPr>
          <a:xfrm>
            <a:off x="1066800" y="40640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value carries its line, and the source document opens beside it.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2E3B97C-10AD-D2F2-813F-55A9A7AF729C}"/>
              </a:ext>
            </a:extLst>
          </p:cNvPr>
          <p:cNvSpPr/>
          <p:nvPr/>
        </p:nvSpPr>
        <p:spPr>
          <a:xfrm>
            <a:off x="609600" y="4673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09EC2A4-C12F-4210-0579-39EB8DF1E5F5}"/>
              </a:ext>
            </a:extLst>
          </p:cNvPr>
          <p:cNvSpPr txBox="1"/>
          <p:nvPr/>
        </p:nvSpPr>
        <p:spPr>
          <a:xfrm>
            <a:off x="1066800" y="46482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>
                <a:solidFill>
                  <a:srgbClr val="1F2430"/>
                </a:solidFill>
                <a:latin typeface="Calibri" panose="020F0502020204030204" pitchFamily="34" charset="0"/>
              </a:rPr>
              <a:t>A reply drafted from the corrected outcome</a:t>
            </a:r>
            <a:endParaRPr lang="en-MY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F58230-731F-7DA6-3CD3-9B3E133D2E39}"/>
              </a:ext>
            </a:extLst>
          </p:cNvPr>
          <p:cNvSpPr txBox="1"/>
          <p:nvPr/>
        </p:nvSpPr>
        <p:spPr>
          <a:xfrm>
            <a:off x="1066800" y="4927600"/>
            <a:ext cx="558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Subject and body ready, built from what the reviewer decided - not the stale answer. A person still presses send.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BAC6AD2-B352-90E5-937F-D13BF1A2E5C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1219200"/>
            <a:ext cx="4724400" cy="1555358"/>
          </a:xfrm>
          <a:prstGeom prst="rect">
            <a:avLst/>
          </a:prstGeom>
          <a:ln w="9525">
            <a:solidFill>
              <a:srgbClr val="D1D5DB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3D31B71-D6B7-D3FD-314E-20E6A5899BD5}"/>
              </a:ext>
            </a:extLst>
          </p:cNvPr>
          <p:cNvSpPr txBox="1"/>
          <p:nvPr/>
        </p:nvSpPr>
        <p:spPr>
          <a:xfrm>
            <a:off x="6858000" y="4318000"/>
            <a:ext cx="4724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The scan read-out, as the reviewer sees it: seven fields, the model's confidence, and the sentence that none of it entered the comparison.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1D7558D-B77C-E63A-4BF9-DC8A8F4E41B1}"/>
              </a:ext>
            </a:extLst>
          </p:cNvPr>
          <p:cNvSpPr/>
          <p:nvPr/>
        </p:nvSpPr>
        <p:spPr>
          <a:xfrm>
            <a:off x="609600" y="5588000"/>
            <a:ext cx="10972800" cy="508000"/>
          </a:xfrm>
          <a:prstGeom prst="roundRect">
            <a:avLst>
              <a:gd name="adj" fmla="val 15000"/>
            </a:avLst>
          </a:prstGeom>
          <a:solidFill>
            <a:srgbClr val="FFF4E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BBC3EF-B7D8-25F1-D3F0-7CCFA19E7BE7}"/>
              </a:ext>
            </a:extLst>
          </p:cNvPr>
          <p:cNvSpPr txBox="1"/>
          <p:nvPr/>
        </p:nvSpPr>
        <p:spPr>
          <a:xfrm>
            <a:off x="812800" y="5664200"/>
            <a:ext cx="105664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Every flag carries the line it came from. Every escalation carries the reason and what to do about it. Most teams at this stage meet the brief; these are the things a reviewer actually uses.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3562D2-A7F7-F7BA-5359-7BE2671F278C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900">
                <a:solidFill>
                  <a:srgbClr val="6B7280"/>
                </a:solidFill>
                <a:latin typeface="Calibri" panose="020F0502020204030204" pitchFamily="34" charset="0"/>
              </a:rPr>
              <a:t>CRITERION 6 · USER EXPERIENCE &amp; DIFFERENTIATION</a:t>
            </a:r>
            <a:endParaRPr lang="en-MY" sz="9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4401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38CE7D-D954-18B1-BE36-DC05ED5A9120}"/>
              </a:ext>
            </a:extLst>
          </p:cNvPr>
          <p:cNvSpPr txBox="1"/>
          <p:nvPr/>
        </p:nvSpPr>
        <p:spPr>
          <a:xfrm>
            <a:off x="609600" y="457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200" b="1">
                <a:solidFill>
                  <a:srgbClr val="1F2430"/>
                </a:solidFill>
                <a:latin typeface="Cambria" panose="02040503050406030204" pitchFamily="18" charset="0"/>
              </a:rPr>
              <a:t>Impact, and what comes next</a:t>
            </a:r>
            <a:endParaRPr lang="en-MY" sz="3200" b="1">
              <a:solidFill>
                <a:srgbClr val="1F2430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92970D0-0E5E-E861-22BC-B6966574B2A0}"/>
              </a:ext>
            </a:extLst>
          </p:cNvPr>
          <p:cNvSpPr/>
          <p:nvPr/>
        </p:nvSpPr>
        <p:spPr>
          <a:xfrm>
            <a:off x="609600" y="1219200"/>
            <a:ext cx="6350000" cy="1219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B4C106-5DDA-0E15-B5F8-120AB1A87987}"/>
              </a:ext>
            </a:extLst>
          </p:cNvPr>
          <p:cNvSpPr txBox="1"/>
          <p:nvPr/>
        </p:nvSpPr>
        <p:spPr>
          <a:xfrm>
            <a:off x="812800" y="1371600"/>
            <a:ext cx="2413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3600" b="1">
                <a:solidFill>
                  <a:srgbClr val="6B7280"/>
                </a:solidFill>
                <a:latin typeface="Cambria" panose="02040503050406030204" pitchFamily="18" charset="0"/>
              </a:rPr>
              <a:t>11 hours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D3A06B-6E2B-2445-E29E-E74B63D211FE}"/>
              </a:ext>
            </a:extLst>
          </p:cNvPr>
          <p:cNvSpPr txBox="1"/>
          <p:nvPr/>
        </p:nvSpPr>
        <p:spPr>
          <a:xfrm>
            <a:off x="3276600" y="1473200"/>
            <a:ext cx="508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MY" sz="2400">
                <a:solidFill>
                  <a:srgbClr val="6B7280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BCAD2F-09DA-2C17-D4F1-E9A45E47484C}"/>
              </a:ext>
            </a:extLst>
          </p:cNvPr>
          <p:cNvSpPr txBox="1"/>
          <p:nvPr/>
        </p:nvSpPr>
        <p:spPr>
          <a:xfrm>
            <a:off x="3835400" y="1320800"/>
            <a:ext cx="29972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MY" sz="4000" b="1">
                <a:solidFill>
                  <a:srgbClr val="D9A441"/>
                </a:solidFill>
                <a:latin typeface="Cambria" panose="02040503050406030204" pitchFamily="18" charset="0"/>
              </a:rPr>
              <a:t>13 seconds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DEA6E-418C-9C05-C142-05E066C9715C}"/>
              </a:ext>
            </a:extLst>
          </p:cNvPr>
          <p:cNvSpPr txBox="1"/>
          <p:nvPr/>
        </p:nvSpPr>
        <p:spPr>
          <a:xfrm>
            <a:off x="812800" y="2006600"/>
            <a:ext cx="5969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50">
                <a:solidFill>
                  <a:srgbClr val="6B7280"/>
                </a:solidFill>
                <a:latin typeface="Calibri" panose="020F0502020204030204" pitchFamily="34" charset="0"/>
              </a:rPr>
              <a:t>520 emails, 124 document pairs. Eleven hours is a conservative estimate (20 s an email, 4 min a pair), not a measurement; thirteen seconds is measured. Every decision on that inbox was a rule's.</a:t>
            </a:r>
            <a:endParaRPr lang="en-MY" sz="105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C81569-1083-735E-0C50-39560C5241F3}"/>
              </a:ext>
            </a:extLst>
          </p:cNvPr>
          <p:cNvSpPr txBox="1"/>
          <p:nvPr/>
        </p:nvSpPr>
        <p:spPr>
          <a:xfrm>
            <a:off x="609600" y="26416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>
                <a:solidFill>
                  <a:srgbClr val="3B4A6B"/>
                </a:solidFill>
                <a:latin typeface="Calibri" panose="020F0502020204030204" pitchFamily="34" charset="0"/>
              </a:rPr>
              <a:t>First deployment: one desk, not a region</a:t>
            </a:r>
            <a:endParaRPr lang="en-MY" sz="1400" b="1">
              <a:solidFill>
                <a:srgbClr val="3B4A6B"/>
              </a:solidFill>
              <a:latin typeface="Calibri" panose="020F050202020403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0A4D39-5702-CAD5-C282-F368871EE367}"/>
              </a:ext>
            </a:extLst>
          </p:cNvPr>
          <p:cNvSpPr txBox="1"/>
          <p:nvPr/>
        </p:nvSpPr>
        <p:spPr>
          <a:xfrm>
            <a:off x="609600" y="2946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50">
                <a:solidFill>
                  <a:srgbClr val="1F2430"/>
                </a:solidFill>
                <a:latin typeface="Calibri" panose="020F0502020204030204" pitchFamily="34" charset="0"/>
              </a:rPr>
              <a:t>The inbox already carries four desk codes (AFEMY 35, AIE 30, AFRT 29, AFPTME 22 emails). Sentinel sits beside the desk's existing check until the measures below have held for a full cycle of its carriers.</a:t>
            </a:r>
            <a:endParaRPr lang="en-MY" sz="1150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0AA40DA-6981-7E4E-4BDF-93B61D8D92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9314457"/>
              </p:ext>
            </p:extLst>
          </p:nvPr>
        </p:nvGraphicFramePr>
        <p:xfrm>
          <a:off x="609600" y="3683000"/>
          <a:ext cx="6350000" cy="1905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74070798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168586882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66614331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Measure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Today (graded inbox)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</a:rPr>
                        <a:t>The pilot watches</a:t>
                      </a:r>
                    </a:p>
                  </a:txBody>
                  <a:tcPr>
                    <a:solidFill>
                      <a:srgbClr val="3B4A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23667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Escalation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20 of 220 requests (9.1%), all correct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precision at 1.0 as unfamiliar templates grow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544648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False alarms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0 of 46 defects; 0 across 16 perturbation modes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weekly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260214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Reviewer minutes per escalation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not measured yet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>
                          <a:solidFill>
                            <a:srgbClr val="1F2430"/>
                          </a:solidFill>
                          <a:latin typeface="Calibri" panose="020F0502020204030204" pitchFamily="34" charset="0"/>
                        </a:rPr>
                        <a:t>the pilot's first new measurement</a:t>
                      </a:r>
                      <a:endParaRPr lang="en-MY" sz="1050">
                        <a:solidFill>
                          <a:srgbClr val="1F2430"/>
                        </a:solidFill>
                        <a:latin typeface="Calibri" panose="020F0502020204030204" pitchFamily="34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968979"/>
                  </a:ext>
                </a:extLst>
              </a:tr>
            </a:tbl>
          </a:graphicData>
        </a:graphic>
      </p:graphicFrame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08336D7-FC38-AF0A-A521-AA40F1BD0A02}"/>
              </a:ext>
            </a:extLst>
          </p:cNvPr>
          <p:cNvSpPr/>
          <p:nvPr/>
        </p:nvSpPr>
        <p:spPr>
          <a:xfrm>
            <a:off x="7366000" y="1219200"/>
            <a:ext cx="4216400" cy="436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01BFF2-1998-8590-1F64-834E4688D65B}"/>
              </a:ext>
            </a:extLst>
          </p:cNvPr>
          <p:cNvSpPr txBox="1"/>
          <p:nvPr/>
        </p:nvSpPr>
        <p:spPr>
          <a:xfrm>
            <a:off x="7569200" y="1397000"/>
            <a:ext cx="38100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500" b="1">
                <a:solidFill>
                  <a:srgbClr val="3B4A6B"/>
                </a:solidFill>
                <a:latin typeface="Calibri" panose="020F0502020204030204" pitchFamily="34" charset="0"/>
              </a:rPr>
              <a:t>Next, in order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303B453-60DE-242E-2518-0A89230BA2A2}"/>
              </a:ext>
            </a:extLst>
          </p:cNvPr>
          <p:cNvSpPr/>
          <p:nvPr/>
        </p:nvSpPr>
        <p:spPr>
          <a:xfrm>
            <a:off x="7569200" y="18542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661D1E-DC82-0EB4-5242-D84BA2379B05}"/>
              </a:ext>
            </a:extLst>
          </p:cNvPr>
          <p:cNvSpPr txBox="1"/>
          <p:nvPr/>
        </p:nvSpPr>
        <p:spPr>
          <a:xfrm>
            <a:off x="8026400" y="18415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Per-desk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06813F-0442-3771-C98C-3F88D77AEBC6}"/>
              </a:ext>
            </a:extLst>
          </p:cNvPr>
          <p:cNvSpPr txBox="1"/>
          <p:nvPr/>
        </p:nvSpPr>
        <p:spPr>
          <a:xfrm>
            <a:off x="8026400" y="21082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a label table and an escalation policy per desk, selected by the code the inbox already carries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F26B9A4-DC1C-CC14-0244-1401CD0BDA80}"/>
              </a:ext>
            </a:extLst>
          </p:cNvPr>
          <p:cNvSpPr/>
          <p:nvPr/>
        </p:nvSpPr>
        <p:spPr>
          <a:xfrm>
            <a:off x="7569200" y="30226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1C9934-37E9-B1A3-1CB6-C53C65A47005}"/>
              </a:ext>
            </a:extLst>
          </p:cNvPr>
          <p:cNvSpPr txBox="1"/>
          <p:nvPr/>
        </p:nvSpPr>
        <p:spPr>
          <a:xfrm>
            <a:off x="8026400" y="30099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 b="1">
                <a:solidFill>
                  <a:srgbClr val="1F2430"/>
                </a:solidFill>
                <a:latin typeface="Calibri" panose="020F0502020204030204" pitchFamily="34" charset="0"/>
              </a:rPr>
              <a:t>Corrections feed the label table</a:t>
            </a:r>
            <a:endParaRPr lang="en-MY" sz="1300" b="1">
              <a:solidFill>
                <a:srgbClr val="1F2430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16EE68-E849-355A-40FF-7A2810E91781}"/>
              </a:ext>
            </a:extLst>
          </p:cNvPr>
          <p:cNvSpPr txBox="1"/>
          <p:nvPr/>
        </p:nvSpPr>
        <p:spPr>
          <a:xfrm>
            <a:off x="8026400" y="32766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every confirmed correction is a labelled example of wording we could not read - the one place this system should learn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51C04D3-4E12-6C55-45B5-FFA2A50ABB5B}"/>
              </a:ext>
            </a:extLst>
          </p:cNvPr>
          <p:cNvSpPr/>
          <p:nvPr/>
        </p:nvSpPr>
        <p:spPr>
          <a:xfrm>
            <a:off x="7569200" y="4191000"/>
            <a:ext cx="330200" cy="330200"/>
          </a:xfrm>
          <a:prstGeom prst="ellipse">
            <a:avLst/>
          </a:prstGeom>
          <a:solidFill>
            <a:srgbClr val="D9A4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MY" sz="1170" b="1">
                <a:solidFill>
                  <a:srgbClr val="1F2430"/>
                </a:solidFill>
                <a:latin typeface="Calibri" panose="020F050202020403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A95E48-80A3-D72B-211D-C3C7E8A0842C}"/>
              </a:ext>
            </a:extLst>
          </p:cNvPr>
          <p:cNvSpPr txBox="1"/>
          <p:nvPr/>
        </p:nvSpPr>
        <p:spPr>
          <a:xfrm>
            <a:off x="8026400" y="41783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MY" sz="1300" b="1">
                <a:solidFill>
                  <a:srgbClr val="1F2430"/>
                </a:solidFill>
                <a:latin typeface="Calibri" panose="020F0502020204030204" pitchFamily="34" charset="0"/>
              </a:rPr>
              <a:t>The database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7AD622-B911-0D98-B56B-6FC760EB1C45}"/>
              </a:ext>
            </a:extLst>
          </p:cNvPr>
          <p:cNvSpPr txBox="1"/>
          <p:nvPr/>
        </p:nvSpPr>
        <p:spPr>
          <a:xfrm>
            <a:off x="8026400" y="4445000"/>
            <a:ext cx="34036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6B7280"/>
                </a:solidFill>
                <a:latin typeface="Calibri" panose="020F0502020204030204" pitchFamily="34" charset="0"/>
              </a:rPr>
              <a:t>one file; the demo does not need it yet, a pilot will</a:t>
            </a:r>
            <a:endParaRPr lang="en-MY" sz="1100">
              <a:solidFill>
                <a:srgbClr val="6B7280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DD8344-12B6-C71F-DE9E-C34378B3B79E}"/>
              </a:ext>
            </a:extLst>
          </p:cNvPr>
          <p:cNvSpPr txBox="1"/>
          <p:nvPr/>
        </p:nvSpPr>
        <p:spPr>
          <a:xfrm>
            <a:off x="609600" y="5740400"/>
            <a:ext cx="63500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200" b="1">
                <a:solidFill>
                  <a:srgbClr val="9C6C18"/>
                </a:solidFill>
                <a:latin typeface="Calibri" panose="020F0502020204030204" pitchFamily="34" charset="0"/>
              </a:rPr>
              <a:t>Cheap because the model is aimed, not because it is absent.</a:t>
            </a:r>
            <a:endParaRPr lang="en-MY" sz="1200" b="1">
              <a:solidFill>
                <a:srgbClr val="9C6C18"/>
              </a:solidFill>
              <a:latin typeface="Calibri" panose="020F050202020403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2671B3-81A7-1313-980C-FF3C04A14877}"/>
              </a:ext>
            </a:extLst>
          </p:cNvPr>
          <p:cNvSpPr txBox="1"/>
          <p:nvPr/>
        </p:nvSpPr>
        <p:spPr>
          <a:xfrm>
            <a:off x="609600" y="64262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MY" sz="900">
                <a:solidFill>
                  <a:srgbClr val="6B7280"/>
                </a:solidFill>
                <a:latin typeface="Calibri" panose="020F0502020204030204" pitchFamily="34" charset="0"/>
              </a:rPr>
              <a:t>CRITERION 7 · IMPACT &amp; FUTURE POTENTIAL</a:t>
            </a:r>
          </a:p>
        </p:txBody>
      </p:sp>
    </p:spTree>
    <p:extLst>
      <p:ext uri="{BB962C8B-B14F-4D97-AF65-F5344CB8AC3E}">
        <p14:creationId xmlns:p14="http://schemas.microsoft.com/office/powerpoint/2010/main" val="1296645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56E8A7-D226-33B3-3E7A-938EF229D2E8}"/>
              </a:ext>
            </a:extLst>
          </p:cNvPr>
          <p:cNvSpPr txBox="1"/>
          <p:nvPr/>
        </p:nvSpPr>
        <p:spPr>
          <a:xfrm>
            <a:off x="609600" y="25400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Every answer comes with its evidence.</a:t>
            </a:r>
            <a:endParaRPr lang="en-MY" sz="3600" b="1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EE067C-CB3F-1262-64A3-24511DD9B3A3}"/>
              </a:ext>
            </a:extLst>
          </p:cNvPr>
          <p:cNvSpPr txBox="1"/>
          <p:nvPr/>
        </p:nvSpPr>
        <p:spPr>
          <a:xfrm>
            <a:off x="609600" y="3403600"/>
            <a:ext cx="10972800" cy="30008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800">
                <a:solidFill>
                  <a:srgbClr val="D9A441"/>
                </a:solidFill>
                <a:latin typeface="Cambria" panose="02040503050406030204" pitchFamily="18" charset="0"/>
              </a:rPr>
              <a:t>Sentinel, by DuoCode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DF8A85-FF2E-A99C-CBAC-E163D16A75C8}"/>
              </a:ext>
            </a:extLst>
          </p:cNvPr>
          <p:cNvSpPr txBox="1"/>
          <p:nvPr/>
        </p:nvSpPr>
        <p:spPr>
          <a:xfrm>
            <a:off x="609600" y="39370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en-MY" sz="1300">
                <a:solidFill>
                  <a:srgbClr val="E2E5EC"/>
                </a:solidFill>
                <a:latin typeface="Calibri" panose="020F0502020204030204" pitchFamily="34" charset="0"/>
              </a:rPr>
              <a:t>github.com/TCF1209/duocode-sentinel  ·  duocode-sentinel.vercel.app</a:t>
            </a:r>
          </a:p>
        </p:txBody>
      </p:sp>
    </p:spTree>
    <p:extLst>
      <p:ext uri="{BB962C8B-B14F-4D97-AF65-F5344CB8AC3E}">
        <p14:creationId xmlns:p14="http://schemas.microsoft.com/office/powerpoint/2010/main" val="3182102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2823</Words>
  <Application>Microsoft Office PowerPoint</Application>
  <PresentationFormat>Custom</PresentationFormat>
  <Paragraphs>176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LIM YEE TENG</dc:creator>
  <cp:lastModifiedBy>LIM YEE TENG</cp:lastModifiedBy>
  <cp:revision>1</cp:revision>
  <dcterms:created xsi:type="dcterms:W3CDTF">2026-09-25T04:47:29Z</dcterms:created>
  <dcterms:modified xsi:type="dcterms:W3CDTF">2026-09-25T04:47:29Z</dcterms:modified>
</cp:coreProperties>
</file>