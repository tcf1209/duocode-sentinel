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FDE12F-6EA3-408F-940D-9C3BED5B9FF3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D81C34-D48A-4934-AFBC-439878BACA19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17605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0:00-0:15</a:t>
            </a:r>
          </a:p>
          <a:p>
            <a:endParaRPr lang="en-US"/>
          </a:p>
          <a:p>
            <a:r>
              <a:rPr lang="en-US"/>
              <a:t>Good morning. We're DuoCode - I'm Yee Teng, this is Chye Fong. A checker that is confidently wrong is worse than none: nobody goes back to look. So Sentinel has one rule - it never reports a discrepancy it cannot prove.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42790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0:15-0:50</a:t>
            </a:r>
          </a:p>
          <a:p>
            <a:endParaRPr lang="en-US"/>
          </a:p>
          <a:p>
            <a:r>
              <a:rPr lang="en-US"/>
              <a:t>Why we built it. A shipping desk gets five kinds of email in one inbox. For every document check, a clerk compares the Shipping Instruction with the draft Bill of Lading - seven fields, manually. Our own estimate: about four minutes a pair. Miss one field and it becomes a correction, a delay, rework. And sometimes the check can't be done - a scan with no text, a blank field, the wrong document. That has to go to a person with the reason, not be guessed. Chye Fong.</a:t>
            </a:r>
          </a:p>
          <a:p>
            <a:endParaRPr lang="en-US"/>
          </a:p>
          <a:p>
            <a:r>
              <a:rPr lang="en-US"/>
              <a:t>(Do NOT say eleven hours here - it is said once, live, on the Before Sentinel view.)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34424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B (Chye Fong) · 0:50-1:50</a:t>
            </a:r>
          </a:p>
          <a:p>
            <a:endParaRPr lang="en-US"/>
          </a:p>
          <a:p>
            <a:r>
              <a:rPr lang="en-US"/>
              <a:t>Six stages, one direction. The unusual one is the gate: it runs after the comparison and can overrule it. If a value can't be found again in its own document, we don't report a discrepancy - we escalate. Three decisions, each with a cost. One: values are compared exactly, never by similarity - this data has APRIL FINE PAPER TRADING, and the same name with MIDDLE EAST: two different companies. Our cost: sometimes a person checks a pair that was fine. The alternative's cost: a wrong Bill of Lading, cleared silently. Two: rules first, the model only where rules can't read - and every case records which one answered. Three: one stateless library - the API, the command line and the tests run the same code. So scaling is more copies; state sits behind one class, and a database is a one-file change. Let's watch it run.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98292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B (Chye Fong) drives the laptop for the whole demo. Full click-by-click script: docs/PITCH_DAY.md, 'The ten minutes'.</a:t>
            </a:r>
          </a:p>
          <a:p>
            <a:endParaRPr lang="en-US"/>
          </a:p>
          <a:p>
            <a:r>
              <a:rPr lang="en-US"/>
              <a:t>1:50-2:40 (B) Run the inbox, model tier TICKED. 2:40-3:00 (B) Before / With Sentinel. 3:00-3:50 (B) email_004 through the stages, open '1 note from Sentinel'. 3:50-4:50 (B) Compare, 'Labels we have never seen', off then on - say 168 -&gt; 2 here.</a:t>
            </a:r>
          </a:p>
          <a:p>
            <a:endParaRPr lang="en-US"/>
          </a:p>
          <a:p>
            <a:r>
              <a:rPr lang="en-US"/>
              <a:t>4:50-7:55 (A speaks, B clicks) Patterns -&gt; email_031 -&gt; history, View original, Edit BL gross weight, Draft reply; email_512 scan transcription; email_506 re-check; one sentence on common alternatives.</a:t>
            </a:r>
          </a:p>
          <a:p>
            <a:endParaRPr lang="en-US"/>
          </a:p>
          <a:p>
            <a:r>
              <a:rPr lang="en-US"/>
              <a:t>Checkpoints: run page done by 2:40 · handover to A by 4:55 · re-check done by 7:45.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16821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B (Chye Fong) · 7:55-8:50</a:t>
            </a:r>
          </a:p>
          <a:p>
            <a:endParaRPr lang="en-US"/>
          </a:p>
          <a:p>
            <a:r>
              <a:rPr lang="en-US"/>
              <a:t>What a demo can't show: how we know it holds. 1.0000 on the organisers' scorer - and on three more datasets from seeds we never developed against. But a perfect score on the data you were handed doesn't prove the reader works. So we damaged our own documents: sixteen kinds of damage, 3,008 documents, no answer key. Thirteen change nothing; under OCR damage, silently wrong values went from 982 to zero. Then real documents from outside that data - carrier forms, scans, fourteen thousand emails. It can't read most real layouts yet, and it made zero wrong automatic decisions: what it couldn't read went to a person. 763 tests on every push to main. And the one we haven't fixed is on the slide - a defect we hide is worse than one we miss. Yee Teng.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39320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8:50-9:45</a:t>
            </a:r>
          </a:p>
          <a:p>
            <a:endParaRPr lang="en-US"/>
          </a:p>
          <a:p>
            <a:r>
              <a:rPr lang="en-US"/>
              <a:t>Impact. The first user is one documentation desk - the inbox already carries four desk codes. Sentinel runs beside that desk's existing check until three numbers hold: the escalation rate - nine percent today, every one correct; false discrepancies - zero of forty-six; and reviewer minutes per escalation - which the pilot is there to measure. Cost: on this inbox the rules decide every email, so a run costs nothing; where the model is needed it's about a tenth of a cent per document, with a two-dollar cap per run. Next, in order: per-desk rules; confirmed reviewer corrections feed the label table - the one place this system should learn; then the database. And two items from our round-one roadmap - pattern alerts and cost at volume - are already built.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100984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A (Yee Teng) · 9:45-10:00</a:t>
            </a:r>
          </a:p>
          <a:p>
            <a:endParaRPr lang="en-US"/>
          </a:p>
          <a:p>
            <a:r>
              <a:rPr lang="en-US"/>
              <a:t>Sentinel, by DuoCode. The whole inbox, live on the cloud; the model where rules can't read; a person in charge of anything it can't prove. Every answer comes with its evidence. Thank you.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84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18016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863657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45461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86732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88615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875183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4745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076354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Hidden in the slide show. Use only if both the deployed site and the laptop fallback fail: right-click &gt; See all slides, or type the slide number and Enter.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D81C34-D48A-4934-AFBC-439878BACA19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1969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4DC7C-FE50-8A29-8D33-A55C72572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15A7C-DEE9-761D-A847-4BE075F33C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A7A7E-ED5A-66E1-BFCB-9F5D44238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238E7E-43EA-6584-64C9-B3F670C4A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5C465A-425D-FF28-2E50-217DC6B86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2549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4E1C3-4445-71A3-FD17-557A5F668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D487B-050A-68DF-76A2-AA353D558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32DC7-B71B-414A-29E1-BB5C6CC15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E71525-3F2F-6AD7-A473-A2937611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0F21E-B4EE-53DA-0969-002B8C227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9436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33D60-8EC0-4AF3-A608-E59BDEB3B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C144D1-86D6-FE07-7E4C-7650765242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E0F1E-94EC-74F5-06AA-85DF86DC3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3ADF4-861A-6497-D4EF-635D32F13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ABC67A-2530-3436-6E70-87F6B6B79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6952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3920B-5895-BC47-4AA7-29C72A138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2F327-D548-19DD-3FBD-ED6BF91955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8FF9A4-83F9-FA99-AE8D-7547B7309B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2328FD-6EF1-6241-14D4-2D0556A1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4F0E1C-FBEB-60BB-158E-2A02652B4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EEB67-0262-5FB4-8123-849266D8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64685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6B8F-F3E9-8218-4BAA-13DDF19352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A70341-A68C-FB24-C101-6FE4ACBF5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30B790-E63C-FAB0-F85D-71AFA903AC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243E0B-B6E3-B7C4-D917-99198BD34D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F5F4E5-DE55-6949-F423-05A32090A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9B58E2-FA12-8688-72D1-7E82FD60A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5BBA07-014B-8C89-5502-47A310050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E41CFF-BF89-BE11-E39E-BA73D1C55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09973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E683E-F53C-2169-522E-6ECDC5B71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336ED9-83A5-E250-96AA-5060602BD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522576-1374-D289-CAEF-7525E0DF1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C91D96-EA60-C1A1-CAD0-567979BBE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59749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52746E-84B2-5604-3741-3A0C29A8F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CE9280-2468-E576-AEC8-D202E5BC4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0C743-1F17-4FC2-AFAB-28D44304B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89763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53B3E-4A8C-9D3C-58C7-AFA153D8F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4978C-B787-A2EB-2117-7DCE7E6FB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E7C908-18FF-4829-2E05-F8F0E6D1F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8D6027-4DB1-2655-D14A-47CEFF0B8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53311B-4B44-EBA0-E667-CB7C37682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88BFE-D612-F6EF-D211-EDAD7EE65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92836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E2C70-F183-2639-BAFB-3D7A8649E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3AF53B-49E5-63DE-C343-BC0244EAAA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A843B8-4503-F0D0-4993-792FB2E55F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D0446D-CF9B-17CB-8725-588D3AF5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52B602-3E94-1762-2C45-D589DB566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D27C1-F080-0E8F-4020-AE7EE190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741304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3AA9D-1DAB-2050-A2B4-FF063F03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CFCE7-CDA8-5080-6D3A-3D197697D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95E503-9166-6DE4-A422-5CEAE373F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D060D2-D89A-821A-375E-522754F0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9DA88-56DE-3135-4671-1F11694D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6967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B9D812-73D4-5FBF-A365-FB2A2EE4C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8BAF0-5710-0309-188A-2F619ABC9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2CE451-550F-479D-5040-C721608CD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BB770-7276-E27C-3C37-25345B3D8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A93CAF-8FE0-1DE8-BFEE-E209A70FD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26711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5DB59D-3707-B5DA-DCAB-25B26681A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A83DF9-E4E6-1897-1308-76248CB33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6CD00-1278-A03A-F8D4-B9DDBB64B6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CF4841-F8EE-45CF-9DB3-48A3B5F33D9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96FA0-76DF-3E0E-B7E5-18FC216947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D04EA-590D-A473-66E8-3C7DAC52A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D0B529-BE3E-4445-8C88-9458F5CDD9E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67608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0B19ED-EC8D-92C2-9AFB-BBA45275A236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007B8-B5D3-220F-BCD4-7E5DFE63D922}"/>
              </a:ext>
            </a:extLst>
          </p:cNvPr>
          <p:cNvSpPr txBox="1"/>
          <p:nvPr/>
        </p:nvSpPr>
        <p:spPr>
          <a:xfrm>
            <a:off x="609600" y="1498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800" b="1">
                <a:solidFill>
                  <a:srgbClr val="182335"/>
                </a:solidFill>
                <a:latin typeface="Georgia" panose="02040502050405020303" pitchFamily="18" charset="0"/>
              </a:rPr>
              <a:t>Sentinel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DEF65D-3E01-7ED7-5A73-A63DF82D9380}"/>
              </a:ext>
            </a:extLst>
          </p:cNvPr>
          <p:cNvSpPr txBox="1"/>
          <p:nvPr/>
        </p:nvSpPr>
        <p:spPr>
          <a:xfrm>
            <a:off x="609600" y="2489200"/>
            <a:ext cx="546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>
                <a:solidFill>
                  <a:srgbClr val="8F5A20"/>
                </a:solidFill>
                <a:latin typeface="Georgia" panose="02040502050405020303" pitchFamily="18" charset="0"/>
              </a:rPr>
              <a:t>Every answer comes with its evidence.</a:t>
            </a:r>
            <a:endParaRPr lang="en-MY" sz="2500">
              <a:solidFill>
                <a:srgbClr val="8F5A20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8E1A6-1986-5098-08E2-83E768A0C518}"/>
              </a:ext>
            </a:extLst>
          </p:cNvPr>
          <p:cNvSpPr txBox="1"/>
          <p:nvPr/>
        </p:nvSpPr>
        <p:spPr>
          <a:xfrm>
            <a:off x="609600" y="3581400"/>
            <a:ext cx="533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50">
                <a:solidFill>
                  <a:srgbClr val="5B6577"/>
                </a:solidFill>
                <a:latin typeface="Calibri" panose="020F0502020204030204" pitchFamily="34" charset="0"/>
              </a:rPr>
              <a:t>A document checker that is confidently wrong is worse than none: nobody goes back to look. Sentinel never reports a discrepancy it cannot prove.</a:t>
            </a:r>
            <a:endParaRPr lang="en-MY" sz="14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7EFB5D-4E78-2EF7-F5A3-4CD26951C93D}"/>
              </a:ext>
            </a:extLst>
          </p:cNvPr>
          <p:cNvSpPr/>
          <p:nvPr/>
        </p:nvSpPr>
        <p:spPr>
          <a:xfrm>
            <a:off x="609600" y="4724400"/>
            <a:ext cx="762000" cy="38100"/>
          </a:xfrm>
          <a:prstGeom prst="rect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2CDC5-9985-1FFC-0676-8C03B6678854}"/>
              </a:ext>
            </a:extLst>
          </p:cNvPr>
          <p:cNvSpPr txBox="1"/>
          <p:nvPr/>
        </p:nvSpPr>
        <p:spPr>
          <a:xfrm>
            <a:off x="609600" y="4927600"/>
            <a:ext cx="533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Calibri" panose="020F0502020204030204" pitchFamily="34" charset="0"/>
              </a:rPr>
              <a:t>DuoCode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2DA8D3-282B-24CB-43BD-9015243FEE37}"/>
              </a:ext>
            </a:extLst>
          </p:cNvPr>
          <p:cNvSpPr txBox="1"/>
          <p:nvPr/>
        </p:nvSpPr>
        <p:spPr>
          <a:xfrm>
            <a:off x="609600" y="5181600"/>
            <a:ext cx="546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182335"/>
                </a:solidFill>
                <a:latin typeface="Calibri" panose="020F0502020204030204" pitchFamily="34" charset="0"/>
              </a:rPr>
              <a:t>Lim Yee Teng  ·  Tang Chye Fong  ·  Asia Pacific University</a:t>
            </a:r>
            <a:endParaRPr lang="en-MY" sz="13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9736D5-64CD-3AF9-88FC-8B83F30D137C}"/>
              </a:ext>
            </a:extLst>
          </p:cNvPr>
          <p:cNvSpPr txBox="1"/>
          <p:nvPr/>
        </p:nvSpPr>
        <p:spPr>
          <a:xfrm>
            <a:off x="609600" y="5588000"/>
            <a:ext cx="546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50">
                <a:solidFill>
                  <a:srgbClr val="8F5A20"/>
                </a:solidFill>
                <a:latin typeface="Calibri" panose="020F0502020204030204" pitchFamily="34" charset="0"/>
              </a:rPr>
              <a:t>duocode-sentinel.vercel.app</a:t>
            </a:r>
          </a:p>
          <a:p>
            <a:r>
              <a:rPr lang="en-MY" sz="1250">
                <a:solidFill>
                  <a:srgbClr val="8F5A20"/>
                </a:solidFill>
                <a:latin typeface="Calibri" panose="020F0502020204030204" pitchFamily="34" charset="0"/>
              </a:rPr>
              <a:t>github.com/TCF1209/duocode-sentinel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BD8B08-1B8F-C884-0292-5B02AF951F1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1219200"/>
            <a:ext cx="5105400" cy="31908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C97CFAF-5155-7F50-8038-B6A4512B0982}"/>
              </a:ext>
            </a:extLst>
          </p:cNvPr>
          <p:cNvSpPr txBox="1"/>
          <p:nvPr/>
        </p:nvSpPr>
        <p:spPr>
          <a:xfrm>
            <a:off x="6477000" y="4521200"/>
            <a:ext cx="5105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5B6577"/>
                </a:solidFill>
                <a:latin typeface="Calibri" panose="020F0502020204030204" pitchFamily="34" charset="0"/>
              </a:rPr>
              <a:t>The organisers' 520-email inbox, run live on the deployed site.</a:t>
            </a:r>
            <a:endParaRPr lang="en-MY" sz="10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4662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D26385-3DD8-52A1-9052-73A27D382863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950" b="1">
                <a:solidFill>
                  <a:srgbClr val="8F5A20"/>
                </a:solidFill>
                <a:latin typeface="Calibri" panose="020F0502020204030204" pitchFamily="34" charset="0"/>
              </a:rPr>
              <a:t>WHY WE BUILT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5CF7A7-FB64-4804-1C17-B252AF546A8C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Four things the desk needs - the fourth matters most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6E0A66B-9517-89A4-81C7-C80C36449486}"/>
              </a:ext>
            </a:extLst>
          </p:cNvPr>
          <p:cNvSpPr/>
          <p:nvPr/>
        </p:nvSpPr>
        <p:spPr>
          <a:xfrm>
            <a:off x="609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F54F9F-50F7-588F-6BA5-A2B84A609BCC}"/>
              </a:ext>
            </a:extLst>
          </p:cNvPr>
          <p:cNvSpPr/>
          <p:nvPr/>
        </p:nvSpPr>
        <p:spPr>
          <a:xfrm>
            <a:off x="787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76A4CF-3A7F-071B-5115-E16956A55978}"/>
              </a:ext>
            </a:extLst>
          </p:cNvPr>
          <p:cNvSpPr txBox="1"/>
          <p:nvPr/>
        </p:nvSpPr>
        <p:spPr>
          <a:xfrm>
            <a:off x="1295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Classify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992E9-D756-69F5-A1A9-3DB4F984C508}"/>
              </a:ext>
            </a:extLst>
          </p:cNvPr>
          <p:cNvSpPr txBox="1"/>
          <p:nvPr/>
        </p:nvSpPr>
        <p:spPr>
          <a:xfrm>
            <a:off x="787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82335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BAF1A20-AF39-F3AF-730B-595B7A2C917B}"/>
              </a:ext>
            </a:extLst>
          </p:cNvPr>
          <p:cNvSpPr/>
          <p:nvPr/>
        </p:nvSpPr>
        <p:spPr>
          <a:xfrm>
            <a:off x="3403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FE59EA-06B1-D06B-7B69-27DE7672E30A}"/>
              </a:ext>
            </a:extLst>
          </p:cNvPr>
          <p:cNvSpPr/>
          <p:nvPr/>
        </p:nvSpPr>
        <p:spPr>
          <a:xfrm>
            <a:off x="3581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AF2C00-CEEF-0519-D9E3-A89C02B6FB39}"/>
              </a:ext>
            </a:extLst>
          </p:cNvPr>
          <p:cNvSpPr txBox="1"/>
          <p:nvPr/>
        </p:nvSpPr>
        <p:spPr>
          <a:xfrm>
            <a:off x="4089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Extract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E2928D-F8F2-7424-77B3-6CABBA14F066}"/>
              </a:ext>
            </a:extLst>
          </p:cNvPr>
          <p:cNvSpPr txBox="1"/>
          <p:nvPr/>
        </p:nvSpPr>
        <p:spPr>
          <a:xfrm>
            <a:off x="3581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5593AF6-B9CA-5DF5-EE03-DBB6BA0C4315}"/>
              </a:ext>
            </a:extLst>
          </p:cNvPr>
          <p:cNvSpPr/>
          <p:nvPr/>
        </p:nvSpPr>
        <p:spPr>
          <a:xfrm>
            <a:off x="6197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42B7423-2200-4E7F-2E76-8EF3FF42DAE1}"/>
              </a:ext>
            </a:extLst>
          </p:cNvPr>
          <p:cNvSpPr/>
          <p:nvPr/>
        </p:nvSpPr>
        <p:spPr>
          <a:xfrm>
            <a:off x="6375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0A6A73-83CB-8DCD-1BE4-3127D01913E4}"/>
              </a:ext>
            </a:extLst>
          </p:cNvPr>
          <p:cNvSpPr txBox="1"/>
          <p:nvPr/>
        </p:nvSpPr>
        <p:spPr>
          <a:xfrm>
            <a:off x="6883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Compare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7E625F-2918-FAE0-D2AC-4842A0D51277}"/>
              </a:ext>
            </a:extLst>
          </p:cNvPr>
          <p:cNvSpPr txBox="1"/>
          <p:nvPr/>
        </p:nvSpPr>
        <p:spPr>
          <a:xfrm>
            <a:off x="6375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C1E9E5F-2618-A65D-610D-A1CD83AC1775}"/>
              </a:ext>
            </a:extLst>
          </p:cNvPr>
          <p:cNvSpPr/>
          <p:nvPr/>
        </p:nvSpPr>
        <p:spPr>
          <a:xfrm>
            <a:off x="8991600" y="1270000"/>
            <a:ext cx="2590800" cy="2006600"/>
          </a:xfrm>
          <a:prstGeom prst="roundRect">
            <a:avLst>
              <a:gd name="adj" fmla="val 6000"/>
            </a:avLst>
          </a:prstGeom>
          <a:solidFill>
            <a:srgbClr val="F5E7CE"/>
          </a:solidFill>
          <a:ln w="9525">
            <a:solidFill>
              <a:srgbClr val="A9631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4B816B8-D598-D311-6B49-23CF4C130B32}"/>
              </a:ext>
            </a:extLst>
          </p:cNvPr>
          <p:cNvSpPr/>
          <p:nvPr/>
        </p:nvSpPr>
        <p:spPr>
          <a:xfrm>
            <a:off x="9169400" y="1447800"/>
            <a:ext cx="381000" cy="3810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FF0FBE-3D1D-CA08-FC57-C9C6EDC3DC7E}"/>
              </a:ext>
            </a:extLst>
          </p:cNvPr>
          <p:cNvSpPr txBox="1"/>
          <p:nvPr/>
        </p:nvSpPr>
        <p:spPr>
          <a:xfrm>
            <a:off x="9677400" y="1485900"/>
            <a:ext cx="177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82335"/>
                </a:solidFill>
                <a:latin typeface="Georgia" panose="02040502050405020303" pitchFamily="18" charset="0"/>
              </a:rPr>
              <a:t>Ask for help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17EE4B-3F74-CDA5-0383-FAC3CAF90208}"/>
              </a:ext>
            </a:extLst>
          </p:cNvPr>
          <p:cNvSpPr txBox="1"/>
          <p:nvPr/>
        </p:nvSpPr>
        <p:spPr>
          <a:xfrm>
            <a:off x="9169400" y="19812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B83C28-7037-7891-E8E2-94B89B918A11}"/>
              </a:ext>
            </a:extLst>
          </p:cNvPr>
          <p:cNvSpPr txBox="1"/>
          <p:nvPr/>
        </p:nvSpPr>
        <p:spPr>
          <a:xfrm>
            <a:off x="609600" y="33528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5B6577"/>
                </a:solidFill>
                <a:latin typeface="Calibri" panose="020F0502020204030204" pitchFamily="34" charset="0"/>
              </a:rPr>
              <a:t>The problem statement's four capabilities, in its own words.</a:t>
            </a:r>
            <a:endParaRPr lang="en-MY" sz="10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D198A45-572B-640F-1EDE-79AF2EE55304}"/>
              </a:ext>
            </a:extLst>
          </p:cNvPr>
          <p:cNvSpPr txBox="1"/>
          <p:nvPr/>
        </p:nvSpPr>
        <p:spPr>
          <a:xfrm>
            <a:off x="609600" y="3683000"/>
            <a:ext cx="342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3200" b="1">
                <a:solidFill>
                  <a:srgbClr val="8F5A20"/>
                </a:solidFill>
                <a:latin typeface="Georgia" panose="02040502050405020303" pitchFamily="18" charset="0"/>
              </a:rPr>
              <a:t>~4 min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38F7F-1A73-A869-D385-FF70DD42C10A}"/>
              </a:ext>
            </a:extLst>
          </p:cNvPr>
          <p:cNvSpPr txBox="1"/>
          <p:nvPr/>
        </p:nvSpPr>
        <p:spPr>
          <a:xfrm>
            <a:off x="609600" y="42418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to check one SI/BL pair manually - seven fields, two documents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AE4E59-FD99-64F7-92EB-848FA429B255}"/>
              </a:ext>
            </a:extLst>
          </p:cNvPr>
          <p:cNvSpPr txBox="1"/>
          <p:nvPr/>
        </p:nvSpPr>
        <p:spPr>
          <a:xfrm>
            <a:off x="4343400" y="3683000"/>
            <a:ext cx="342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3200" b="1">
                <a:solidFill>
                  <a:srgbClr val="8F5A20"/>
                </a:solidFill>
                <a:latin typeface="Georgia" panose="02040502050405020303" pitchFamily="18" charset="0"/>
              </a:rPr>
              <a:t>~20 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46F42A-A439-90A9-957B-98B405479739}"/>
              </a:ext>
            </a:extLst>
          </p:cNvPr>
          <p:cNvSpPr txBox="1"/>
          <p:nvPr/>
        </p:nvSpPr>
        <p:spPr>
          <a:xfrm>
            <a:off x="4343400" y="42418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to triage one email in a shared inbox of five kinds of mail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871B90D-3E3F-5146-8D4A-BEE36544E9D2}"/>
              </a:ext>
            </a:extLst>
          </p:cNvPr>
          <p:cNvSpPr txBox="1"/>
          <p:nvPr/>
        </p:nvSpPr>
        <p:spPr>
          <a:xfrm>
            <a:off x="8077200" y="3683000"/>
            <a:ext cx="342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3200" b="1">
                <a:solidFill>
                  <a:srgbClr val="8F5A20"/>
                </a:solidFill>
                <a:latin typeface="Georgia" panose="02040502050405020303" pitchFamily="18" charset="0"/>
              </a:rPr>
              <a:t>1 field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478AE7-1741-5362-18A5-E01BF688271D}"/>
              </a:ext>
            </a:extLst>
          </p:cNvPr>
          <p:cNvSpPr txBox="1"/>
          <p:nvPr/>
        </p:nvSpPr>
        <p:spPr>
          <a:xfrm>
            <a:off x="8077200" y="42418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missed becomes a correction, a delay, rework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B50DE7-A53E-6186-57FB-E11E078DDBC9}"/>
              </a:ext>
            </a:extLst>
          </p:cNvPr>
          <p:cNvSpPr txBox="1"/>
          <p:nvPr/>
        </p:nvSpPr>
        <p:spPr>
          <a:xfrm>
            <a:off x="609600" y="4775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5B6577"/>
                </a:solidFill>
                <a:latin typeface="Calibri" panose="020F0502020204030204" pitchFamily="34" charset="0"/>
              </a:rPr>
              <a:t>Our own estimate, not a measurement.</a:t>
            </a:r>
            <a:endParaRPr lang="en-MY" sz="10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4D4895C-D71C-EC68-C788-881AB9B48276}"/>
              </a:ext>
            </a:extLst>
          </p:cNvPr>
          <p:cNvSpPr/>
          <p:nvPr/>
        </p:nvSpPr>
        <p:spPr>
          <a:xfrm>
            <a:off x="609600" y="5130800"/>
            <a:ext cx="10972800" cy="889000"/>
          </a:xfrm>
          <a:prstGeom prst="roundRect">
            <a:avLst>
              <a:gd name="adj" fmla="val 12000"/>
            </a:avLst>
          </a:prstGeom>
          <a:solidFill>
            <a:srgbClr val="F5E7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99C035-5F47-6F02-1208-C2537E0B0298}"/>
              </a:ext>
            </a:extLst>
          </p:cNvPr>
          <p:cNvSpPr txBox="1"/>
          <p:nvPr/>
        </p:nvSpPr>
        <p:spPr>
          <a:xfrm>
            <a:off x="838200" y="5257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A9631B"/>
                </a:solidFill>
                <a:latin typeface="Calibri" panose="020F0502020204030204" pitchFamily="34" charset="0"/>
              </a:rPr>
              <a:t>The fourth case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FE5BC5-476E-F0C9-A82B-A5FB6E5B9D4F}"/>
              </a:ext>
            </a:extLst>
          </p:cNvPr>
          <p:cNvSpPr txBox="1"/>
          <p:nvPr/>
        </p:nvSpPr>
        <p:spPr>
          <a:xfrm>
            <a:off x="838200" y="5511800"/>
            <a:ext cx="10515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182335"/>
                </a:solidFill>
                <a:latin typeface="Calibri" panose="020F0502020204030204" pitchFamily="34" charset="0"/>
              </a:rPr>
              <a:t>Sometimes the check cannot be done: a scan with no text layer, a blank field, the wrong document. That goes to a person with the reason and the next step. It is never guessed.</a:t>
            </a:r>
            <a:endParaRPr lang="en-MY" sz="13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6B5C32-A649-C9FF-CF8E-4131D023B69C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5 · SOLUTION EFFECTIVENESS &amp; USER VALUE · 10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3573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26BFCE-4F93-ED5D-C8F3-EC04500F137F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950" b="1">
                <a:solidFill>
                  <a:srgbClr val="8F5A20"/>
                </a:solidFill>
                <a:latin typeface="Calibri" panose="020F0502020204030204" pitchFamily="34" charset="0"/>
              </a:rPr>
              <a:t>HOW IT DECIDES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E8DC2E-E941-1347-0E28-0E1BD92DFA86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Six stages, one direction - and a gate that can say no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24F1ED-3319-C124-6F64-A29C49D5B52A}"/>
              </a:ext>
            </a:extLst>
          </p:cNvPr>
          <p:cNvSpPr/>
          <p:nvPr/>
        </p:nvSpPr>
        <p:spPr>
          <a:xfrm>
            <a:off x="6604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1  Classify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D5F7AB1-F41B-5BF8-7CA4-C83BC95DBB8C}"/>
              </a:ext>
            </a:extLst>
          </p:cNvPr>
          <p:cNvCxnSpPr/>
          <p:nvPr/>
        </p:nvCxnSpPr>
        <p:spPr>
          <a:xfrm>
            <a:off x="22606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CE1DF3-99EE-1B62-D043-8A9D1B29CEEC}"/>
              </a:ext>
            </a:extLst>
          </p:cNvPr>
          <p:cNvSpPr/>
          <p:nvPr/>
        </p:nvSpPr>
        <p:spPr>
          <a:xfrm>
            <a:off x="24892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2  Intake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788FA84-7D43-9733-CABE-FDAF6B36365C}"/>
              </a:ext>
            </a:extLst>
          </p:cNvPr>
          <p:cNvCxnSpPr/>
          <p:nvPr/>
        </p:nvCxnSpPr>
        <p:spPr>
          <a:xfrm>
            <a:off x="40894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5F80F38-0977-827C-D47E-0FF19D327A02}"/>
              </a:ext>
            </a:extLst>
          </p:cNvPr>
          <p:cNvSpPr/>
          <p:nvPr/>
        </p:nvSpPr>
        <p:spPr>
          <a:xfrm>
            <a:off x="43180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3  Extract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A1BE008-BC1F-51E0-5526-519AD3D63071}"/>
              </a:ext>
            </a:extLst>
          </p:cNvPr>
          <p:cNvCxnSpPr/>
          <p:nvPr/>
        </p:nvCxnSpPr>
        <p:spPr>
          <a:xfrm>
            <a:off x="59182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B77568-1BF0-4FD4-7D0D-D5E769750049}"/>
              </a:ext>
            </a:extLst>
          </p:cNvPr>
          <p:cNvSpPr/>
          <p:nvPr/>
        </p:nvSpPr>
        <p:spPr>
          <a:xfrm>
            <a:off x="61468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4  Compare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C77405-45A8-D3E1-89E7-0567216AD417}"/>
              </a:ext>
            </a:extLst>
          </p:cNvPr>
          <p:cNvCxnSpPr/>
          <p:nvPr/>
        </p:nvCxnSpPr>
        <p:spPr>
          <a:xfrm>
            <a:off x="77470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0B5B9EF-F177-656E-90B5-CC61A05BB2E8}"/>
              </a:ext>
            </a:extLst>
          </p:cNvPr>
          <p:cNvSpPr/>
          <p:nvPr/>
        </p:nvSpPr>
        <p:spPr>
          <a:xfrm>
            <a:off x="79756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FFFFFF"/>
                </a:solidFill>
                <a:latin typeface="Georgia" panose="02040502050405020303" pitchFamily="18" charset="0"/>
              </a:rPr>
              <a:t>5  Evidence gate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14477A-1F4D-10F5-1AC6-FE6ECB068D39}"/>
              </a:ext>
            </a:extLst>
          </p:cNvPr>
          <p:cNvCxnSpPr/>
          <p:nvPr/>
        </p:nvCxnSpPr>
        <p:spPr>
          <a:xfrm>
            <a:off x="9575800" y="1790700"/>
            <a:ext cx="203200" cy="0"/>
          </a:xfrm>
          <a:prstGeom prst="line">
            <a:avLst/>
          </a:prstGeom>
          <a:ln w="19050">
            <a:solidFill>
              <a:srgbClr val="5B657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194BA96-6B1C-85B2-05B5-5CE0734F1B87}"/>
              </a:ext>
            </a:extLst>
          </p:cNvPr>
          <p:cNvSpPr/>
          <p:nvPr/>
        </p:nvSpPr>
        <p:spPr>
          <a:xfrm>
            <a:off x="9804400" y="1498600"/>
            <a:ext cx="1574800" cy="584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6  Decide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A2054C8-FAC0-D570-5AE1-C5C3E1C9512E}"/>
              </a:ext>
            </a:extLst>
          </p:cNvPr>
          <p:cNvCxnSpPr/>
          <p:nvPr/>
        </p:nvCxnSpPr>
        <p:spPr>
          <a:xfrm flipH="1">
            <a:off x="6934200" y="1397000"/>
            <a:ext cx="1828800" cy="0"/>
          </a:xfrm>
          <a:prstGeom prst="line">
            <a:avLst/>
          </a:prstGeom>
          <a:ln w="19050">
            <a:solidFill>
              <a:srgbClr val="A9631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2F7B69E-D5F0-D9FC-A258-775B1E8193D3}"/>
              </a:ext>
            </a:extLst>
          </p:cNvPr>
          <p:cNvSpPr txBox="1"/>
          <p:nvPr/>
        </p:nvSpPr>
        <p:spPr>
          <a:xfrm>
            <a:off x="6934200" y="1168400"/>
            <a:ext cx="182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 b="1">
                <a:solidFill>
                  <a:srgbClr val="A9631B"/>
                </a:solidFill>
                <a:latin typeface="Calibri" panose="020F0502020204030204" pitchFamily="34" charset="0"/>
              </a:rPr>
              <a:t>can overrule the comparison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4DC969-B24B-4244-0AE2-B030CE6ABB38}"/>
              </a:ext>
            </a:extLst>
          </p:cNvPr>
          <p:cNvSpPr txBox="1"/>
          <p:nvPr/>
        </p:nvSpPr>
        <p:spPr>
          <a:xfrm>
            <a:off x="9423400" y="2133600"/>
            <a:ext cx="208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>
                <a:solidFill>
                  <a:srgbClr val="5B6577"/>
                </a:solidFill>
                <a:latin typeface="Calibri" panose="020F0502020204030204" pitchFamily="34" charset="0"/>
              </a:rPr>
              <a:t>No discrepancy · Discrepancy · Escalated + reason</a:t>
            </a:r>
            <a:endParaRPr lang="en-MY" sz="9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5F1A417-7F71-909D-D6B3-6BF7391B2D3B}"/>
              </a:ext>
            </a:extLst>
          </p:cNvPr>
          <p:cNvSpPr/>
          <p:nvPr/>
        </p:nvSpPr>
        <p:spPr>
          <a:xfrm>
            <a:off x="660400" y="2209800"/>
            <a:ext cx="5232400" cy="508000"/>
          </a:xfrm>
          <a:prstGeom prst="roundRect">
            <a:avLst>
              <a:gd name="adj" fmla="val 20000"/>
            </a:avLst>
          </a:prstGeom>
          <a:solidFill>
            <a:srgbClr val="EEE9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2E1EEB-A005-DEB7-0CFC-E5D3BD2D2F03}"/>
              </a:ext>
            </a:extLst>
          </p:cNvPr>
          <p:cNvSpPr txBox="1"/>
          <p:nvPr/>
        </p:nvSpPr>
        <p:spPr>
          <a:xfrm>
            <a:off x="787400" y="2260600"/>
            <a:ext cx="497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00">
                <a:solidFill>
                  <a:srgbClr val="6B4FA0"/>
                </a:solidFill>
                <a:latin typeface="Calibri" panose="020F0502020204030204" pitchFamily="34" charset="0"/>
              </a:rPr>
              <a:t>Model tier (gpt-5-mini, structured output) - only where the rules can't read: an unclear email · a label never seen · a scanned page. Every answer must be found again in the document.</a:t>
            </a:r>
            <a:endParaRPr lang="en-MY" sz="1000">
              <a:solidFill>
                <a:srgbClr val="6B4FA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EED0C11-AF1E-C12B-3D9B-9484C6B2BD68}"/>
              </a:ext>
            </a:extLst>
          </p:cNvPr>
          <p:cNvSpPr/>
          <p:nvPr/>
        </p:nvSpPr>
        <p:spPr>
          <a:xfrm>
            <a:off x="609600" y="2997200"/>
            <a:ext cx="35179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045263-DC04-5EE5-03DD-371C2BEA9242}"/>
              </a:ext>
            </a:extLst>
          </p:cNvPr>
          <p:cNvSpPr txBox="1"/>
          <p:nvPr/>
        </p:nvSpPr>
        <p:spPr>
          <a:xfrm>
            <a:off x="787400" y="3149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82335"/>
                </a:solidFill>
                <a:latin typeface="Georgia" panose="02040502050405020303" pitchFamily="18" charset="0"/>
              </a:rPr>
              <a:t>Values exactly, never by similarity</a:t>
            </a:r>
            <a:endParaRPr lang="en-MY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ECD75D-DFC3-D33D-86E7-1352F02168B0}"/>
              </a:ext>
            </a:extLst>
          </p:cNvPr>
          <p:cNvSpPr txBox="1"/>
          <p:nvPr/>
        </p:nvSpPr>
        <p:spPr>
          <a:xfrm>
            <a:off x="787400" y="3479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APRIL FINE PAPER TRADING and APRIL FINE PAPER TRADING (MIDDLE EAST) FZE are two different companies in this data. Labels are matched by meaning; values, exactly.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86B8A8-E4A3-B710-0DA7-6B6BBAEBF428}"/>
              </a:ext>
            </a:extLst>
          </p:cNvPr>
          <p:cNvSpPr txBox="1"/>
          <p:nvPr/>
        </p:nvSpPr>
        <p:spPr>
          <a:xfrm>
            <a:off x="787400" y="4368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A9631B"/>
                </a:solidFill>
                <a:latin typeface="Calibri" panose="020F0502020204030204" pitchFamily="34" charset="0"/>
              </a:rPr>
              <a:t>Our cost: sometimes a person checks a pair that was fine. The alternative's cost: a wrong Bill of Lading, cleared silently.</a:t>
            </a:r>
            <a:endParaRPr lang="en-MY" sz="1050">
              <a:solidFill>
                <a:srgbClr val="A9631B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B9E94AF-B5D0-DC18-96B2-D93387A1E6DB}"/>
              </a:ext>
            </a:extLst>
          </p:cNvPr>
          <p:cNvSpPr/>
          <p:nvPr/>
        </p:nvSpPr>
        <p:spPr>
          <a:xfrm>
            <a:off x="4305300" y="2997200"/>
            <a:ext cx="35179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230F1C-6CAD-9D0E-CFC3-8BA93D69C15A}"/>
              </a:ext>
            </a:extLst>
          </p:cNvPr>
          <p:cNvSpPr txBox="1"/>
          <p:nvPr/>
        </p:nvSpPr>
        <p:spPr>
          <a:xfrm>
            <a:off x="4483100" y="3149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Rules first, model second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08FBDE-7D52-88A8-7A96-E3C2165705DB}"/>
              </a:ext>
            </a:extLst>
          </p:cNvPr>
          <p:cNvSpPr txBox="1"/>
          <p:nvPr/>
        </p:nvSpPr>
        <p:spPr>
          <a:xfrm>
            <a:off x="4483100" y="3479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The model is asked only where the rules admit they cannot read, and every case records which one answered.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D2FA42-D7C0-AB0F-2669-C9D31E940BCF}"/>
              </a:ext>
            </a:extLst>
          </p:cNvPr>
          <p:cNvSpPr txBox="1"/>
          <p:nvPr/>
        </p:nvSpPr>
        <p:spPr>
          <a:xfrm>
            <a:off x="4483100" y="4368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A9631B"/>
                </a:solidFill>
                <a:latin typeface="Calibri" panose="020F0502020204030204" pitchFamily="34" charset="0"/>
              </a:rPr>
              <a:t>Cost: with the model tier off, a label we have never seen is escalated, not read.</a:t>
            </a:r>
            <a:endParaRPr lang="en-MY" sz="1050">
              <a:solidFill>
                <a:srgbClr val="A9631B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B794EFE-06E0-FA81-21E3-C943A158D18F}"/>
              </a:ext>
            </a:extLst>
          </p:cNvPr>
          <p:cNvSpPr/>
          <p:nvPr/>
        </p:nvSpPr>
        <p:spPr>
          <a:xfrm>
            <a:off x="8001000" y="2997200"/>
            <a:ext cx="3517900" cy="20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707C9D-4DD9-CE30-83FF-9DC9005BD54D}"/>
              </a:ext>
            </a:extLst>
          </p:cNvPr>
          <p:cNvSpPr txBox="1"/>
          <p:nvPr/>
        </p:nvSpPr>
        <p:spPr>
          <a:xfrm>
            <a:off x="8178800" y="3149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82335"/>
                </a:solidFill>
                <a:latin typeface="Georgia" panose="02040502050405020303" pitchFamily="18" charset="0"/>
              </a:rPr>
              <a:t>One stateless library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B6949E-BC2D-249F-0FF9-E53896AAB53A}"/>
              </a:ext>
            </a:extLst>
          </p:cNvPr>
          <p:cNvSpPr txBox="1"/>
          <p:nvPr/>
        </p:nvSpPr>
        <p:spPr>
          <a:xfrm>
            <a:off x="8178800" y="3479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No web server or database inside the pipeline. The API, the command line and the tests run the same code, so what is scored is what you see.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22C55B-6BAA-155A-14D1-EC6778C54FB6}"/>
              </a:ext>
            </a:extLst>
          </p:cNvPr>
          <p:cNvSpPr txBox="1"/>
          <p:nvPr/>
        </p:nvSpPr>
        <p:spPr>
          <a:xfrm>
            <a:off x="8178800" y="43688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A9631B"/>
                </a:solidFill>
                <a:latin typeface="Calibri" panose="020F0502020204030204" pitchFamily="34" charset="0"/>
              </a:rPr>
              <a:t>Cost: no database yet - reviews live in memory until the one-file change.</a:t>
            </a:r>
            <a:endParaRPr lang="en-MY" sz="1050">
              <a:solidFill>
                <a:srgbClr val="A9631B"/>
              </a:solidFill>
              <a:latin typeface="Calibri" panose="020F0502020204030204" pitchFamily="34" charset="0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2751870-5D11-973C-8B36-EC6FF66E7C27}"/>
              </a:ext>
            </a:extLst>
          </p:cNvPr>
          <p:cNvSpPr/>
          <p:nvPr/>
        </p:nvSpPr>
        <p:spPr>
          <a:xfrm>
            <a:off x="609600" y="518160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F1ECD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FCCDA9-2829-B147-F05E-1940C5AF9A61}"/>
              </a:ext>
            </a:extLst>
          </p:cNvPr>
          <p:cNvSpPr txBox="1"/>
          <p:nvPr/>
        </p:nvSpPr>
        <p:spPr>
          <a:xfrm>
            <a:off x="812800" y="5283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8F5A20"/>
                </a:solidFill>
                <a:latin typeface="Calibri" panose="020F0502020204030204" pitchFamily="34" charset="0"/>
              </a:rPr>
              <a:t>Deployed and scaling, as built</a:t>
            </a:r>
            <a:endParaRPr lang="en-MY" sz="11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3CCC55-3DE9-4236-07F0-93E48C71C1C2}"/>
              </a:ext>
            </a:extLst>
          </p:cNvPr>
          <p:cNvSpPr txBox="1"/>
          <p:nvPr/>
        </p:nvSpPr>
        <p:spPr>
          <a:xfrm>
            <a:off x="812800" y="5537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100">
                <a:solidFill>
                  <a:srgbClr val="182335"/>
                </a:solidFill>
                <a:latin typeface="Calibri" panose="020F0502020204030204" pitchFamily="34" charset="0"/>
              </a:rPr>
              <a:t>Vercel (Next.js dashboard)  -&gt;  Render (FastAPI + the pipeline, one Docker container, non-root user)  -&gt;  OpenAI.   Under 3 ms per email on one laptop core. All state sits behind one class (store.py): a database is a one-file change, then throughput is more copies of the same container.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D8FB7A-4227-A705-4FF1-D35AA3D3A4B8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2 · ARCHITECTURE &amp; SCALABILITY · 15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227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33F9C4-020E-DDEE-6D42-3D4E81142AD9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E0AC5E"/>
                </a:solidFill>
                <a:latin typeface="Calibri" panose="020F0502020204030204" pitchFamily="34" charset="0"/>
              </a:rPr>
              <a:t>LIVE DEMO · 6 MINUTES · ON THE DEPLOYED SITE</a:t>
            </a:r>
            <a:endParaRPr lang="en-MY" sz="950" b="1">
              <a:solidFill>
                <a:srgbClr val="E0AC5E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93191D-5578-8BCD-F59C-8C3E25D22C29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000" b="1">
                <a:solidFill>
                  <a:srgbClr val="EDE7D6"/>
                </a:solidFill>
                <a:latin typeface="Georgia" panose="02040502050405020303" pitchFamily="18" charset="0"/>
              </a:rPr>
              <a:t>What to watch for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7DF09AE-DA9F-F025-27B5-1784A1E436DF}"/>
              </a:ext>
            </a:extLst>
          </p:cNvPr>
          <p:cNvSpPr/>
          <p:nvPr/>
        </p:nvSpPr>
        <p:spPr>
          <a:xfrm>
            <a:off x="609600" y="1219200"/>
            <a:ext cx="5384800" cy="4572000"/>
          </a:xfrm>
          <a:prstGeom prst="roundRect">
            <a:avLst>
              <a:gd name="adj" fmla="val 4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B338EB-E20B-8633-7ABB-6E618152840A}"/>
              </a:ext>
            </a:extLst>
          </p:cNvPr>
          <p:cNvSpPr txBox="1"/>
          <p:nvPr/>
        </p:nvSpPr>
        <p:spPr>
          <a:xfrm>
            <a:off x="838200" y="1397000"/>
            <a:ext cx="495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E0AC5E"/>
                </a:solidFill>
                <a:latin typeface="Calibri" panose="020F0502020204030204" pitchFamily="34" charset="0"/>
              </a:rPr>
              <a:t>Chye Fong  ·  how it works</a:t>
            </a:r>
            <a:endParaRPr lang="en-MY" sz="1400" b="1">
              <a:solidFill>
                <a:srgbClr val="E0AC5E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C65A302-156D-0290-357E-5F4525A55FD9}"/>
              </a:ext>
            </a:extLst>
          </p:cNvPr>
          <p:cNvSpPr/>
          <p:nvPr/>
        </p:nvSpPr>
        <p:spPr>
          <a:xfrm>
            <a:off x="838200" y="18542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A004E5-A22F-5BDC-D3CE-F03F5A9F7DA5}"/>
              </a:ext>
            </a:extLst>
          </p:cNvPr>
          <p:cNvSpPr txBox="1"/>
          <p:nvPr/>
        </p:nvSpPr>
        <p:spPr>
          <a:xfrm>
            <a:off x="1320800" y="18415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The whole inbox - 520 emails, model tier on, live on the cloud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B3FC72-0A12-2506-714C-945373A158F0}"/>
              </a:ext>
            </a:extLst>
          </p:cNvPr>
          <p:cNvSpPr txBox="1"/>
          <p:nvPr/>
        </p:nvSpPr>
        <p:spPr>
          <a:xfrm>
            <a:off x="1320800" y="23114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End-to-end · Technology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0C6740-69EB-D8AC-897C-B736E9739AF1}"/>
              </a:ext>
            </a:extLst>
          </p:cNvPr>
          <p:cNvSpPr/>
          <p:nvPr/>
        </p:nvSpPr>
        <p:spPr>
          <a:xfrm>
            <a:off x="838200" y="28194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8E2EE3-394C-3C64-54A7-2A61684A6213}"/>
              </a:ext>
            </a:extLst>
          </p:cNvPr>
          <p:cNvSpPr txBox="1"/>
          <p:nvPr/>
        </p:nvSpPr>
        <p:spPr>
          <a:xfrm>
            <a:off x="1320800" y="28067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Before Sentinel / With Sentinel - the inbox as a clerk gets it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6C682C-2546-37A2-D668-B61D648EF0B8}"/>
              </a:ext>
            </a:extLst>
          </p:cNvPr>
          <p:cNvSpPr txBox="1"/>
          <p:nvPr/>
        </p:nvSpPr>
        <p:spPr>
          <a:xfrm>
            <a:off x="1320800" y="32766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Effectiveness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69082AC-BBAF-9CE4-6959-1DB80C517E7E}"/>
              </a:ext>
            </a:extLst>
          </p:cNvPr>
          <p:cNvSpPr/>
          <p:nvPr/>
        </p:nvSpPr>
        <p:spPr>
          <a:xfrm>
            <a:off x="838200" y="37846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C04D5B-2037-AB41-7D21-7B4FFDC4DD64}"/>
              </a:ext>
            </a:extLst>
          </p:cNvPr>
          <p:cNvSpPr txBox="1"/>
          <p:nvPr/>
        </p:nvSpPr>
        <p:spPr>
          <a:xfrm>
            <a:off x="1320800" y="37719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One case through the six stages - the line under every value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B4221C-7346-004C-17D1-3E4D18891756}"/>
              </a:ext>
            </a:extLst>
          </p:cNvPr>
          <p:cNvSpPr txBox="1"/>
          <p:nvPr/>
        </p:nvSpPr>
        <p:spPr>
          <a:xfrm>
            <a:off x="1320800" y="42418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Architecture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1222296-D322-0DB0-D594-09E5B5D8904F}"/>
              </a:ext>
            </a:extLst>
          </p:cNvPr>
          <p:cNvSpPr/>
          <p:nvPr/>
        </p:nvSpPr>
        <p:spPr>
          <a:xfrm>
            <a:off x="838200" y="47498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F30BD2-A4EB-6E6F-3B09-B50243C478B6}"/>
              </a:ext>
            </a:extLst>
          </p:cNvPr>
          <p:cNvSpPr txBox="1"/>
          <p:nvPr/>
        </p:nvSpPr>
        <p:spPr>
          <a:xfrm>
            <a:off x="1320800" y="47371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Compare: model off, then on - it escalates, then it reads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3684C9-35D2-2C8D-2459-7653963382CB}"/>
              </a:ext>
            </a:extLst>
          </p:cNvPr>
          <p:cNvSpPr txBox="1"/>
          <p:nvPr/>
        </p:nvSpPr>
        <p:spPr>
          <a:xfrm>
            <a:off x="1320800" y="52070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Technology · Robustness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6AFF6B1-ACA0-B032-9BC8-ED27BB20FB1F}"/>
              </a:ext>
            </a:extLst>
          </p:cNvPr>
          <p:cNvSpPr/>
          <p:nvPr/>
        </p:nvSpPr>
        <p:spPr>
          <a:xfrm>
            <a:off x="6197600" y="1219200"/>
            <a:ext cx="5384800" cy="4572000"/>
          </a:xfrm>
          <a:prstGeom prst="roundRect">
            <a:avLst>
              <a:gd name="adj" fmla="val 4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B35710-E2CF-44C0-99F2-CADB3328B907}"/>
              </a:ext>
            </a:extLst>
          </p:cNvPr>
          <p:cNvSpPr txBox="1"/>
          <p:nvPr/>
        </p:nvSpPr>
        <p:spPr>
          <a:xfrm>
            <a:off x="6426200" y="1397000"/>
            <a:ext cx="495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E0AC5E"/>
                </a:solidFill>
                <a:latin typeface="Calibri" panose="020F0502020204030204" pitchFamily="34" charset="0"/>
              </a:rPr>
              <a:t>Yee Teng  ·  how a reviewer uses it</a:t>
            </a:r>
            <a:endParaRPr lang="en-MY" sz="1400" b="1">
              <a:solidFill>
                <a:srgbClr val="E0AC5E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0238DBF-9DD3-C35D-3B19-5FE6E5C3FDCE}"/>
              </a:ext>
            </a:extLst>
          </p:cNvPr>
          <p:cNvSpPr/>
          <p:nvPr/>
        </p:nvSpPr>
        <p:spPr>
          <a:xfrm>
            <a:off x="6426200" y="18542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274D30-D97B-A99C-4250-C77147E634D7}"/>
              </a:ext>
            </a:extLst>
          </p:cNvPr>
          <p:cNvSpPr txBox="1"/>
          <p:nvPr/>
        </p:nvSpPr>
        <p:spPr>
          <a:xfrm>
            <a:off x="6908800" y="18415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Patterns across the inbox -&gt; this shipper's history on the field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CD5CA7-C2EB-4609-9CE0-CAC072F9D8A0}"/>
              </a:ext>
            </a:extLst>
          </p:cNvPr>
          <p:cNvSpPr txBox="1"/>
          <p:nvPr/>
        </p:nvSpPr>
        <p:spPr>
          <a:xfrm>
            <a:off x="6908800" y="23114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Differentiation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311BCE4-3E67-65B5-E66A-BFCB72081893}"/>
              </a:ext>
            </a:extLst>
          </p:cNvPr>
          <p:cNvSpPr/>
          <p:nvPr/>
        </p:nvSpPr>
        <p:spPr>
          <a:xfrm>
            <a:off x="6426200" y="28194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E857D4-3199-9E3A-CBA0-D6D73A09A655}"/>
              </a:ext>
            </a:extLst>
          </p:cNvPr>
          <p:cNvSpPr txBox="1"/>
          <p:nvPr/>
        </p:nvSpPr>
        <p:spPr>
          <a:xfrm>
            <a:off x="6908800" y="28067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Edit a value -&gt; compared again -&gt; reply drafted from the decision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B38D01-BF3E-E178-AE4B-FA3BF122E10F}"/>
              </a:ext>
            </a:extLst>
          </p:cNvPr>
          <p:cNvSpPr txBox="1"/>
          <p:nvPr/>
        </p:nvSpPr>
        <p:spPr>
          <a:xfrm>
            <a:off x="6908800" y="32766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User experience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B0FB8F6-393D-9F41-7FD2-53AFBE3C7C7D}"/>
              </a:ext>
            </a:extLst>
          </p:cNvPr>
          <p:cNvSpPr/>
          <p:nvPr/>
        </p:nvSpPr>
        <p:spPr>
          <a:xfrm>
            <a:off x="6426200" y="37846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9198B6-D077-43A4-2440-2B8450B5E123}"/>
              </a:ext>
            </a:extLst>
          </p:cNvPr>
          <p:cNvSpPr txBox="1"/>
          <p:nvPr/>
        </p:nvSpPr>
        <p:spPr>
          <a:xfrm>
            <a:off x="6908800" y="37719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A scan: the transcription is evidence, never a verdict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23EBC6-A618-1EE2-B19D-10E6B1ECF897}"/>
              </a:ext>
            </a:extLst>
          </p:cNvPr>
          <p:cNvSpPr txBox="1"/>
          <p:nvPr/>
        </p:nvSpPr>
        <p:spPr>
          <a:xfrm>
            <a:off x="6908800" y="42418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Technology · Robustness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8053F9F-36AA-1C65-2CBE-437CB4E39DA5}"/>
              </a:ext>
            </a:extLst>
          </p:cNvPr>
          <p:cNvSpPr/>
          <p:nvPr/>
        </p:nvSpPr>
        <p:spPr>
          <a:xfrm>
            <a:off x="6426200" y="4749800"/>
            <a:ext cx="330200" cy="330200"/>
          </a:xfrm>
          <a:prstGeom prst="ellipse">
            <a:avLst/>
          </a:prstGeom>
          <a:solidFill>
            <a:srgbClr val="E0AC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2181F"/>
                </a:solidFill>
                <a:latin typeface="Calibri" panose="020F0502020204030204" pitchFamily="34" charset="0"/>
              </a:rPr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67F2E-C526-7621-B2F0-D15BEE476C3A}"/>
              </a:ext>
            </a:extLst>
          </p:cNvPr>
          <p:cNvSpPr txBox="1"/>
          <p:nvPr/>
        </p:nvSpPr>
        <p:spPr>
          <a:xfrm>
            <a:off x="6908800" y="47371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DE7D6"/>
                </a:solidFill>
                <a:latin typeface="Calibri" panose="020F0502020204030204" pitchFamily="34" charset="0"/>
              </a:rPr>
              <a:t>Amended documents arrive -&gt; the same check runs again</a:t>
            </a:r>
            <a:endParaRPr lang="en-MY" sz="130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8A3766-3F9A-7E7C-280A-56486A706FAE}"/>
              </a:ext>
            </a:extLst>
          </p:cNvPr>
          <p:cNvSpPr txBox="1"/>
          <p:nvPr/>
        </p:nvSpPr>
        <p:spPr>
          <a:xfrm>
            <a:off x="6908800" y="5207000"/>
            <a:ext cx="4470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000">
                <a:solidFill>
                  <a:srgbClr val="A8B3C2"/>
                </a:solidFill>
                <a:latin typeface="Calibri" panose="020F0502020204030204" pitchFamily="34" charset="0"/>
              </a:rPr>
              <a:t>End-to-end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898A95-C801-B2EC-5775-51A020B89831}"/>
              </a:ext>
            </a:extLst>
          </p:cNvPr>
          <p:cNvSpPr txBox="1"/>
          <p:nvPr/>
        </p:nvSpPr>
        <p:spPr>
          <a:xfrm>
            <a:off x="609600" y="594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A8B3C2"/>
                </a:solidFill>
                <a:latin typeface="Calibri" panose="020F0502020204030204" pitchFamily="34" charset="0"/>
              </a:rPr>
              <a:t>If the venue network fails: the same inbox runs on the laptop with no network at all - only the model beats change. Screenshots of every beat follow the closing slide.</a:t>
            </a:r>
            <a:endParaRPr lang="en-MY" sz="1100">
              <a:solidFill>
                <a:srgbClr val="A8B3C2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222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520A59-98BF-6F69-A42E-A70AC2455C9E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WHAT A DEMO CAN'T SHOW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E19CA4-163C-5EFE-B058-D57B67A0161C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How we know it holds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0B57CFE-E3CE-6222-3E4D-18A0784C1306}"/>
              </a:ext>
            </a:extLst>
          </p:cNvPr>
          <p:cNvSpPr/>
          <p:nvPr/>
        </p:nvSpPr>
        <p:spPr>
          <a:xfrm>
            <a:off x="609600" y="12192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791A7-5091-F42E-2053-74AFB2A29690}"/>
              </a:ext>
            </a:extLst>
          </p:cNvPr>
          <p:cNvSpPr txBox="1"/>
          <p:nvPr/>
        </p:nvSpPr>
        <p:spPr>
          <a:xfrm>
            <a:off x="787400" y="137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Not memorised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C65F6B-2F64-DBA5-807F-66E74FF02B07}"/>
              </a:ext>
            </a:extLst>
          </p:cNvPr>
          <p:cNvSpPr txBox="1"/>
          <p:nvPr/>
        </p:nvSpPr>
        <p:spPr>
          <a:xfrm>
            <a:off x="787400" y="17272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1.0000 on the organisers' scorer - and on three more datasets from seeds we never developed against. 225 planted discrepancies, each caught with the exact field set; 80 of 80 escalations correct.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DC3AD85-12EA-A78E-A065-F6C911886380}"/>
              </a:ext>
            </a:extLst>
          </p:cNvPr>
          <p:cNvSpPr/>
          <p:nvPr/>
        </p:nvSpPr>
        <p:spPr>
          <a:xfrm>
            <a:off x="4241800" y="12192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854767-104B-0844-0004-217DC524BDAB}"/>
              </a:ext>
            </a:extLst>
          </p:cNvPr>
          <p:cNvSpPr txBox="1"/>
          <p:nvPr/>
        </p:nvSpPr>
        <p:spPr>
          <a:xfrm>
            <a:off x="4419600" y="137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Attacked ourselves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CDDA5B-C0D3-32F3-E255-29C7995E7817}"/>
              </a:ext>
            </a:extLst>
          </p:cNvPr>
          <p:cNvSpPr txBox="1"/>
          <p:nvPr/>
        </p:nvSpPr>
        <p:spPr>
          <a:xfrm>
            <a:off x="4419600" y="17272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16 kinds of damage, 3,008 perturbed documents, 20,496 field reads, no answer key. 13 kinds change nothing; 0 invented discrepancies in any. Under OCR damage, silently wrong values: 982 -&gt; 0.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DF06749-B9A0-2948-232A-5CE2541B0F35}"/>
              </a:ext>
            </a:extLst>
          </p:cNvPr>
          <p:cNvSpPr/>
          <p:nvPr/>
        </p:nvSpPr>
        <p:spPr>
          <a:xfrm>
            <a:off x="609600" y="34036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E24134-D8B1-C9A5-3C1D-75AA969C5555}"/>
              </a:ext>
            </a:extLst>
          </p:cNvPr>
          <p:cNvSpPr txBox="1"/>
          <p:nvPr/>
        </p:nvSpPr>
        <p:spPr>
          <a:xfrm>
            <a:off x="787400" y="3556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Outside the organisers'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DD346A-42DD-E321-C4A3-07FEC98984A8}"/>
              </a:ext>
            </a:extLst>
          </p:cNvPr>
          <p:cNvSpPr txBox="1"/>
          <p:nvPr/>
        </p:nvSpPr>
        <p:spPr>
          <a:xfrm>
            <a:off x="787400" y="391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Real carrier forms, real scans, archived bills of lading, 14,326 real emails. It cannot read most real form layouts yet - and made 0 wrong automatic decisions: every one went to a person.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6A245B1-D68A-204B-AA7F-5B1FE1739E51}"/>
              </a:ext>
            </a:extLst>
          </p:cNvPr>
          <p:cNvSpPr/>
          <p:nvPr/>
        </p:nvSpPr>
        <p:spPr>
          <a:xfrm>
            <a:off x="4241800" y="3403600"/>
            <a:ext cx="3454400" cy="2006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6527FF-8D94-0F67-0CEA-7289CE7CF9DA}"/>
              </a:ext>
            </a:extLst>
          </p:cNvPr>
          <p:cNvSpPr txBox="1"/>
          <p:nvPr/>
        </p:nvSpPr>
        <p:spPr>
          <a:xfrm>
            <a:off x="4419600" y="3556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182335"/>
                </a:solidFill>
                <a:latin typeface="Georgia" panose="02040502050405020303" pitchFamily="18" charset="0"/>
              </a:rPr>
              <a:t>Engineering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81F00-4336-BB41-3911-C92480C3F4BF}"/>
              </a:ext>
            </a:extLst>
          </p:cNvPr>
          <p:cNvSpPr txBox="1"/>
          <p:nvPr/>
        </p:nvSpPr>
        <p:spPr>
          <a:xfrm>
            <a:off x="4419600" y="39116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763 tests, 0 failing; CI on every push to main. Runs with no key and no network. A $2 model cap per run - when it is spent, hard cases escalate. The container runs as a non-root user with no secret inside.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B68F264-BE55-F6B7-1EB8-8407B204838F}"/>
              </a:ext>
            </a:extLst>
          </p:cNvPr>
          <p:cNvSpPr/>
          <p:nvPr/>
        </p:nvSpPr>
        <p:spPr>
          <a:xfrm>
            <a:off x="7899400" y="1219200"/>
            <a:ext cx="3683000" cy="4191000"/>
          </a:xfrm>
          <a:prstGeom prst="roundRect">
            <a:avLst>
              <a:gd name="adj" fmla="val 5000"/>
            </a:avLst>
          </a:prstGeom>
          <a:solidFill>
            <a:srgbClr val="F5E7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B8E967-9171-B618-F347-32FDBDA7696A}"/>
              </a:ext>
            </a:extLst>
          </p:cNvPr>
          <p:cNvSpPr txBox="1"/>
          <p:nvPr/>
        </p:nvSpPr>
        <p:spPr>
          <a:xfrm>
            <a:off x="8077200" y="13716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A9631B"/>
                </a:solidFill>
                <a:latin typeface="Georgia" panose="02040502050405020303" pitchFamily="18" charset="0"/>
              </a:rPr>
              <a:t>What we haven't fixed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C4544E-F2D0-2F8F-E5A9-82B9DEDD3FBE}"/>
              </a:ext>
            </a:extLst>
          </p:cNvPr>
          <p:cNvSpPr txBox="1"/>
          <p:nvPr/>
        </p:nvSpPr>
        <p:spPr>
          <a:xfrm>
            <a:off x="8077200" y="17526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email_145: a wrapped party name cut to exactly what the other document says. One real discrepancy in 3,008 perturbed documents is reported as consistent.</a:t>
            </a:r>
          </a:p>
          <a:p>
            <a:endParaRPr lang="en-US" sz="1150">
              <a:solidFill>
                <a:srgbClr val="182335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82335"/>
                </a:solidFill>
                <a:latin typeface="Calibri" panose="020F0502020204030204" pitchFamily="34" charset="0"/>
              </a:rPr>
              <a:t>The obvious guard would flag 114 of 124 SI/BL pairs (92%) - worse than the gap. So it stays open, and written down.</a:t>
            </a:r>
            <a:endParaRPr lang="en-MY" sz="11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48C2BF-81A2-6594-67C0-CE79A738F75E}"/>
              </a:ext>
            </a:extLst>
          </p:cNvPr>
          <p:cNvSpPr txBox="1"/>
          <p:nvPr/>
        </p:nvSpPr>
        <p:spPr>
          <a:xfrm>
            <a:off x="8077200" y="33274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A9631B"/>
                </a:solidFill>
                <a:latin typeface="Georgia" panose="02040502050405020303" pitchFamily="18" charset="0"/>
              </a:rPr>
              <a:t>A defect we hide is worse than one we miss.</a:t>
            </a:r>
            <a:endParaRPr lang="en-MY" sz="1200" b="1">
              <a:solidFill>
                <a:srgbClr val="A9631B"/>
              </a:solidFill>
              <a:latin typeface="Georgia" panose="02040502050405020303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D82413-40D2-34C3-07A4-70B47A1331A4}"/>
              </a:ext>
            </a:extLst>
          </p:cNvPr>
          <p:cNvSpPr txBox="1"/>
          <p:nvPr/>
        </p:nvSpPr>
        <p:spPr>
          <a:xfrm>
            <a:off x="8077200" y="4191000"/>
            <a:ext cx="3327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5B6577"/>
                </a:solidFill>
                <a:latin typeface="Calibri" panose="020F0502020204030204" pitchFamily="34" charset="0"/>
              </a:rPr>
              <a:t>Also written down: most real form layouts are not read yet; no database, accounts or mailbox connector yet.</a:t>
            </a:r>
            <a:endParaRPr lang="en-MY" sz="10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2A3970-3F4B-B5AB-AD0F-450611AF62D1}"/>
              </a:ext>
            </a:extLst>
          </p:cNvPr>
          <p:cNvSpPr txBox="1"/>
          <p:nvPr/>
        </p:nvSpPr>
        <p:spPr>
          <a:xfrm>
            <a:off x="609600" y="5689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5B6577"/>
                </a:solidFill>
                <a:latin typeface="Calibri" panose="020F0502020204030204" pitchFamily="34" charset="0"/>
              </a:rPr>
              <a:t>A perfect score on the data you were handed proves you didn't memorise it - not that the reader works. So we went looking for the failures ourselves.</a:t>
            </a:r>
            <a:endParaRPr lang="en-MY" sz="115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6B00CD-DBAA-BCCA-51E0-A8FD5AC75AA8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4 · ENGINEERING QUALITY &amp; ROBUSTNESS · 15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2254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72C953-6F65-7EC8-9A41-71767A0D5456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950" b="1">
                <a:solidFill>
                  <a:srgbClr val="8F5A20"/>
                </a:solidFill>
                <a:latin typeface="Calibri" panose="020F050202020403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209809-2E1B-B960-179F-7C468A582CB6}"/>
              </a:ext>
            </a:extLst>
          </p:cNvPr>
          <p:cNvSpPr txBox="1"/>
          <p:nvPr/>
        </p:nvSpPr>
        <p:spPr>
          <a:xfrm>
            <a:off x="609600" y="381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82335"/>
                </a:solidFill>
                <a:latin typeface="Georgia" panose="02040502050405020303" pitchFamily="18" charset="0"/>
              </a:rPr>
              <a:t>One desk first - and three numbers to hold</a:t>
            </a:r>
            <a:endParaRPr lang="en-MY" sz="30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CF3A90-0F4E-4512-3C29-7474CFCF1423}"/>
              </a:ext>
            </a:extLst>
          </p:cNvPr>
          <p:cNvSpPr txBox="1"/>
          <p:nvPr/>
        </p:nvSpPr>
        <p:spPr>
          <a:xfrm>
            <a:off x="609600" y="1143000"/>
            <a:ext cx="673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50">
                <a:solidFill>
                  <a:srgbClr val="182335"/>
                </a:solidFill>
                <a:latin typeface="Calibri" panose="020F0502020204030204" pitchFamily="34" charset="0"/>
              </a:rPr>
              <a:t>The inbox already carries four desk codes: AFEMY 35 · AIE 30 · AFRT 29 · AFPTME 22 emails. Sentinel runs beside one desk's existing check until these hold for a full cycle of its carriers:</a:t>
            </a:r>
            <a:endParaRPr lang="en-MY" sz="125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511C03-8739-2F75-9FE4-44F581984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060910"/>
              </p:ext>
            </p:extLst>
          </p:nvPr>
        </p:nvGraphicFramePr>
        <p:xfrm>
          <a:off x="609600" y="1828800"/>
          <a:ext cx="67310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89557349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441263857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1219230079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8F5A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Today, on this inbox</a:t>
                      </a:r>
                    </a:p>
                  </a:txBody>
                  <a:tcPr>
                    <a:solidFill>
                      <a:srgbClr val="8F5A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8F5A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171348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20 of 220 requests (9.1%), every one correct</a:t>
                      </a:r>
                      <a:endParaRPr lang="en-MY" sz="1100" b="0">
                        <a:solidFill>
                          <a:srgbClr val="182335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that it stays correct as new templates arrive</a:t>
                      </a:r>
                      <a:endParaRPr lang="en-MY" sz="1100" b="0">
                        <a:solidFill>
                          <a:srgbClr val="182335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191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False discrepancies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0 of 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92471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182335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100" b="0">
                        <a:solidFill>
                          <a:srgbClr val="182335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75638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700A96D-A022-CB3B-846A-45ED70ED0060}"/>
              </a:ext>
            </a:extLst>
          </p:cNvPr>
          <p:cNvSpPr txBox="1"/>
          <p:nvPr/>
        </p:nvSpPr>
        <p:spPr>
          <a:xfrm>
            <a:off x="609600" y="3962400"/>
            <a:ext cx="673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Cost: on this inbox the rules decide every email, so a run costs nothing. Where the model is needed: $0.0013 per document (measured), with a $2 cap per run.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CFE1318-4AA6-0789-89C4-80A1047F0930}"/>
              </a:ext>
            </a:extLst>
          </p:cNvPr>
          <p:cNvSpPr/>
          <p:nvPr/>
        </p:nvSpPr>
        <p:spPr>
          <a:xfrm>
            <a:off x="609600" y="4622800"/>
            <a:ext cx="6731000" cy="889000"/>
          </a:xfrm>
          <a:prstGeom prst="roundRect">
            <a:avLst>
              <a:gd name="adj" fmla="val 10000"/>
            </a:avLst>
          </a:prstGeom>
          <a:solidFill>
            <a:srgbClr val="E1EF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6122F3-DA56-CCFC-58B3-C34622F0CAD3}"/>
              </a:ext>
            </a:extLst>
          </p:cNvPr>
          <p:cNvSpPr txBox="1"/>
          <p:nvPr/>
        </p:nvSpPr>
        <p:spPr>
          <a:xfrm>
            <a:off x="787400" y="4724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 b="1">
                <a:solidFill>
                  <a:srgbClr val="1E7A4C"/>
                </a:solidFill>
                <a:latin typeface="Calibri" panose="020F0502020204030204" pitchFamily="34" charset="0"/>
              </a:rPr>
              <a:t>Built since round 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31ED39-78EB-E716-89D3-E4C082F0B51B}"/>
              </a:ext>
            </a:extLst>
          </p:cNvPr>
          <p:cNvSpPr txBox="1"/>
          <p:nvPr/>
        </p:nvSpPr>
        <p:spPr>
          <a:xfrm>
            <a:off x="787400" y="4978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82335"/>
                </a:solidFill>
                <a:latin typeface="Calibri" panose="020F0502020204030204" pitchFamily="34" charset="0"/>
              </a:rPr>
              <a:t>Pattern alerts across the inbox, and throughput and cost at volume - two of the five items on our round-one roadmap, now live.</a:t>
            </a:r>
            <a:endParaRPr lang="en-MY" sz="1200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65BDF9B-2324-6800-30CF-4F6F318C7BE7}"/>
              </a:ext>
            </a:extLst>
          </p:cNvPr>
          <p:cNvSpPr/>
          <p:nvPr/>
        </p:nvSpPr>
        <p:spPr>
          <a:xfrm>
            <a:off x="7645400" y="1143000"/>
            <a:ext cx="3937000" cy="436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DAC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ECBBD3-52C8-F5DD-4972-929E848EF2D0}"/>
              </a:ext>
            </a:extLst>
          </p:cNvPr>
          <p:cNvSpPr txBox="1"/>
          <p:nvPr/>
        </p:nvSpPr>
        <p:spPr>
          <a:xfrm>
            <a:off x="7848600" y="13208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182335"/>
                </a:solidFill>
                <a:latin typeface="Georgia" panose="02040502050405020303" pitchFamily="18" charset="0"/>
              </a:rPr>
              <a:t>Next, in order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3A5C2FF-7C21-11AE-412E-5A7345E764C0}"/>
              </a:ext>
            </a:extLst>
          </p:cNvPr>
          <p:cNvSpPr/>
          <p:nvPr/>
        </p:nvSpPr>
        <p:spPr>
          <a:xfrm>
            <a:off x="7848600" y="1803400"/>
            <a:ext cx="330200" cy="3302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FFFFFF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D51277-474B-1B1C-1E72-D663C505C1AE}"/>
              </a:ext>
            </a:extLst>
          </p:cNvPr>
          <p:cNvSpPr txBox="1"/>
          <p:nvPr/>
        </p:nvSpPr>
        <p:spPr>
          <a:xfrm>
            <a:off x="8305800" y="17907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82335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26FB7A-774C-D1CD-614F-9BA6970F4862}"/>
              </a:ext>
            </a:extLst>
          </p:cNvPr>
          <p:cNvSpPr txBox="1"/>
          <p:nvPr/>
        </p:nvSpPr>
        <p:spPr>
          <a:xfrm>
            <a:off x="8305800" y="20574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B6577"/>
                </a:solidFill>
                <a:latin typeface="Calibri" panose="020F0502020204030204" pitchFamily="34" charset="0"/>
              </a:rPr>
              <a:t>a label table and an escalation policy per desk, picked by the desk code the inbox already carries</a:t>
            </a:r>
            <a:endParaRPr lang="en-MY" sz="11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2861B34-A17C-9C7B-5491-E80FE1A8F024}"/>
              </a:ext>
            </a:extLst>
          </p:cNvPr>
          <p:cNvSpPr/>
          <p:nvPr/>
        </p:nvSpPr>
        <p:spPr>
          <a:xfrm>
            <a:off x="7848600" y="3022600"/>
            <a:ext cx="330200" cy="3302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FFFFFF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D9D71F-9C2B-CFE0-C8C7-E2CC5C139AD7}"/>
              </a:ext>
            </a:extLst>
          </p:cNvPr>
          <p:cNvSpPr txBox="1"/>
          <p:nvPr/>
        </p:nvSpPr>
        <p:spPr>
          <a:xfrm>
            <a:off x="8305800" y="30099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82335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82335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07414F-A0B9-BADF-A17C-7D5BCCC49C9B}"/>
              </a:ext>
            </a:extLst>
          </p:cNvPr>
          <p:cNvSpPr txBox="1"/>
          <p:nvPr/>
        </p:nvSpPr>
        <p:spPr>
          <a:xfrm>
            <a:off x="8305800" y="32766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B6577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4727A2C-3B7E-AD10-9A90-CD5B55BAE781}"/>
              </a:ext>
            </a:extLst>
          </p:cNvPr>
          <p:cNvSpPr/>
          <p:nvPr/>
        </p:nvSpPr>
        <p:spPr>
          <a:xfrm>
            <a:off x="7848600" y="4241800"/>
            <a:ext cx="330200" cy="330200"/>
          </a:xfrm>
          <a:prstGeom prst="ellipse">
            <a:avLst/>
          </a:prstGeom>
          <a:solidFill>
            <a:srgbClr val="8F5A2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FFFFFF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70901F-C31B-0C8F-3124-F8E437364A18}"/>
              </a:ext>
            </a:extLst>
          </p:cNvPr>
          <p:cNvSpPr txBox="1"/>
          <p:nvPr/>
        </p:nvSpPr>
        <p:spPr>
          <a:xfrm>
            <a:off x="8305800" y="42291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82335"/>
                </a:solidFill>
                <a:latin typeface="Calibri" panose="020F0502020204030204" pitchFamily="34" charset="0"/>
              </a:rPr>
              <a:t>The database, then accounts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63CABE-59E7-7E3C-82C8-A136DA8EEABB}"/>
              </a:ext>
            </a:extLst>
          </p:cNvPr>
          <p:cNvSpPr txBox="1"/>
          <p:nvPr/>
        </p:nvSpPr>
        <p:spPr>
          <a:xfrm>
            <a:off x="8305800" y="4495800"/>
            <a:ext cx="3124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5B6577"/>
                </a:solidFill>
                <a:latin typeface="Calibri" panose="020F0502020204030204" pitchFamily="34" charset="0"/>
              </a:rPr>
              <a:t>one file for the store; accounts and a mailbox connector after it</a:t>
            </a:r>
            <a:endParaRPr lang="en-MY" sz="11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D97873-AC7A-866B-70B2-A4E52BEED82B}"/>
              </a:ext>
            </a:extLst>
          </p:cNvPr>
          <p:cNvSpPr txBox="1"/>
          <p:nvPr/>
        </p:nvSpPr>
        <p:spPr>
          <a:xfrm>
            <a:off x="609600" y="6502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>
                <a:solidFill>
                  <a:srgbClr val="5B6577"/>
                </a:solidFill>
                <a:latin typeface="Calibri" panose="020F0502020204030204" pitchFamily="34" charset="0"/>
              </a:rPr>
              <a:t>RUBRIC 7 · IMPACT &amp; FUTURE POTENTIAL · 10</a:t>
            </a:r>
            <a:endParaRPr lang="en-MY" sz="900" b="1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562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A6A492-3F4B-3888-7E8F-75C1972DDE21}"/>
              </a:ext>
            </a:extLst>
          </p:cNvPr>
          <p:cNvSpPr txBox="1"/>
          <p:nvPr/>
        </p:nvSpPr>
        <p:spPr>
          <a:xfrm>
            <a:off x="609600" y="149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EDE7D6"/>
                </a:solidFill>
                <a:latin typeface="Georgia" panose="02040502050405020303" pitchFamily="18" charset="0"/>
              </a:rPr>
              <a:t>Every answer comes with its evidence.</a:t>
            </a:r>
            <a:endParaRPr lang="en-MY" sz="3600" b="1">
              <a:solidFill>
                <a:srgbClr val="EDE7D6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908B3-4DFE-B5F7-340A-CFBA5D2330F7}"/>
              </a:ext>
            </a:extLst>
          </p:cNvPr>
          <p:cNvSpPr txBox="1"/>
          <p:nvPr/>
        </p:nvSpPr>
        <p:spPr>
          <a:xfrm>
            <a:off x="609600" y="2311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E0AC5E"/>
                </a:solidFill>
                <a:latin typeface="Georgia" panose="02040502050405020303" pitchFamily="18" charset="0"/>
              </a:rPr>
              <a:t>Sentinel, by DuoCode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CFDBD83-01B5-CEE8-CAB5-7713C1F20579}"/>
              </a:ext>
            </a:extLst>
          </p:cNvPr>
          <p:cNvSpPr/>
          <p:nvPr/>
        </p:nvSpPr>
        <p:spPr>
          <a:xfrm>
            <a:off x="736600" y="3175000"/>
            <a:ext cx="3454400" cy="1320800"/>
          </a:xfrm>
          <a:prstGeom prst="roundRect">
            <a:avLst>
              <a:gd name="adj" fmla="val 6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E79A1E-0E6E-3815-B3D0-1FEC95E1D722}"/>
              </a:ext>
            </a:extLst>
          </p:cNvPr>
          <p:cNvSpPr txBox="1"/>
          <p:nvPr/>
        </p:nvSpPr>
        <p:spPr>
          <a:xfrm>
            <a:off x="914400" y="33274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E0AC5E"/>
                </a:solidFill>
                <a:latin typeface="Georgia" panose="02040502050405020303" pitchFamily="18" charset="0"/>
              </a:rPr>
              <a:t>Every value found again in its document</a:t>
            </a:r>
            <a:endParaRPr lang="en-MY" b="1">
              <a:solidFill>
                <a:srgbClr val="E0AC5E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580BE9-E166-25C9-EAF4-C77852D6E72B}"/>
              </a:ext>
            </a:extLst>
          </p:cNvPr>
          <p:cNvSpPr txBox="1"/>
          <p:nvPr/>
        </p:nvSpPr>
        <p:spPr>
          <a:xfrm>
            <a:off x="914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EDE7D6"/>
                </a:solidFill>
                <a:latin typeface="Calibri" panose="020F0502020204030204" pitchFamily="34" charset="0"/>
              </a:rPr>
              <a:t>rule-read or model-read, before any verdict is reported</a:t>
            </a:r>
            <a:endParaRPr lang="en-MY" sz="115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9892AB-3441-3304-60C4-275137FD35C6}"/>
              </a:ext>
            </a:extLst>
          </p:cNvPr>
          <p:cNvSpPr/>
          <p:nvPr/>
        </p:nvSpPr>
        <p:spPr>
          <a:xfrm>
            <a:off x="4368800" y="3175000"/>
            <a:ext cx="3454400" cy="1320800"/>
          </a:xfrm>
          <a:prstGeom prst="roundRect">
            <a:avLst>
              <a:gd name="adj" fmla="val 6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9D1F5-24D9-CE42-A70E-6FC103B64CC6}"/>
              </a:ext>
            </a:extLst>
          </p:cNvPr>
          <p:cNvSpPr txBox="1"/>
          <p:nvPr/>
        </p:nvSpPr>
        <p:spPr>
          <a:xfrm>
            <a:off x="4546600" y="33274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E0AC5E"/>
                </a:solidFill>
                <a:latin typeface="Georgia" panose="02040502050405020303" pitchFamily="18" charset="0"/>
              </a:rPr>
              <a:t>Attacked by its own authors</a:t>
            </a:r>
            <a:endParaRPr lang="en-MY" b="1">
              <a:solidFill>
                <a:srgbClr val="E0AC5E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5D49F-5AF7-2C9E-97E2-152D3D481D67}"/>
              </a:ext>
            </a:extLst>
          </p:cNvPr>
          <p:cNvSpPr txBox="1"/>
          <p:nvPr/>
        </p:nvSpPr>
        <p:spPr>
          <a:xfrm>
            <a:off x="4546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EDE7D6"/>
                </a:solidFill>
                <a:latin typeface="Calibri" panose="020F0502020204030204" pitchFamily="34" charset="0"/>
              </a:rPr>
              <a:t>3,008 damaged documents, no answer key - the failures published, one still open</a:t>
            </a:r>
            <a:endParaRPr lang="en-MY" sz="115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B5D53C4-DFB7-9459-2B31-1E796B9F00B2}"/>
              </a:ext>
            </a:extLst>
          </p:cNvPr>
          <p:cNvSpPr/>
          <p:nvPr/>
        </p:nvSpPr>
        <p:spPr>
          <a:xfrm>
            <a:off x="8001000" y="3175000"/>
            <a:ext cx="3454400" cy="1320800"/>
          </a:xfrm>
          <a:prstGeom prst="roundRect">
            <a:avLst>
              <a:gd name="adj" fmla="val 6000"/>
            </a:avLst>
          </a:prstGeom>
          <a:solidFill>
            <a:srgbClr val="1B22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AEC776-D682-E462-8B47-3162CFA67553}"/>
              </a:ext>
            </a:extLst>
          </p:cNvPr>
          <p:cNvSpPr txBox="1"/>
          <p:nvPr/>
        </p:nvSpPr>
        <p:spPr>
          <a:xfrm>
            <a:off x="8178800" y="33274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E0AC5E"/>
                </a:solidFill>
                <a:latin typeface="Georgia" panose="02040502050405020303" pitchFamily="18" charset="0"/>
              </a:rPr>
              <a:t>Tested outside the organisers' data</a:t>
            </a:r>
            <a:endParaRPr lang="en-MY" b="1">
              <a:solidFill>
                <a:srgbClr val="E0AC5E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9CFDA7-E27B-A30A-7B18-C77839579EF3}"/>
              </a:ext>
            </a:extLst>
          </p:cNvPr>
          <p:cNvSpPr txBox="1"/>
          <p:nvPr/>
        </p:nvSpPr>
        <p:spPr>
          <a:xfrm>
            <a:off x="81788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EDE7D6"/>
                </a:solidFill>
                <a:latin typeface="Calibri" panose="020F0502020204030204" pitchFamily="34" charset="0"/>
              </a:rPr>
              <a:t>real forms, real scans, real emails - what it couldn't read went to a person</a:t>
            </a:r>
            <a:endParaRPr lang="en-MY" sz="1150">
              <a:solidFill>
                <a:srgbClr val="EDE7D6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55A084-CFCC-1D64-6C41-D5EE5C71C345}"/>
              </a:ext>
            </a:extLst>
          </p:cNvPr>
          <p:cNvSpPr txBox="1"/>
          <p:nvPr/>
        </p:nvSpPr>
        <p:spPr>
          <a:xfrm>
            <a:off x="609600" y="495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A8B3C2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456DD0-4CF5-D862-47ED-95A4A93351FD}"/>
              </a:ext>
            </a:extLst>
          </p:cNvPr>
          <p:cNvSpPr txBox="1"/>
          <p:nvPr/>
        </p:nvSpPr>
        <p:spPr>
          <a:xfrm>
            <a:off x="609600" y="5461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500">
                <a:solidFill>
                  <a:srgbClr val="EDE7D6"/>
                </a:solidFill>
                <a:latin typeface="Georgia" panose="02040502050405020303" pitchFamily="18" charset="0"/>
              </a:rPr>
              <a:t>Thank you - questions welcome.</a:t>
            </a:r>
          </a:p>
        </p:txBody>
      </p:sp>
    </p:spTree>
    <p:extLst>
      <p:ext uri="{BB962C8B-B14F-4D97-AF65-F5344CB8AC3E}">
        <p14:creationId xmlns:p14="http://schemas.microsoft.com/office/powerpoint/2010/main" val="13623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1BA361-A462-7A93-194C-C5861DBCE93B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DDFDB6-5389-BA4C-A95C-7C0B6D9DA6F4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1 · The whole inbox, one run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E16B0-40C2-F5C6-06A7-88A523502CAB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520 emails sorted into five kinds of mail; 46 discrepancies and 20 escalations, each with its reason; 6 model calls, all scanned pages.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E035FD-5C75-2815-F723-C76374430D0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821746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9DF123-578E-AED5-DD30-771EF65809DE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85F57-21F8-B121-6A7B-A41D65204A3C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2200" b="1">
                <a:solidFill>
                  <a:srgbClr val="182335"/>
                </a:solidFill>
                <a:latin typeface="Georgia" panose="02040502050405020303" pitchFamily="18" charset="0"/>
              </a:rPr>
              <a:t>2 · Before Sentinel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B211EC-BAA2-0199-CB17-B7AE23FAF604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The same inbox as a clerk receives it: 124 SI/BL pairs among 520 emails, about 11.2 hours at our own estimate.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A5E8D5-B7E3-5CF2-ED0F-B2E97FBFDAF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747849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D5838B-712D-8D06-596A-EADA3480E76A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3235D9-C515-DF93-53A2-B05EAAF4F28F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3 · One case through the stages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D7D3CC-BBB0-7809-3D2B-8995065DA660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Both documents identified; under every value, the document, the line and the label as printed ('To the Order of' read as Consignee); the gate's note: every compared value (14/14) was located in its source document.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DFB1FA-CB10-996C-A2ED-F2380E60DCD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31171027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6D68D-51A1-4701-87AC-C1A5993354BB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731589-2557-0303-C082-6044D47E736A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4 · Compare: model off, then on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AB24F-1D24-FEE3-F6A9-978947B41EEF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Left: unfamiliar labels, rules only - escalated, with the fields it could not read. Right: the model reads them, each value re-found in the document - 'Model answered'.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8DE5F9-38F4-7D96-6F7C-FE88C89AEB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430CFD-45CA-88E8-EB1C-4D7C54463BDB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936734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A87469-DA2B-9C8B-5BDB-CB9961A2267E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303733-7E35-6D56-4D8E-E9DD4B69C95D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5 · Patterns across the inbox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CFD16B-B92B-854A-7A7F-0B1F3521083A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The six largest of 21 patterns; the top one is seven cases from one shipper with a discrepancy on gross weight.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58CE02-BFC2-8841-FC7A-6A577B95B56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823705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E89BC7-3BF4-B08C-FABA-733DC8EE7B1E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FFA0B9-BEAD-5018-EBBA-2A697F250F3F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6 · Shipper history, and a value corrected in place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4FD7-86B0-E7B6-65A7-90BFD3DD2B26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Left: same shipper, same field - other cases in this run. Right: the BL weight edited by the reviewer, compared again by the same rules, the extracted value kept struck through.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AB158F-520F-1993-229F-72D674867A6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DF8083-AA05-7CAA-C496-DEDB61EBF1C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522909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B9A80F-53E0-4B07-091C-0F6297948D3E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573359-0A39-8102-E9C0-716380F44C1D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7 · The reply follows the reviewer's decision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124B85-5174-D67A-096B-6E0173A70671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After the correction it asks only about the container count. The facts are locked; only the greeting and closing may be reworded by the model.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6ABA6-EE65-B16B-D125-DB0A3C08B47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32197161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012059-7076-84D1-6C25-AEA6717006E1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166C84-CE33-DADE-B888-0D3CBF4803BF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8 · A scan: transcription is evidence, not a verdict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207DD6-F13D-263C-F33C-12E357153733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No text layer, so Sentinel did not decide. The model's transcription is shown for the reviewer to check against the image; here it misread 'AL GURG' as 'ALGURG' on the BL - which is exactly why a person ticks what was verified.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26B0-6646-5D6E-9BFB-3E15C7C0FC8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B41C58-48D3-7259-2D31-205140BA90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498600"/>
            <a:ext cx="5410200" cy="3381375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698451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DC27FB-2995-B15F-A030-C62D1B1E3262}"/>
              </a:ext>
            </a:extLst>
          </p:cNvPr>
          <p:cNvSpPr txBox="1"/>
          <p:nvPr/>
        </p:nvSpPr>
        <p:spPr>
          <a:xfrm>
            <a:off x="609600" y="203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50" b="1">
                <a:solidFill>
                  <a:srgbClr val="8F5A20"/>
                </a:solidFill>
                <a:latin typeface="Calibri" panose="020F0502020204030204" pitchFamily="34" charset="0"/>
              </a:rPr>
              <a:t>DEMO BACKUP - SHOWN ONLY IF THE LIVE DEMO CANNOT RUN</a:t>
            </a:r>
            <a:endParaRPr lang="en-MY" sz="950" b="1">
              <a:solidFill>
                <a:srgbClr val="8F5A20"/>
              </a:solidFill>
              <a:latin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B2197-5794-EFF1-0C0E-EB06FA0502F7}"/>
              </a:ext>
            </a:extLst>
          </p:cNvPr>
          <p:cNvSpPr txBox="1"/>
          <p:nvPr/>
        </p:nvSpPr>
        <p:spPr>
          <a:xfrm>
            <a:off x="609600" y="40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b="1">
                <a:solidFill>
                  <a:srgbClr val="182335"/>
                </a:solidFill>
                <a:latin typeface="Georgia" panose="02040502050405020303" pitchFamily="18" charset="0"/>
              </a:rPr>
              <a:t>9 · Amended documents, the same check again</a:t>
            </a:r>
            <a:endParaRPr lang="en-MY" sz="2200" b="1">
              <a:solidFill>
                <a:srgbClr val="182335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5FA0E-E75C-B90C-8413-915EDB06291F}"/>
              </a:ext>
            </a:extLst>
          </p:cNvPr>
          <p:cNvSpPr txBox="1"/>
          <p:nvPr/>
        </p:nvSpPr>
        <p:spPr>
          <a:xfrm>
            <a:off x="609600" y="86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5B6577"/>
                </a:solidFill>
                <a:latin typeface="Calibri" panose="020F0502020204030204" pitchFamily="34" charset="0"/>
              </a:rPr>
              <a:t>An email whose attachments were dropped: the amended pair is attached on the case, the check runs again, and the earlier result stays on record as version 1.</a:t>
            </a:r>
            <a:endParaRPr lang="en-MY" sz="1200">
              <a:solidFill>
                <a:srgbClr val="5B6577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69C972-1CA5-FB53-2DB9-2523A0939E1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397000"/>
            <a:ext cx="8331200" cy="5207000"/>
          </a:xfrm>
          <a:prstGeom prst="rect">
            <a:avLst/>
          </a:prstGeom>
          <a:ln w="9525">
            <a:solidFill>
              <a:srgbClr val="E3DAC3"/>
            </a:solidFill>
          </a:ln>
        </p:spPr>
      </p:pic>
    </p:spTree>
    <p:extLst>
      <p:ext uri="{BB962C8B-B14F-4D97-AF65-F5344CB8AC3E}">
        <p14:creationId xmlns:p14="http://schemas.microsoft.com/office/powerpoint/2010/main" val="13825747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3135</Words>
  <Application>Microsoft Office PowerPoint</Application>
  <PresentationFormat>Custom</PresentationFormat>
  <Paragraphs>222</Paragraphs>
  <Slides>16</Slides>
  <Notes>16</Notes>
  <HiddenSlides>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2026-09-25T08:56:31Z</dcterms:created>
  <dcterms:modified xsi:type="dcterms:W3CDTF">2026-09-25T08:56:31Z</dcterms:modified>
</cp:coreProperties>
</file>