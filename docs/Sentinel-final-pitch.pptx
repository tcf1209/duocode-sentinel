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316BB7-5E31-4CCC-B323-8694A95F9BAF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504B8-38C1-4AFD-A75D-4C5F5A4A837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13259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0:00-0:15</a:t>
            </a:r>
          </a:p>
          <a:p>
            <a:endParaRPr lang="en-US"/>
          </a:p>
          <a:p>
            <a:r>
              <a:rPr lang="en-US"/>
              <a:t>Good morning. We're DuoCode - I'm Yee Teng, this is Chye Fong. A checker that is confidently wrong is worse than none: nobody goes back to look. So Sentinel has one rule - it never reports a discrepancy it cannot prove.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722896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0:15-0:50</a:t>
            </a:r>
          </a:p>
          <a:p>
            <a:endParaRPr lang="en-US"/>
          </a:p>
          <a:p>
            <a:r>
              <a:rPr lang="en-US"/>
              <a:t>Why we built it. A shipping desk gets five kinds of email in one inbox. For every document check, a clerk compares the Shipping Instruction with the draft Bill of Lading - seven fields, manually. Our own estimate: about four minutes a pair. Miss one field and it becomes a correction, a delay, rework. And sometimes the check can't be done - a scan with no text, a blank field, the wrong document. That has to go to a person with the reason, not be guessed. Chye Fong.</a:t>
            </a:r>
          </a:p>
          <a:p>
            <a:endParaRPr lang="en-US"/>
          </a:p>
          <a:p>
            <a:r>
              <a:rPr lang="en-US"/>
              <a:t>(Do NOT say eleven hours here - it is said once, live, on the Before Sentinel view.)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80289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· 0:50-1:50</a:t>
            </a:r>
          </a:p>
          <a:p>
            <a:endParaRPr lang="en-US"/>
          </a:p>
          <a:p>
            <a:r>
              <a:rPr lang="en-US"/>
              <a:t>Six stages, one direction. The unusual one is the gate: it runs after the comparison and can overrule it. If a value can't be found again in its own document, we don't report a discrepancy - we escalate. Three decisions, each with a cost. One: values are compared exactly, never by similarity - this data has APRIL FINE PAPER TRADING, and the same name with MIDDLE EAST: two different companies. Our cost: sometimes a person checks a pair that was fine. The alternative's cost: a wrong Bill of Lading, cleared silently. Two: rules first, the model only where rules can't read - and every case records which one answered. Three: one stateless library - the API, the command line and the tests run the same code. So scaling is more copies; state sits behind one class, and a database is a one-file change. Let's watch it run.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647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drives the laptop for the whole demo. Full click-by-click script: docs/PITCH_DAY.md, 'The ten minutes'.</a:t>
            </a:r>
          </a:p>
          <a:p>
            <a:endParaRPr lang="en-US"/>
          </a:p>
          <a:p>
            <a:r>
              <a:rPr lang="en-US"/>
              <a:t>1:50-2:40 (B) Run the inbox, model tier TICKED. 2:40-3:00 (B) Before / With Sentinel. 3:00-3:50 (B) email_004 through the stages, open '1 note from Sentinel'. 3:50-4:50 (B) Compare, 'Labels we have never seen', off then on - say 168 -&gt; 2 here.</a:t>
            </a:r>
          </a:p>
          <a:p>
            <a:endParaRPr lang="en-US"/>
          </a:p>
          <a:p>
            <a:r>
              <a:rPr lang="en-US"/>
              <a:t>4:50-7:55 (A speaks, B clicks) Patterns -&gt; email_031 -&gt; history, View original, Edit BL gross weight, Draft reply; email_512 scan transcription; email_506 re-check; one sentence on common alternatives.</a:t>
            </a:r>
          </a:p>
          <a:p>
            <a:endParaRPr lang="en-US"/>
          </a:p>
          <a:p>
            <a:r>
              <a:rPr lang="en-US"/>
              <a:t>Checkpoints: run page done by 2:40 · handover to A by 4:55 · re-check done by 7:45.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877371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· 7:55-8:50</a:t>
            </a:r>
          </a:p>
          <a:p>
            <a:endParaRPr lang="en-US"/>
          </a:p>
          <a:p>
            <a:r>
              <a:rPr lang="en-US"/>
              <a:t>What a demo can't show: how we know it holds. 1.0000 on the organisers' scorer - and on three more datasets from seeds we never developed against. But a perfect score on the data you were handed doesn't prove the reader works. So we damaged our own documents: sixteen kinds of damage, 3,008 documents, no answer key. Thirteen change nothing; under OCR damage, silently wrong values went from 982 to zero. Then real documents from outside that data - carrier forms, scans, fourteen thousand emails. It can't read most real layouts yet, and it made zero wrong automatic decisions: what it couldn't read went to a person. 757 tests on every push to main. And the one we haven't fixed is on the slide - a defect we hide is worse than one we miss. Yee Teng.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514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8:50-9:45</a:t>
            </a:r>
          </a:p>
          <a:p>
            <a:endParaRPr lang="en-US"/>
          </a:p>
          <a:p>
            <a:r>
              <a:rPr lang="en-US"/>
              <a:t>Impact. The first user is one documentation desk - the inbox already carries four desk codes. Sentinel runs beside that desk's existing check until three numbers hold: the escalation rate - nine percent today, every one correct; false discrepancies - zero of forty-six; and reviewer minutes per escalation - which the pilot is there to measure. Cost: on this inbox the rules decide every email, so a run costs nothing; where the model is needed it's about a tenth of a cent per document, with a two-dollar cap per run. Next, in order: per-desk rules; confirmed reviewer corrections feed the label table - the one place this system should learn; then the database. And two items from our round-one roadmap - pattern alerts and cost at volume - are already built.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29410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9:45-10:00</a:t>
            </a:r>
          </a:p>
          <a:p>
            <a:endParaRPr lang="en-US"/>
          </a:p>
          <a:p>
            <a:r>
              <a:rPr lang="en-US"/>
              <a:t>Sentinel, by DuoCode. The whole inbox, live on the cloud; the model where rules can't read; a person in charge of anything it can't prove. Every answer comes with its evidence. Thank you.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6027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5909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080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983664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729017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310762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419138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518320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927911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504B8-38C1-4AFD-A75D-4C5F5A4A8373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56864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57E37-B10E-DD3B-4241-1B634834F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B2755-BC03-3836-C4CB-A233443C6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C1272-9CB5-C2BD-321F-9F5D8260E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80192-338B-BCA0-B664-879ECEE64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D496A-3AB9-9460-DD13-26DE872C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03014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7F221-D6F1-F5BD-B485-1420CABFD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2445E-7625-4CB1-6F93-06822A8F8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C0479-D00D-AF78-2BE5-88313FC5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C773B-B71D-E1C3-EECD-B75F23E60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4B0A-0D6E-4154-1B7B-C487DE762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10216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1004A-6C3C-1552-C376-1D95B027E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CA246-9866-1776-7529-E05C081C6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1898D-CA42-EE77-4A8A-1EE0459D4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39384-DFFB-AC13-237D-96DD99344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18AF-F5C8-F498-D690-BFEDE261F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2832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534C-27E7-7C8A-AD81-F5BC73B4E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AF122-D526-9E33-A2BC-D82D966A3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ACB999-EE46-44F2-9EC2-FAD90DA2B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94A4-CF07-E1B4-77CB-BC05FE6E6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57C21-A91D-63A5-6B7C-91C4A819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F531-F1A4-ABC1-1704-A3847C593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40083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6174-9055-FE94-8CA9-65BEF96DA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8CB0A-9428-30CF-CC63-EF17FFF08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6942A-C48B-406F-DE57-EF88C260E7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A94D13-F944-F747-E0D4-158A837117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C31968-970F-A839-2343-B9A27AD22A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0100B7-9661-6FD8-58C8-BC0E23FE7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C57016-71B3-09C0-EF43-756D620B4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FE3737-E3D7-E5EE-C6EE-15EE83FA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75137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F2080-E329-DF12-FCCE-BF8069BB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CAE707-01C8-A50B-04E4-2E2ADD8E4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DC4964-BA24-2D0F-8850-6EB594531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6561A2-FB4F-ADA7-C494-87A13A650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954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E972ED-0F14-FB32-FEED-C79F70BA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D7C80-6EBF-449F-1610-3C0C2EC8D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CD055-969A-22F9-7874-7F9F1F787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60051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911EA-1934-654D-247C-2EEB5E9AB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BC78-D24F-2541-0EA1-6639B3408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75494-70BD-45CC-EED7-1B509E67A8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24E9BB-2659-B0AB-D2A4-F426EE379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5715F5-AE7A-6603-0DBA-F869ACAAA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303AF3-31BF-D591-C01A-DD1B90395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2778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B7B5-C918-DC75-EC23-ED81BA781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72B221-8D95-AC60-51EA-3B81FD588E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8D03-E87D-B391-DF38-3E27C9BB4B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292DA-BCC7-98EC-5F2C-7468A9EBF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E406B4-50A8-31A1-B208-D291E6F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C8570E-4488-69B5-FB14-F2E1B79BB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34739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94DA1-2A71-E3E7-DE83-A22412CE4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B220B-3FA9-30D4-B53C-B5C2206738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E7B82-14F2-32CC-318A-E913FDEDA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85E4A-6A1A-BE81-9E70-98B4A0A72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742E4-C890-C7F9-D3EA-8E91C3E09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43920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A5452-475F-323A-D2A0-7C98846742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DEFEB6-8208-6616-CDD5-D554489222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59082-30F6-7345-85EA-72AAB274C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4E766-792F-F0DB-BC5D-15A4AFE80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60383-04C0-246E-7FC6-E287E540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5141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CCE1FE-4E76-6496-A96F-FFD0C12AD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003300-1D5D-38A4-DC9A-885FEA049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53842-0324-86FF-9376-823553AE5E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15367-B8E9-484C-884D-6E7ED913D80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B01D7-2BEA-D5F1-4F38-E9D5FCD33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148B6-9646-7848-65C2-B8BD37DA2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222CF7-223A-47AD-92ED-87FC5C2ABCE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65613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0F6EE6-11E6-FE3D-8F94-22EDD0169623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DE4617-0BC4-4D5F-73A6-B0A6E8092C0B}"/>
              </a:ext>
            </a:extLst>
          </p:cNvPr>
          <p:cNvSpPr txBox="1"/>
          <p:nvPr/>
        </p:nvSpPr>
        <p:spPr>
          <a:xfrm>
            <a:off x="609600" y="1498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800" b="1">
                <a:solidFill>
                  <a:srgbClr val="182335"/>
                </a:solidFill>
                <a:latin typeface="Georgia" panose="02040502050405020303" pitchFamily="18" charset="0"/>
              </a:rPr>
              <a:t>Sentinel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A5F15-ED89-8803-B685-9274A9254AEA}"/>
              </a:ext>
            </a:extLst>
          </p:cNvPr>
          <p:cNvSpPr txBox="1"/>
          <p:nvPr/>
        </p:nvSpPr>
        <p:spPr>
          <a:xfrm>
            <a:off x="609600" y="24892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>
                <a:solidFill>
                  <a:srgbClr val="8F5A20"/>
                </a:solidFill>
                <a:latin typeface="Georgia" panose="02040502050405020303" pitchFamily="18" charset="0"/>
              </a:rPr>
              <a:t>Every answer comes with its evidence.</a:t>
            </a:r>
            <a:endParaRPr lang="en-MY" sz="2500">
              <a:solidFill>
                <a:srgbClr val="8F5A20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672AE1-5465-712E-6E8B-028691E66778}"/>
              </a:ext>
            </a:extLst>
          </p:cNvPr>
          <p:cNvSpPr txBox="1"/>
          <p:nvPr/>
        </p:nvSpPr>
        <p:spPr>
          <a:xfrm>
            <a:off x="609600" y="3581400"/>
            <a:ext cx="533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50">
                <a:solidFill>
                  <a:srgbClr val="5B6577"/>
                </a:solidFill>
                <a:latin typeface="Calibri" panose="020F0502020204030204" pitchFamily="34" charset="0"/>
              </a:rPr>
              <a:t>A document checker that is confidently wrong is worse than none: nobody goes back to look. Sentinel never reports a discrepancy it cannot prove.</a:t>
            </a:r>
            <a:endParaRPr lang="en-MY" sz="14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B5E27A-30D2-048D-4727-F3283D090896}"/>
              </a:ext>
            </a:extLst>
          </p:cNvPr>
          <p:cNvSpPr/>
          <p:nvPr/>
        </p:nvSpPr>
        <p:spPr>
          <a:xfrm>
            <a:off x="609600" y="4724400"/>
            <a:ext cx="762000" cy="38100"/>
          </a:xfrm>
          <a:prstGeom prst="rect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76A6F0-443A-3722-8E71-2E2796C60832}"/>
              </a:ext>
            </a:extLst>
          </p:cNvPr>
          <p:cNvSpPr txBox="1"/>
          <p:nvPr/>
        </p:nvSpPr>
        <p:spPr>
          <a:xfrm>
            <a:off x="609600" y="4927600"/>
            <a:ext cx="533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Calibri" panose="020F0502020204030204" pitchFamily="34" charset="0"/>
              </a:rPr>
              <a:t>DuoCode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F3FB83-A131-1101-4E87-F1E5C219CE14}"/>
              </a:ext>
            </a:extLst>
          </p:cNvPr>
          <p:cNvSpPr txBox="1"/>
          <p:nvPr/>
        </p:nvSpPr>
        <p:spPr>
          <a:xfrm>
            <a:off x="609600" y="51816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82335"/>
                </a:solidFill>
                <a:latin typeface="Calibri" panose="020F0502020204030204" pitchFamily="34" charset="0"/>
              </a:rPr>
              <a:t>Lim Yee Teng  ·  Tang Chye Fong  ·  Asia Pacific University</a:t>
            </a:r>
            <a:endParaRPr lang="en-MY" sz="13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180114-CA26-014F-B4E1-9D2AB5620131}"/>
              </a:ext>
            </a:extLst>
          </p:cNvPr>
          <p:cNvSpPr txBox="1"/>
          <p:nvPr/>
        </p:nvSpPr>
        <p:spPr>
          <a:xfrm>
            <a:off x="609600" y="55880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50">
                <a:solidFill>
                  <a:srgbClr val="8F5A20"/>
                </a:solidFill>
                <a:latin typeface="Calibri" panose="020F0502020204030204" pitchFamily="34" charset="0"/>
              </a:rPr>
              <a:t>duocode-sentinel.vercel.app</a:t>
            </a:r>
          </a:p>
          <a:p>
            <a:r>
              <a:rPr lang="en-MY" sz="1250">
                <a:solidFill>
                  <a:srgbClr val="8F5A20"/>
                </a:solidFill>
                <a:latin typeface="Calibri" panose="020F0502020204030204" pitchFamily="34" charset="0"/>
              </a:rPr>
              <a:t>github.com/TCF1209/duocode-sentinel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35979E9-DA74-04FC-CA6C-BBE3654859B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219200"/>
            <a:ext cx="5105400" cy="31908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756EE-CB00-E467-7DB3-4733690E5838}"/>
              </a:ext>
            </a:extLst>
          </p:cNvPr>
          <p:cNvSpPr txBox="1"/>
          <p:nvPr/>
        </p:nvSpPr>
        <p:spPr>
          <a:xfrm>
            <a:off x="6477000" y="4521200"/>
            <a:ext cx="5105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5B6577"/>
                </a:solidFill>
                <a:latin typeface="Calibri" panose="020F0502020204030204" pitchFamily="34" charset="0"/>
              </a:rPr>
              <a:t>The organisers' 520-email inbox, run live on the deployed site.</a:t>
            </a:r>
            <a:endParaRPr lang="en-MY" sz="10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0830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C04498-777F-12CA-4B08-880883D1F1E5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WHY WE BUILT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BCD4A7-939E-C1FC-CE61-75DEF0BCF792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Four things the desk needs - the fourth matters most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747B1B-EB3D-A5DB-3A3A-31E1C6450A8D}"/>
              </a:ext>
            </a:extLst>
          </p:cNvPr>
          <p:cNvSpPr/>
          <p:nvPr/>
        </p:nvSpPr>
        <p:spPr>
          <a:xfrm>
            <a:off x="609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D854226-F6EA-7251-C278-7AA77D64AB78}"/>
              </a:ext>
            </a:extLst>
          </p:cNvPr>
          <p:cNvSpPr/>
          <p:nvPr/>
        </p:nvSpPr>
        <p:spPr>
          <a:xfrm>
            <a:off x="787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B0001F-DDBA-641B-9CB6-13A435C6AB43}"/>
              </a:ext>
            </a:extLst>
          </p:cNvPr>
          <p:cNvSpPr txBox="1"/>
          <p:nvPr/>
        </p:nvSpPr>
        <p:spPr>
          <a:xfrm>
            <a:off x="1295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Classify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5057E-BC82-44B5-50E1-5E3249B44160}"/>
              </a:ext>
            </a:extLst>
          </p:cNvPr>
          <p:cNvSpPr txBox="1"/>
          <p:nvPr/>
        </p:nvSpPr>
        <p:spPr>
          <a:xfrm>
            <a:off x="787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82335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1BE3085-D73A-589A-2863-DF3A195840F4}"/>
              </a:ext>
            </a:extLst>
          </p:cNvPr>
          <p:cNvSpPr/>
          <p:nvPr/>
        </p:nvSpPr>
        <p:spPr>
          <a:xfrm>
            <a:off x="3403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008191-5087-9470-16EA-31E31885BC61}"/>
              </a:ext>
            </a:extLst>
          </p:cNvPr>
          <p:cNvSpPr/>
          <p:nvPr/>
        </p:nvSpPr>
        <p:spPr>
          <a:xfrm>
            <a:off x="3581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247215-8C45-05AF-013C-F1D6D0A2C509}"/>
              </a:ext>
            </a:extLst>
          </p:cNvPr>
          <p:cNvSpPr txBox="1"/>
          <p:nvPr/>
        </p:nvSpPr>
        <p:spPr>
          <a:xfrm>
            <a:off x="4089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Extract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8D5800-2C8A-B465-F061-2DCB71925369}"/>
              </a:ext>
            </a:extLst>
          </p:cNvPr>
          <p:cNvSpPr txBox="1"/>
          <p:nvPr/>
        </p:nvSpPr>
        <p:spPr>
          <a:xfrm>
            <a:off x="3581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D13F42-6174-EFDF-D9D1-1ED860211CB4}"/>
              </a:ext>
            </a:extLst>
          </p:cNvPr>
          <p:cNvSpPr/>
          <p:nvPr/>
        </p:nvSpPr>
        <p:spPr>
          <a:xfrm>
            <a:off x="6197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9F04F9-398D-39BF-7184-ACEB32BE723C}"/>
              </a:ext>
            </a:extLst>
          </p:cNvPr>
          <p:cNvSpPr/>
          <p:nvPr/>
        </p:nvSpPr>
        <p:spPr>
          <a:xfrm>
            <a:off x="6375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227D6A-DBB7-FEE2-6E56-86277E0B3EF8}"/>
              </a:ext>
            </a:extLst>
          </p:cNvPr>
          <p:cNvSpPr txBox="1"/>
          <p:nvPr/>
        </p:nvSpPr>
        <p:spPr>
          <a:xfrm>
            <a:off x="6883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Compare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9400D9-8223-F9B7-AB4C-B43E7570018D}"/>
              </a:ext>
            </a:extLst>
          </p:cNvPr>
          <p:cNvSpPr txBox="1"/>
          <p:nvPr/>
        </p:nvSpPr>
        <p:spPr>
          <a:xfrm>
            <a:off x="6375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0A23381-BB4D-5F0C-09BE-25E044A48C35}"/>
              </a:ext>
            </a:extLst>
          </p:cNvPr>
          <p:cNvSpPr/>
          <p:nvPr/>
        </p:nvSpPr>
        <p:spPr>
          <a:xfrm>
            <a:off x="8991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5E7CE"/>
          </a:solidFill>
          <a:ln w="9525">
            <a:solidFill>
              <a:srgbClr val="A963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97863E-A63D-9BF0-B5DD-3EF548366985}"/>
              </a:ext>
            </a:extLst>
          </p:cNvPr>
          <p:cNvSpPr/>
          <p:nvPr/>
        </p:nvSpPr>
        <p:spPr>
          <a:xfrm>
            <a:off x="9169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894D31-169F-B8F1-B554-89A82FE38073}"/>
              </a:ext>
            </a:extLst>
          </p:cNvPr>
          <p:cNvSpPr txBox="1"/>
          <p:nvPr/>
        </p:nvSpPr>
        <p:spPr>
          <a:xfrm>
            <a:off x="9677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Ask for help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3576D7-7DC8-ED05-D4AD-FF8DF7F0D66C}"/>
              </a:ext>
            </a:extLst>
          </p:cNvPr>
          <p:cNvSpPr txBox="1"/>
          <p:nvPr/>
        </p:nvSpPr>
        <p:spPr>
          <a:xfrm>
            <a:off x="9169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17D8C7-2759-4ACA-DC26-416EDA02BE91}"/>
              </a:ext>
            </a:extLst>
          </p:cNvPr>
          <p:cNvSpPr txBox="1"/>
          <p:nvPr/>
        </p:nvSpPr>
        <p:spPr>
          <a:xfrm>
            <a:off x="609600" y="33528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5B6577"/>
                </a:solidFill>
                <a:latin typeface="Calibri" panose="020F0502020204030204" pitchFamily="34" charset="0"/>
              </a:rPr>
              <a:t>The problem statement's four capabilities, in its own words.</a:t>
            </a:r>
            <a:endParaRPr lang="en-MY" sz="10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D4918-5D1C-8A18-851E-CC2EABC57B8B}"/>
              </a:ext>
            </a:extLst>
          </p:cNvPr>
          <p:cNvSpPr txBox="1"/>
          <p:nvPr/>
        </p:nvSpPr>
        <p:spPr>
          <a:xfrm>
            <a:off x="6096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~4 min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949082-6B1D-024D-9BC5-0F24E1FF61A1}"/>
              </a:ext>
            </a:extLst>
          </p:cNvPr>
          <p:cNvSpPr txBox="1"/>
          <p:nvPr/>
        </p:nvSpPr>
        <p:spPr>
          <a:xfrm>
            <a:off x="6096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to check one SI/BL pair manually - seven fields, two documents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44FA00-628C-7037-E920-8F2BC7E3D726}"/>
              </a:ext>
            </a:extLst>
          </p:cNvPr>
          <p:cNvSpPr txBox="1"/>
          <p:nvPr/>
        </p:nvSpPr>
        <p:spPr>
          <a:xfrm>
            <a:off x="43434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~20 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7D81F0-6D54-5BC4-8AC4-D550130E97C9}"/>
              </a:ext>
            </a:extLst>
          </p:cNvPr>
          <p:cNvSpPr txBox="1"/>
          <p:nvPr/>
        </p:nvSpPr>
        <p:spPr>
          <a:xfrm>
            <a:off x="43434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to triage one email in a shared inbox of five kinds of mail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5952D6-33DB-D1F3-80BD-DFF8DD98CACB}"/>
              </a:ext>
            </a:extLst>
          </p:cNvPr>
          <p:cNvSpPr txBox="1"/>
          <p:nvPr/>
        </p:nvSpPr>
        <p:spPr>
          <a:xfrm>
            <a:off x="80772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1 field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DAB176-70CB-2671-FCEA-2100B7C523C5}"/>
              </a:ext>
            </a:extLst>
          </p:cNvPr>
          <p:cNvSpPr txBox="1"/>
          <p:nvPr/>
        </p:nvSpPr>
        <p:spPr>
          <a:xfrm>
            <a:off x="80772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missed becomes a correction, a delay, rework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CDF38-42C7-8A8F-AF56-841294CE04DD}"/>
              </a:ext>
            </a:extLst>
          </p:cNvPr>
          <p:cNvSpPr txBox="1"/>
          <p:nvPr/>
        </p:nvSpPr>
        <p:spPr>
          <a:xfrm>
            <a:off x="609600" y="4775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5B6577"/>
                </a:solidFill>
                <a:latin typeface="Calibri" panose="020F0502020204030204" pitchFamily="34" charset="0"/>
              </a:rPr>
              <a:t>Our own estimate, not a measurement.</a:t>
            </a:r>
            <a:endParaRPr lang="en-MY" sz="10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1B74873-D35D-13DE-3AE4-F46148BC18E1}"/>
              </a:ext>
            </a:extLst>
          </p:cNvPr>
          <p:cNvSpPr/>
          <p:nvPr/>
        </p:nvSpPr>
        <p:spPr>
          <a:xfrm>
            <a:off x="609600" y="5130800"/>
            <a:ext cx="10972800" cy="889000"/>
          </a:xfrm>
          <a:prstGeom prst="roundRect">
            <a:avLst>
              <a:gd name="adj" fmla="val 12000"/>
            </a:avLst>
          </a:prstGeom>
          <a:solidFill>
            <a:srgbClr val="F5E7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2D33D7-3A9C-FACF-6FEF-0356131BB8C2}"/>
              </a:ext>
            </a:extLst>
          </p:cNvPr>
          <p:cNvSpPr txBox="1"/>
          <p:nvPr/>
        </p:nvSpPr>
        <p:spPr>
          <a:xfrm>
            <a:off x="838200" y="5257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A9631B"/>
                </a:solidFill>
                <a:latin typeface="Calibri" panose="020F0502020204030204" pitchFamily="34" charset="0"/>
              </a:rPr>
              <a:t>The fourth case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54774-435D-FB83-104E-03039E28335C}"/>
              </a:ext>
            </a:extLst>
          </p:cNvPr>
          <p:cNvSpPr txBox="1"/>
          <p:nvPr/>
        </p:nvSpPr>
        <p:spPr>
          <a:xfrm>
            <a:off x="838200" y="5511800"/>
            <a:ext cx="10515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82335"/>
                </a:solidFill>
                <a:latin typeface="Calibri" panose="020F0502020204030204" pitchFamily="34" charset="0"/>
              </a:rPr>
              <a:t>Sometimes the check cannot be done: a scan with no text layer, a blank field, the wrong document. That goes to a person with the reason and the next step. It is never guessed.</a:t>
            </a:r>
            <a:endParaRPr lang="en-MY" sz="13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25B8D0-5887-11C8-AF87-E46B025E8F99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5 · SOLUTION EFFECTIVENESS &amp; USER VALUE · 10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2291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CB9B69-FDEB-1268-797B-EDA9929A163A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HOW IT DECIDES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C15EED-B6C7-2BD5-AEC6-5CFC60568972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Six stages, one direction - and a gate that can say no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E6A80E-7DF5-CA65-5AB9-21B3D4E67274}"/>
              </a:ext>
            </a:extLst>
          </p:cNvPr>
          <p:cNvSpPr/>
          <p:nvPr/>
        </p:nvSpPr>
        <p:spPr>
          <a:xfrm>
            <a:off x="6604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1  Classify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DE6DBF9-087D-96DF-42F9-8CC511AE2C22}"/>
              </a:ext>
            </a:extLst>
          </p:cNvPr>
          <p:cNvCxnSpPr/>
          <p:nvPr/>
        </p:nvCxnSpPr>
        <p:spPr>
          <a:xfrm>
            <a:off x="22606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55BB00-F3EB-658B-D59C-E07A648199E7}"/>
              </a:ext>
            </a:extLst>
          </p:cNvPr>
          <p:cNvSpPr/>
          <p:nvPr/>
        </p:nvSpPr>
        <p:spPr>
          <a:xfrm>
            <a:off x="24892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2  Intake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5797BD-90D1-5B02-BBC3-4A9A1CFA90E5}"/>
              </a:ext>
            </a:extLst>
          </p:cNvPr>
          <p:cNvCxnSpPr/>
          <p:nvPr/>
        </p:nvCxnSpPr>
        <p:spPr>
          <a:xfrm>
            <a:off x="40894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C505F8-D332-A18D-612C-B8D052A43382}"/>
              </a:ext>
            </a:extLst>
          </p:cNvPr>
          <p:cNvSpPr/>
          <p:nvPr/>
        </p:nvSpPr>
        <p:spPr>
          <a:xfrm>
            <a:off x="43180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3  Extract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83C409-6646-3523-B7CA-502165C95F06}"/>
              </a:ext>
            </a:extLst>
          </p:cNvPr>
          <p:cNvCxnSpPr/>
          <p:nvPr/>
        </p:nvCxnSpPr>
        <p:spPr>
          <a:xfrm>
            <a:off x="59182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6FABD2-9E14-0645-A398-DC55BB61AA8F}"/>
              </a:ext>
            </a:extLst>
          </p:cNvPr>
          <p:cNvSpPr/>
          <p:nvPr/>
        </p:nvSpPr>
        <p:spPr>
          <a:xfrm>
            <a:off x="61468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4  Compare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55AA-FDA3-DFDE-1207-8C2953EDB57F}"/>
              </a:ext>
            </a:extLst>
          </p:cNvPr>
          <p:cNvCxnSpPr/>
          <p:nvPr/>
        </p:nvCxnSpPr>
        <p:spPr>
          <a:xfrm>
            <a:off x="77470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357378F-D03A-24FC-1C25-72991D6AC938}"/>
              </a:ext>
            </a:extLst>
          </p:cNvPr>
          <p:cNvSpPr/>
          <p:nvPr/>
        </p:nvSpPr>
        <p:spPr>
          <a:xfrm>
            <a:off x="79756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Georgia" panose="02040502050405020303" pitchFamily="18" charset="0"/>
              </a:rPr>
              <a:t>5  Evidence gate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1CFCE1-8519-63B3-E9A2-0268970E91AA}"/>
              </a:ext>
            </a:extLst>
          </p:cNvPr>
          <p:cNvCxnSpPr/>
          <p:nvPr/>
        </p:nvCxnSpPr>
        <p:spPr>
          <a:xfrm>
            <a:off x="95758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A537C4-AB81-9519-AD22-E868E1B46A2B}"/>
              </a:ext>
            </a:extLst>
          </p:cNvPr>
          <p:cNvSpPr/>
          <p:nvPr/>
        </p:nvSpPr>
        <p:spPr>
          <a:xfrm>
            <a:off x="98044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6  Decide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CE59FF6-6227-95F3-1CFF-5DED1CEBA4BF}"/>
              </a:ext>
            </a:extLst>
          </p:cNvPr>
          <p:cNvCxnSpPr/>
          <p:nvPr/>
        </p:nvCxnSpPr>
        <p:spPr>
          <a:xfrm flipH="1">
            <a:off x="6934200" y="1397000"/>
            <a:ext cx="1828800" cy="0"/>
          </a:xfrm>
          <a:prstGeom prst="line">
            <a:avLst/>
          </a:prstGeom>
          <a:ln w="19050">
            <a:solidFill>
              <a:srgbClr val="A9631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34C05D5-4499-E135-470F-D51592E471EA}"/>
              </a:ext>
            </a:extLst>
          </p:cNvPr>
          <p:cNvSpPr txBox="1"/>
          <p:nvPr/>
        </p:nvSpPr>
        <p:spPr>
          <a:xfrm>
            <a:off x="6934200" y="1168400"/>
            <a:ext cx="182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 b="1">
                <a:solidFill>
                  <a:srgbClr val="A9631B"/>
                </a:solidFill>
                <a:latin typeface="Calibri" panose="020F0502020204030204" pitchFamily="34" charset="0"/>
              </a:rPr>
              <a:t>can overrule the comparison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7E1BFC-40C3-034E-4526-DB6FBEB9977B}"/>
              </a:ext>
            </a:extLst>
          </p:cNvPr>
          <p:cNvSpPr txBox="1"/>
          <p:nvPr/>
        </p:nvSpPr>
        <p:spPr>
          <a:xfrm>
            <a:off x="9423400" y="2133600"/>
            <a:ext cx="208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>
                <a:solidFill>
                  <a:srgbClr val="5B6577"/>
                </a:solidFill>
                <a:latin typeface="Calibri" panose="020F0502020204030204" pitchFamily="34" charset="0"/>
              </a:rPr>
              <a:t>No discrepancy · Discrepancy · Escalated + reason</a:t>
            </a:r>
            <a:endParaRPr lang="en-MY" sz="9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196A68-98FE-4BEA-AE8A-118D0C696119}"/>
              </a:ext>
            </a:extLst>
          </p:cNvPr>
          <p:cNvSpPr/>
          <p:nvPr/>
        </p:nvSpPr>
        <p:spPr>
          <a:xfrm>
            <a:off x="660400" y="2209800"/>
            <a:ext cx="5232400" cy="508000"/>
          </a:xfrm>
          <a:prstGeom prst="roundRect">
            <a:avLst>
              <a:gd name="adj" fmla="val 20000"/>
            </a:avLst>
          </a:prstGeom>
          <a:solidFill>
            <a:srgbClr val="EEE9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3C1D1D-5222-0BDA-28A5-6A68DCFB1907}"/>
              </a:ext>
            </a:extLst>
          </p:cNvPr>
          <p:cNvSpPr txBox="1"/>
          <p:nvPr/>
        </p:nvSpPr>
        <p:spPr>
          <a:xfrm>
            <a:off x="787400" y="2260600"/>
            <a:ext cx="497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00">
                <a:solidFill>
                  <a:srgbClr val="6B4FA0"/>
                </a:solidFill>
                <a:latin typeface="Calibri" panose="020F0502020204030204" pitchFamily="34" charset="0"/>
              </a:rPr>
              <a:t>Model tier (gpt-5-mini, structured output) - only where the rules can't read: an unclear email · a label never seen · a scanned page. Every answer must be found again in the document.</a:t>
            </a:r>
            <a:endParaRPr lang="en-MY" sz="1000">
              <a:solidFill>
                <a:srgbClr val="6B4FA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29DB55B-93FC-BC7E-4B9A-8428D3FB3B0B}"/>
              </a:ext>
            </a:extLst>
          </p:cNvPr>
          <p:cNvSpPr/>
          <p:nvPr/>
        </p:nvSpPr>
        <p:spPr>
          <a:xfrm>
            <a:off x="6096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A169B-8052-D270-754C-EA6967C2DE0B}"/>
              </a:ext>
            </a:extLst>
          </p:cNvPr>
          <p:cNvSpPr txBox="1"/>
          <p:nvPr/>
        </p:nvSpPr>
        <p:spPr>
          <a:xfrm>
            <a:off x="7874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82335"/>
                </a:solidFill>
                <a:latin typeface="Georgia" panose="02040502050405020303" pitchFamily="18" charset="0"/>
              </a:rPr>
              <a:t>Values exactly, never by similarity</a:t>
            </a:r>
            <a:endParaRPr lang="en-MY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DBBA9C-B781-DCB8-2D23-3821C36CC408}"/>
              </a:ext>
            </a:extLst>
          </p:cNvPr>
          <p:cNvSpPr txBox="1"/>
          <p:nvPr/>
        </p:nvSpPr>
        <p:spPr>
          <a:xfrm>
            <a:off x="7874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APRIL FINE PAPER TRADING and APRIL FINE PAPER TRADING (MIDDLE EAST) FZE are two different companies in this data. Labels are matched by meaning; values, exactly.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A24CAE-5B65-2FB9-521C-F328E56C92A9}"/>
              </a:ext>
            </a:extLst>
          </p:cNvPr>
          <p:cNvSpPr txBox="1"/>
          <p:nvPr/>
        </p:nvSpPr>
        <p:spPr>
          <a:xfrm>
            <a:off x="7874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Our cost: sometimes a person checks a pair that was fine. The alternative's cost: a wrong Bill of Lading, cleared silently.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FF38042-5F6D-CB23-2CDC-F3DB97D2D86F}"/>
              </a:ext>
            </a:extLst>
          </p:cNvPr>
          <p:cNvSpPr/>
          <p:nvPr/>
        </p:nvSpPr>
        <p:spPr>
          <a:xfrm>
            <a:off x="43053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99D159-C9A2-5367-DB77-03DD8BDDA682}"/>
              </a:ext>
            </a:extLst>
          </p:cNvPr>
          <p:cNvSpPr txBox="1"/>
          <p:nvPr/>
        </p:nvSpPr>
        <p:spPr>
          <a:xfrm>
            <a:off x="44831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Rules first, model second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C67218-1243-D4EB-0FAF-A749A891EEE8}"/>
              </a:ext>
            </a:extLst>
          </p:cNvPr>
          <p:cNvSpPr txBox="1"/>
          <p:nvPr/>
        </p:nvSpPr>
        <p:spPr>
          <a:xfrm>
            <a:off x="44831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The model is asked only where the rules admit they cannot read, and every case records which one answered.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B9B48F-5AEF-9DE5-530C-A461737AB60B}"/>
              </a:ext>
            </a:extLst>
          </p:cNvPr>
          <p:cNvSpPr txBox="1"/>
          <p:nvPr/>
        </p:nvSpPr>
        <p:spPr>
          <a:xfrm>
            <a:off x="44831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Cost: with the model tier off, a label we have never seen is escalated, not read.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9E46444-6B87-958F-44BF-A0EAEF7EA3C1}"/>
              </a:ext>
            </a:extLst>
          </p:cNvPr>
          <p:cNvSpPr/>
          <p:nvPr/>
        </p:nvSpPr>
        <p:spPr>
          <a:xfrm>
            <a:off x="80010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9DE044-F92D-A548-67F6-FAD77EAA96FC}"/>
              </a:ext>
            </a:extLst>
          </p:cNvPr>
          <p:cNvSpPr txBox="1"/>
          <p:nvPr/>
        </p:nvSpPr>
        <p:spPr>
          <a:xfrm>
            <a:off x="81788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One stateless library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759A37-5FF9-039E-966A-1EE2D3EACA45}"/>
              </a:ext>
            </a:extLst>
          </p:cNvPr>
          <p:cNvSpPr txBox="1"/>
          <p:nvPr/>
        </p:nvSpPr>
        <p:spPr>
          <a:xfrm>
            <a:off x="81788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No web server or database inside the pipeline. The API, the command line and the tests run the same code, so what is scored is what you see.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0FCECD4-5097-D72A-4D98-AE4BC20AF120}"/>
              </a:ext>
            </a:extLst>
          </p:cNvPr>
          <p:cNvSpPr txBox="1"/>
          <p:nvPr/>
        </p:nvSpPr>
        <p:spPr>
          <a:xfrm>
            <a:off x="81788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Cost: no database yet - reviews live in memory until the one-file change.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74CD892-82C8-974A-0128-C1680304FC88}"/>
              </a:ext>
            </a:extLst>
          </p:cNvPr>
          <p:cNvSpPr/>
          <p:nvPr/>
        </p:nvSpPr>
        <p:spPr>
          <a:xfrm>
            <a:off x="609600" y="518160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F1ECD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502729-B5C0-0E8B-7531-2ECAB2B5D950}"/>
              </a:ext>
            </a:extLst>
          </p:cNvPr>
          <p:cNvSpPr txBox="1"/>
          <p:nvPr/>
        </p:nvSpPr>
        <p:spPr>
          <a:xfrm>
            <a:off x="812800" y="5283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8F5A20"/>
                </a:solidFill>
                <a:latin typeface="Calibri" panose="020F0502020204030204" pitchFamily="34" charset="0"/>
              </a:rPr>
              <a:t>Deployed and scaling, as built</a:t>
            </a:r>
            <a:endParaRPr lang="en-MY" sz="11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4EFAAA-CCD2-4229-F56D-4E5C96A2B055}"/>
              </a:ext>
            </a:extLst>
          </p:cNvPr>
          <p:cNvSpPr txBox="1"/>
          <p:nvPr/>
        </p:nvSpPr>
        <p:spPr>
          <a:xfrm>
            <a:off x="812800" y="5537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100">
                <a:solidFill>
                  <a:srgbClr val="182335"/>
                </a:solidFill>
                <a:latin typeface="Calibri" panose="020F0502020204030204" pitchFamily="34" charset="0"/>
              </a:rPr>
              <a:t>Vercel (Next.js dashboard)  -&gt;  Render (FastAPI + the pipeline, one Docker container, non-root user)  -&gt;  OpenAI.   Under 3 ms per email on one laptop core. All state sits behind one class (store.py): a database is a one-file change, then throughput is more copies of the same container.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FFC68E-E0DF-6FF6-BE15-0C99CFBC4AC5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2 · ARCHITECTURE &amp; SCALABILITY · 15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825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FF0F79-9FBC-42A5-44FC-0CE1F0EBED65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E0AC5E"/>
                </a:solidFill>
                <a:latin typeface="Calibri" panose="020F0502020204030204" pitchFamily="34" charset="0"/>
              </a:rPr>
              <a:t>LIVE DEMO · 6 MINUTES · ON THE DEPLOYED SITE</a:t>
            </a:r>
            <a:endParaRPr lang="en-MY" sz="95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B61459-9050-4FC4-314D-D4E433F75723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000" b="1">
                <a:solidFill>
                  <a:srgbClr val="EDE7D6"/>
                </a:solidFill>
                <a:latin typeface="Georgia" panose="02040502050405020303" pitchFamily="18" charset="0"/>
              </a:rPr>
              <a:t>What to watch for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9DDB0A-01CD-A1C0-1601-8B258DD5B75C}"/>
              </a:ext>
            </a:extLst>
          </p:cNvPr>
          <p:cNvSpPr/>
          <p:nvPr/>
        </p:nvSpPr>
        <p:spPr>
          <a:xfrm>
            <a:off x="609600" y="1219200"/>
            <a:ext cx="5384800" cy="4572000"/>
          </a:xfrm>
          <a:prstGeom prst="roundRect">
            <a:avLst>
              <a:gd name="adj" fmla="val 4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12A63-94F5-FE3E-3B4E-FF899A024E65}"/>
              </a:ext>
            </a:extLst>
          </p:cNvPr>
          <p:cNvSpPr txBox="1"/>
          <p:nvPr/>
        </p:nvSpPr>
        <p:spPr>
          <a:xfrm>
            <a:off x="838200" y="1397000"/>
            <a:ext cx="495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E0AC5E"/>
                </a:solidFill>
                <a:latin typeface="Calibri" panose="020F0502020204030204" pitchFamily="34" charset="0"/>
              </a:rPr>
              <a:t>Chye Fong  ·  how it works</a:t>
            </a:r>
            <a:endParaRPr lang="en-MY" sz="140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4921ED0-D424-2C0F-9652-F52550CA287A}"/>
              </a:ext>
            </a:extLst>
          </p:cNvPr>
          <p:cNvSpPr/>
          <p:nvPr/>
        </p:nvSpPr>
        <p:spPr>
          <a:xfrm>
            <a:off x="838200" y="18542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14DE6F-7A49-8392-3EEC-D9EC237C1802}"/>
              </a:ext>
            </a:extLst>
          </p:cNvPr>
          <p:cNvSpPr txBox="1"/>
          <p:nvPr/>
        </p:nvSpPr>
        <p:spPr>
          <a:xfrm>
            <a:off x="1320800" y="18415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The whole inbox - 520 emails, model tier on, live on the cloud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A0D9C-900D-36F6-F0F5-9A0200AB5F21}"/>
              </a:ext>
            </a:extLst>
          </p:cNvPr>
          <p:cNvSpPr txBox="1"/>
          <p:nvPr/>
        </p:nvSpPr>
        <p:spPr>
          <a:xfrm>
            <a:off x="1320800" y="23114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End-to-end · Technology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6388B12-DC7D-2DB7-EB93-93BEE9BB0B21}"/>
              </a:ext>
            </a:extLst>
          </p:cNvPr>
          <p:cNvSpPr/>
          <p:nvPr/>
        </p:nvSpPr>
        <p:spPr>
          <a:xfrm>
            <a:off x="838200" y="28194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B737C-1AC4-8188-927E-AA08E27F0ECA}"/>
              </a:ext>
            </a:extLst>
          </p:cNvPr>
          <p:cNvSpPr txBox="1"/>
          <p:nvPr/>
        </p:nvSpPr>
        <p:spPr>
          <a:xfrm>
            <a:off x="1320800" y="28067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Before Sentinel / With Sentinel - the inbox as a clerk gets it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BA372-CF6D-3368-8B0C-116536690CB7}"/>
              </a:ext>
            </a:extLst>
          </p:cNvPr>
          <p:cNvSpPr txBox="1"/>
          <p:nvPr/>
        </p:nvSpPr>
        <p:spPr>
          <a:xfrm>
            <a:off x="1320800" y="32766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Effectiveness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12FEA7A-1C95-38A7-99EC-3171013D14D2}"/>
              </a:ext>
            </a:extLst>
          </p:cNvPr>
          <p:cNvSpPr/>
          <p:nvPr/>
        </p:nvSpPr>
        <p:spPr>
          <a:xfrm>
            <a:off x="838200" y="37846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235CC-78F2-561C-87A0-3C0ADB59B49E}"/>
              </a:ext>
            </a:extLst>
          </p:cNvPr>
          <p:cNvSpPr txBox="1"/>
          <p:nvPr/>
        </p:nvSpPr>
        <p:spPr>
          <a:xfrm>
            <a:off x="1320800" y="37719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One case through the six stages - the line under every value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91113-EAD4-3F16-C0D3-E269ED9C4B41}"/>
              </a:ext>
            </a:extLst>
          </p:cNvPr>
          <p:cNvSpPr txBox="1"/>
          <p:nvPr/>
        </p:nvSpPr>
        <p:spPr>
          <a:xfrm>
            <a:off x="1320800" y="42418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3DDD392-EA44-DE4E-6E68-11678C3A87FF}"/>
              </a:ext>
            </a:extLst>
          </p:cNvPr>
          <p:cNvSpPr/>
          <p:nvPr/>
        </p:nvSpPr>
        <p:spPr>
          <a:xfrm>
            <a:off x="838200" y="47498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92FFD2-0F13-94E6-DF37-7CADD9423508}"/>
              </a:ext>
            </a:extLst>
          </p:cNvPr>
          <p:cNvSpPr txBox="1"/>
          <p:nvPr/>
        </p:nvSpPr>
        <p:spPr>
          <a:xfrm>
            <a:off x="1320800" y="47371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Compare: model off, then on - it escalates, then it reads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D86831-8E1D-BD16-B443-7ABC062FF4B5}"/>
              </a:ext>
            </a:extLst>
          </p:cNvPr>
          <p:cNvSpPr txBox="1"/>
          <p:nvPr/>
        </p:nvSpPr>
        <p:spPr>
          <a:xfrm>
            <a:off x="1320800" y="52070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Technology · Robustness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2B6FFE9-DFEA-0664-1806-43C8202EAFCC}"/>
              </a:ext>
            </a:extLst>
          </p:cNvPr>
          <p:cNvSpPr/>
          <p:nvPr/>
        </p:nvSpPr>
        <p:spPr>
          <a:xfrm>
            <a:off x="6197600" y="1219200"/>
            <a:ext cx="5384800" cy="4572000"/>
          </a:xfrm>
          <a:prstGeom prst="roundRect">
            <a:avLst>
              <a:gd name="adj" fmla="val 4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12C5D-4552-313D-8CE7-3E1BFC78BD0E}"/>
              </a:ext>
            </a:extLst>
          </p:cNvPr>
          <p:cNvSpPr txBox="1"/>
          <p:nvPr/>
        </p:nvSpPr>
        <p:spPr>
          <a:xfrm>
            <a:off x="6426200" y="1397000"/>
            <a:ext cx="495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E0AC5E"/>
                </a:solidFill>
                <a:latin typeface="Calibri" panose="020F0502020204030204" pitchFamily="34" charset="0"/>
              </a:rPr>
              <a:t>Yee Teng  ·  how a reviewer uses it</a:t>
            </a:r>
            <a:endParaRPr lang="en-MY" sz="140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CEB538E-4F76-600E-D280-9ED02CF03C2A}"/>
              </a:ext>
            </a:extLst>
          </p:cNvPr>
          <p:cNvSpPr/>
          <p:nvPr/>
        </p:nvSpPr>
        <p:spPr>
          <a:xfrm>
            <a:off x="6426200" y="18542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44FCF-44B7-5C16-4441-08A8B5A90317}"/>
              </a:ext>
            </a:extLst>
          </p:cNvPr>
          <p:cNvSpPr txBox="1"/>
          <p:nvPr/>
        </p:nvSpPr>
        <p:spPr>
          <a:xfrm>
            <a:off x="6908800" y="18415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Patterns across the inbox -&gt; this shipper's history on the field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A27541-0744-2768-8D0A-7087A3401BED}"/>
              </a:ext>
            </a:extLst>
          </p:cNvPr>
          <p:cNvSpPr txBox="1"/>
          <p:nvPr/>
        </p:nvSpPr>
        <p:spPr>
          <a:xfrm>
            <a:off x="6908800" y="23114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Differentiation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AB735B6-AC31-6E08-B8A5-900F5CC3FE22}"/>
              </a:ext>
            </a:extLst>
          </p:cNvPr>
          <p:cNvSpPr/>
          <p:nvPr/>
        </p:nvSpPr>
        <p:spPr>
          <a:xfrm>
            <a:off x="6426200" y="28194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A08B19-A501-3BC6-F22C-B361A27C80B6}"/>
              </a:ext>
            </a:extLst>
          </p:cNvPr>
          <p:cNvSpPr txBox="1"/>
          <p:nvPr/>
        </p:nvSpPr>
        <p:spPr>
          <a:xfrm>
            <a:off x="6908800" y="28067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Edit a value -&gt; compared again -&gt; reply drafted from the decision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344E4B-4B80-6F25-FDF4-4407723EC833}"/>
              </a:ext>
            </a:extLst>
          </p:cNvPr>
          <p:cNvSpPr txBox="1"/>
          <p:nvPr/>
        </p:nvSpPr>
        <p:spPr>
          <a:xfrm>
            <a:off x="6908800" y="32766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User experience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EF8F128-C8DE-8DE0-5A88-4C9D16BCDDAE}"/>
              </a:ext>
            </a:extLst>
          </p:cNvPr>
          <p:cNvSpPr/>
          <p:nvPr/>
        </p:nvSpPr>
        <p:spPr>
          <a:xfrm>
            <a:off x="6426200" y="37846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44C780-EB7F-D008-46BC-148AD0AA473C}"/>
              </a:ext>
            </a:extLst>
          </p:cNvPr>
          <p:cNvSpPr txBox="1"/>
          <p:nvPr/>
        </p:nvSpPr>
        <p:spPr>
          <a:xfrm>
            <a:off x="6908800" y="37719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A scan: the transcription is evidence, never a verdict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53B620-4D3E-22EF-C837-C55B71FF1E9E}"/>
              </a:ext>
            </a:extLst>
          </p:cNvPr>
          <p:cNvSpPr txBox="1"/>
          <p:nvPr/>
        </p:nvSpPr>
        <p:spPr>
          <a:xfrm>
            <a:off x="6908800" y="42418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Technology · Robustness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B5ABDCF-5655-6BDD-4B0E-4EC5279C3582}"/>
              </a:ext>
            </a:extLst>
          </p:cNvPr>
          <p:cNvSpPr/>
          <p:nvPr/>
        </p:nvSpPr>
        <p:spPr>
          <a:xfrm>
            <a:off x="6426200" y="47498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3B735B-544A-CEC6-80FE-2B9EA17EAFAF}"/>
              </a:ext>
            </a:extLst>
          </p:cNvPr>
          <p:cNvSpPr txBox="1"/>
          <p:nvPr/>
        </p:nvSpPr>
        <p:spPr>
          <a:xfrm>
            <a:off x="6908800" y="47371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Amended documents arrive -&gt; the same check runs again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520529-1AE5-E562-8CFD-EB2645F0F7C9}"/>
              </a:ext>
            </a:extLst>
          </p:cNvPr>
          <p:cNvSpPr txBox="1"/>
          <p:nvPr/>
        </p:nvSpPr>
        <p:spPr>
          <a:xfrm>
            <a:off x="6908800" y="52070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End-to-end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D29A16-BBF4-2102-6299-D0BB42CC129E}"/>
              </a:ext>
            </a:extLst>
          </p:cNvPr>
          <p:cNvSpPr txBox="1"/>
          <p:nvPr/>
        </p:nvSpPr>
        <p:spPr>
          <a:xfrm>
            <a:off x="609600" y="594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A8B3C2"/>
                </a:solidFill>
                <a:latin typeface="Calibri" panose="020F0502020204030204" pitchFamily="34" charset="0"/>
              </a:rPr>
              <a:t>If the venue network fails: the same inbox runs on the laptop with no network at all - only the model beats change. Screenshots of every beat follow the closing slide.</a:t>
            </a:r>
            <a:endParaRPr lang="en-MY" sz="1100">
              <a:solidFill>
                <a:srgbClr val="A8B3C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5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60CA5D-01E5-A13F-EFE6-E4BDF8BB993F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WHAT A DEMO CAN'T SHOW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F3FEA7-3AFE-65CB-A087-93A968F4665C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How we know it holds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C0EC9F-118A-794E-AE63-222CD44ACD15}"/>
              </a:ext>
            </a:extLst>
          </p:cNvPr>
          <p:cNvSpPr/>
          <p:nvPr/>
        </p:nvSpPr>
        <p:spPr>
          <a:xfrm>
            <a:off x="609600" y="12192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02DC9D-C6FB-9F71-EE4D-47E2E4B31762}"/>
              </a:ext>
            </a:extLst>
          </p:cNvPr>
          <p:cNvSpPr txBox="1"/>
          <p:nvPr/>
        </p:nvSpPr>
        <p:spPr>
          <a:xfrm>
            <a:off x="787400" y="137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Not memorised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F42981-ADA6-39AB-6FA1-2387BE499EA3}"/>
              </a:ext>
            </a:extLst>
          </p:cNvPr>
          <p:cNvSpPr txBox="1"/>
          <p:nvPr/>
        </p:nvSpPr>
        <p:spPr>
          <a:xfrm>
            <a:off x="787400" y="17272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1.0000 on the organisers' scorer - and on three more datasets from seeds we never developed against. 225 planted discrepancies, each caught with the exact field set; 80 of 80 escalations correct.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893C97-B20E-453E-ACE8-34565A9436D9}"/>
              </a:ext>
            </a:extLst>
          </p:cNvPr>
          <p:cNvSpPr/>
          <p:nvPr/>
        </p:nvSpPr>
        <p:spPr>
          <a:xfrm>
            <a:off x="4241800" y="12192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0325C2-6C22-B2EB-5ADC-2AEFEFF5136A}"/>
              </a:ext>
            </a:extLst>
          </p:cNvPr>
          <p:cNvSpPr txBox="1"/>
          <p:nvPr/>
        </p:nvSpPr>
        <p:spPr>
          <a:xfrm>
            <a:off x="4419600" y="137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Attacked ourselves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34CDEA-7F8F-BCE3-12E6-564182F87346}"/>
              </a:ext>
            </a:extLst>
          </p:cNvPr>
          <p:cNvSpPr txBox="1"/>
          <p:nvPr/>
        </p:nvSpPr>
        <p:spPr>
          <a:xfrm>
            <a:off x="4419600" y="17272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16 kinds of damage, 3,008 perturbed documents, 20,496 field reads, no answer key. 13 kinds change nothing; 0 invented discrepancies in any. Under OCR damage, silently wrong values: 982 -&gt; 0.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45C118-FA2F-A999-90D4-F939625328D6}"/>
              </a:ext>
            </a:extLst>
          </p:cNvPr>
          <p:cNvSpPr/>
          <p:nvPr/>
        </p:nvSpPr>
        <p:spPr>
          <a:xfrm>
            <a:off x="609600" y="34036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45B95F-A7EF-B442-9CE4-70F930018A90}"/>
              </a:ext>
            </a:extLst>
          </p:cNvPr>
          <p:cNvSpPr txBox="1"/>
          <p:nvPr/>
        </p:nvSpPr>
        <p:spPr>
          <a:xfrm>
            <a:off x="787400" y="3556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Outside the organisers'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C65124-C840-F3CC-899D-B6F5138E88E3}"/>
              </a:ext>
            </a:extLst>
          </p:cNvPr>
          <p:cNvSpPr txBox="1"/>
          <p:nvPr/>
        </p:nvSpPr>
        <p:spPr>
          <a:xfrm>
            <a:off x="787400" y="391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Real carrier forms, real scans, archived bills of lading, 14,326 real emails. It cannot read most real form layouts yet - and made 0 wrong automatic decisions: every one went to a person.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DEE25B-EFAA-EB85-727F-29AEE27CCDBF}"/>
              </a:ext>
            </a:extLst>
          </p:cNvPr>
          <p:cNvSpPr/>
          <p:nvPr/>
        </p:nvSpPr>
        <p:spPr>
          <a:xfrm>
            <a:off x="4241800" y="34036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231A6C-D4FE-553E-40D6-3F18D86A826F}"/>
              </a:ext>
            </a:extLst>
          </p:cNvPr>
          <p:cNvSpPr txBox="1"/>
          <p:nvPr/>
        </p:nvSpPr>
        <p:spPr>
          <a:xfrm>
            <a:off x="4419600" y="3556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Engineering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5D27BB-8FB2-E5A3-9831-147C3175E5F1}"/>
              </a:ext>
            </a:extLst>
          </p:cNvPr>
          <p:cNvSpPr txBox="1"/>
          <p:nvPr/>
        </p:nvSpPr>
        <p:spPr>
          <a:xfrm>
            <a:off x="4419600" y="391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757 tests, 0 failing; CI on every push to main. Runs with no key and no network. A $2 model cap per run - when it is spent, hard cases escalate. The container runs as a non-root user with no secret inside.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B63728D-B94C-67D4-948F-CE8B56BF1D3B}"/>
              </a:ext>
            </a:extLst>
          </p:cNvPr>
          <p:cNvSpPr/>
          <p:nvPr/>
        </p:nvSpPr>
        <p:spPr>
          <a:xfrm>
            <a:off x="7899400" y="1219200"/>
            <a:ext cx="3683000" cy="4191000"/>
          </a:xfrm>
          <a:prstGeom prst="roundRect">
            <a:avLst>
              <a:gd name="adj" fmla="val 5000"/>
            </a:avLst>
          </a:prstGeom>
          <a:solidFill>
            <a:srgbClr val="F5E7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ADAE63-F0A0-FFFA-37AD-721271BC59A0}"/>
              </a:ext>
            </a:extLst>
          </p:cNvPr>
          <p:cNvSpPr txBox="1"/>
          <p:nvPr/>
        </p:nvSpPr>
        <p:spPr>
          <a:xfrm>
            <a:off x="8077200" y="13716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A9631B"/>
                </a:solidFill>
                <a:latin typeface="Georgia" panose="02040502050405020303" pitchFamily="18" charset="0"/>
              </a:rPr>
              <a:t>What we haven't fixed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4B8D0F-37F7-4843-DDD4-9D7EDFD47345}"/>
              </a:ext>
            </a:extLst>
          </p:cNvPr>
          <p:cNvSpPr txBox="1"/>
          <p:nvPr/>
        </p:nvSpPr>
        <p:spPr>
          <a:xfrm>
            <a:off x="8077200" y="17526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email_145: a wrapped party name cut to exactly what the other document says. One real discrepancy in 3,008 perturbed documents is reported as consistent.</a:t>
            </a:r>
          </a:p>
          <a:p>
            <a:endParaRPr lang="en-US" sz="1150">
              <a:solidFill>
                <a:srgbClr val="182335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The obvious guard would flag 114 of 124 SI/BL pairs (92%) - worse than the gap. So it stays open, and written down.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79CE2D-2B8F-E4F9-6BF2-4EEBEF3882BB}"/>
              </a:ext>
            </a:extLst>
          </p:cNvPr>
          <p:cNvSpPr txBox="1"/>
          <p:nvPr/>
        </p:nvSpPr>
        <p:spPr>
          <a:xfrm>
            <a:off x="8077200" y="33274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A9631B"/>
                </a:solidFill>
                <a:latin typeface="Georgia" panose="02040502050405020303" pitchFamily="18" charset="0"/>
              </a:rPr>
              <a:t>A defect we hide is worse than one we miss.</a:t>
            </a:r>
            <a:endParaRPr lang="en-MY" sz="1200" b="1">
              <a:solidFill>
                <a:srgbClr val="A9631B"/>
              </a:solidFill>
              <a:latin typeface="Georgia" panose="02040502050405020303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6F5FAE-3254-F7DC-7A09-82654038A60D}"/>
              </a:ext>
            </a:extLst>
          </p:cNvPr>
          <p:cNvSpPr txBox="1"/>
          <p:nvPr/>
        </p:nvSpPr>
        <p:spPr>
          <a:xfrm>
            <a:off x="8077200" y="41910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5B6577"/>
                </a:solidFill>
                <a:latin typeface="Calibri" panose="020F0502020204030204" pitchFamily="34" charset="0"/>
              </a:rPr>
              <a:t>Also written down: most real form layouts are not read yet; no database, accounts or mailbox connector yet.</a:t>
            </a:r>
            <a:endParaRPr lang="en-MY" sz="10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968BA7-7F61-0876-071A-4D427167581D}"/>
              </a:ext>
            </a:extLst>
          </p:cNvPr>
          <p:cNvSpPr txBox="1"/>
          <p:nvPr/>
        </p:nvSpPr>
        <p:spPr>
          <a:xfrm>
            <a:off x="609600" y="5689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5B6577"/>
                </a:solidFill>
                <a:latin typeface="Calibri" panose="020F0502020204030204" pitchFamily="34" charset="0"/>
              </a:rPr>
              <a:t>A perfect score on the data you were handed proves you didn't memorise it - not that the reader works. So we went looking for the failures ourselves.</a:t>
            </a:r>
            <a:endParaRPr lang="en-MY" sz="11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4DF45-8BE5-905D-A5BE-97BFC192DAC6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4 · ENGINEERING QUALITY &amp; ROBUSTNESS · 15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663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462B00-3FA7-ECBE-E48C-922F715F3D43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EE04A-08AB-F57C-DBF0-22621122D0CB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One desk first - and three numbers to hold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79AF7A-0B7C-B24C-47DA-E26E182ACD77}"/>
              </a:ext>
            </a:extLst>
          </p:cNvPr>
          <p:cNvSpPr txBox="1"/>
          <p:nvPr/>
        </p:nvSpPr>
        <p:spPr>
          <a:xfrm>
            <a:off x="609600" y="1143000"/>
            <a:ext cx="673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The inbox already carries four desk codes: AFEMY 35 · AIE 30 · AFRT 29 · AFPTME 22 emails. Sentinel runs beside one desk's existing check until these hold for a full cycle of its carriers: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668EB0-5608-5CB9-0025-691447999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386364"/>
              </p:ext>
            </p:extLst>
          </p:nvPr>
        </p:nvGraphicFramePr>
        <p:xfrm>
          <a:off x="609600" y="1828800"/>
          <a:ext cx="6731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91938985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204028824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187465291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Today, on this inbox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806446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20 of 220 requests (9.1%), every one correct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that it stays correct as new templates arrive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95396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False discrepancies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0 of 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023427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6105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E9CFCB9-FE33-6203-F03C-779FC7299C9D}"/>
              </a:ext>
            </a:extLst>
          </p:cNvPr>
          <p:cNvSpPr txBox="1"/>
          <p:nvPr/>
        </p:nvSpPr>
        <p:spPr>
          <a:xfrm>
            <a:off x="609600" y="3962400"/>
            <a:ext cx="673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Cost: on this inbox the rules decide every email, so a run costs nothing. Where the model is needed: $0.0013 per document (measured), with a $2 cap per run.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EC5A8E-436E-8F3D-0F97-BB360CBEAC42}"/>
              </a:ext>
            </a:extLst>
          </p:cNvPr>
          <p:cNvSpPr/>
          <p:nvPr/>
        </p:nvSpPr>
        <p:spPr>
          <a:xfrm>
            <a:off x="609600" y="4622800"/>
            <a:ext cx="6731000" cy="889000"/>
          </a:xfrm>
          <a:prstGeom prst="roundRect">
            <a:avLst>
              <a:gd name="adj" fmla="val 10000"/>
            </a:avLst>
          </a:prstGeom>
          <a:solidFill>
            <a:srgbClr val="E1EF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7F4C5-FEF2-4B3B-70B0-6AFF64AEC113}"/>
              </a:ext>
            </a:extLst>
          </p:cNvPr>
          <p:cNvSpPr txBox="1"/>
          <p:nvPr/>
        </p:nvSpPr>
        <p:spPr>
          <a:xfrm>
            <a:off x="787400" y="4724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 b="1">
                <a:solidFill>
                  <a:srgbClr val="1E7A4C"/>
                </a:solidFill>
                <a:latin typeface="Calibri" panose="020F0502020204030204" pitchFamily="34" charset="0"/>
              </a:rPr>
              <a:t>Built since round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2B4A0-280B-CA2E-5A30-6D003F245612}"/>
              </a:ext>
            </a:extLst>
          </p:cNvPr>
          <p:cNvSpPr txBox="1"/>
          <p:nvPr/>
        </p:nvSpPr>
        <p:spPr>
          <a:xfrm>
            <a:off x="787400" y="4978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Pattern alerts across the inbox, and throughput and cost at volume - two of the five items on our round-one roadmap, now live.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9C92C32-B1BA-8716-586F-901A7C1FB2E5}"/>
              </a:ext>
            </a:extLst>
          </p:cNvPr>
          <p:cNvSpPr/>
          <p:nvPr/>
        </p:nvSpPr>
        <p:spPr>
          <a:xfrm>
            <a:off x="7645400" y="1143000"/>
            <a:ext cx="3937000" cy="436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75C4B-EAE6-E6EA-0512-07CAEEF4D709}"/>
              </a:ext>
            </a:extLst>
          </p:cNvPr>
          <p:cNvSpPr txBox="1"/>
          <p:nvPr/>
        </p:nvSpPr>
        <p:spPr>
          <a:xfrm>
            <a:off x="7848600" y="13208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182335"/>
                </a:solidFill>
                <a:latin typeface="Georgia" panose="02040502050405020303" pitchFamily="18" charset="0"/>
              </a:rPr>
              <a:t>Next, in order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97AB93A-41C0-3283-07AC-7273F2B7D358}"/>
              </a:ext>
            </a:extLst>
          </p:cNvPr>
          <p:cNvSpPr/>
          <p:nvPr/>
        </p:nvSpPr>
        <p:spPr>
          <a:xfrm>
            <a:off x="7848600" y="18034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0F0AC-A697-AE1A-83DD-D5AC8C458AA3}"/>
              </a:ext>
            </a:extLst>
          </p:cNvPr>
          <p:cNvSpPr txBox="1"/>
          <p:nvPr/>
        </p:nvSpPr>
        <p:spPr>
          <a:xfrm>
            <a:off x="8305800" y="17907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82335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E914C5-39BC-9BE0-8895-0674E6555A29}"/>
              </a:ext>
            </a:extLst>
          </p:cNvPr>
          <p:cNvSpPr txBox="1"/>
          <p:nvPr/>
        </p:nvSpPr>
        <p:spPr>
          <a:xfrm>
            <a:off x="8305800" y="20574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a label table and an escalation policy per desk, picked by the desk code the inbox already carries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19DD628-9377-9558-29E9-7BEC5832FFFE}"/>
              </a:ext>
            </a:extLst>
          </p:cNvPr>
          <p:cNvSpPr/>
          <p:nvPr/>
        </p:nvSpPr>
        <p:spPr>
          <a:xfrm>
            <a:off x="7848600" y="30226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F44EDC-1E31-1821-6493-3E9886F49D2B}"/>
              </a:ext>
            </a:extLst>
          </p:cNvPr>
          <p:cNvSpPr txBox="1"/>
          <p:nvPr/>
        </p:nvSpPr>
        <p:spPr>
          <a:xfrm>
            <a:off x="8305800" y="30099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82335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31351F-A932-3FB0-39A8-015C3EFCCB10}"/>
              </a:ext>
            </a:extLst>
          </p:cNvPr>
          <p:cNvSpPr txBox="1"/>
          <p:nvPr/>
        </p:nvSpPr>
        <p:spPr>
          <a:xfrm>
            <a:off x="8305800" y="32766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CEB528-C826-4864-56C0-6EAC3FEF50D7}"/>
              </a:ext>
            </a:extLst>
          </p:cNvPr>
          <p:cNvSpPr/>
          <p:nvPr/>
        </p:nvSpPr>
        <p:spPr>
          <a:xfrm>
            <a:off x="7848600" y="42418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9A9A23-D2CF-8F10-2488-E9E0CF30DAC1}"/>
              </a:ext>
            </a:extLst>
          </p:cNvPr>
          <p:cNvSpPr txBox="1"/>
          <p:nvPr/>
        </p:nvSpPr>
        <p:spPr>
          <a:xfrm>
            <a:off x="8305800" y="42291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82335"/>
                </a:solidFill>
                <a:latin typeface="Calibri" panose="020F0502020204030204" pitchFamily="34" charset="0"/>
              </a:rPr>
              <a:t>The database, then accounts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99B8E7-A621-5A33-1267-F0C28197EEDE}"/>
              </a:ext>
            </a:extLst>
          </p:cNvPr>
          <p:cNvSpPr txBox="1"/>
          <p:nvPr/>
        </p:nvSpPr>
        <p:spPr>
          <a:xfrm>
            <a:off x="8305800" y="44958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one file for the store; accounts and a mailbox connector after it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9C459E-E17D-25C1-F34C-AAEC275E8075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7 · IMPACT &amp; FUTURE POTENTIAL · 10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234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6493B6-1F00-8102-FCBD-59857FF66D2B}"/>
              </a:ext>
            </a:extLst>
          </p:cNvPr>
          <p:cNvSpPr txBox="1"/>
          <p:nvPr/>
        </p:nvSpPr>
        <p:spPr>
          <a:xfrm>
            <a:off x="609600" y="149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EDE7D6"/>
                </a:solidFill>
                <a:latin typeface="Georgia" panose="02040502050405020303" pitchFamily="18" charset="0"/>
              </a:rPr>
              <a:t>Every answer comes with its evidence.</a:t>
            </a:r>
            <a:endParaRPr lang="en-MY" sz="3600" b="1">
              <a:solidFill>
                <a:srgbClr val="EDE7D6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3440A2-0733-D375-9A6F-603D12BCF1CE}"/>
              </a:ext>
            </a:extLst>
          </p:cNvPr>
          <p:cNvSpPr txBox="1"/>
          <p:nvPr/>
        </p:nvSpPr>
        <p:spPr>
          <a:xfrm>
            <a:off x="609600" y="2311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E0AC5E"/>
                </a:solidFill>
                <a:latin typeface="Georgia" panose="02040502050405020303" pitchFamily="18" charset="0"/>
              </a:rPr>
              <a:t>Sentinel, by DuoCode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D5C911-F919-CD9B-D90B-F0F7B6D8CBB1}"/>
              </a:ext>
            </a:extLst>
          </p:cNvPr>
          <p:cNvSpPr/>
          <p:nvPr/>
        </p:nvSpPr>
        <p:spPr>
          <a:xfrm>
            <a:off x="7366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A590C-C2AA-9977-8567-4BEB56E8D977}"/>
              </a:ext>
            </a:extLst>
          </p:cNvPr>
          <p:cNvSpPr txBox="1"/>
          <p:nvPr/>
        </p:nvSpPr>
        <p:spPr>
          <a:xfrm>
            <a:off x="9144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Every value found again in its document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984404-C9F6-14BC-4383-5F1CA3C993D4}"/>
              </a:ext>
            </a:extLst>
          </p:cNvPr>
          <p:cNvSpPr txBox="1"/>
          <p:nvPr/>
        </p:nvSpPr>
        <p:spPr>
          <a:xfrm>
            <a:off x="914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rule-read or model-read, before any verdict is reported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CE85B-38CA-4841-4C35-C0E866389469}"/>
              </a:ext>
            </a:extLst>
          </p:cNvPr>
          <p:cNvSpPr/>
          <p:nvPr/>
        </p:nvSpPr>
        <p:spPr>
          <a:xfrm>
            <a:off x="43688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541668-FFCB-00A8-FE11-6009BC145FE1}"/>
              </a:ext>
            </a:extLst>
          </p:cNvPr>
          <p:cNvSpPr txBox="1"/>
          <p:nvPr/>
        </p:nvSpPr>
        <p:spPr>
          <a:xfrm>
            <a:off x="45466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Attacked by its own authors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9F1DD-8650-792D-22BE-EC68C45E8025}"/>
              </a:ext>
            </a:extLst>
          </p:cNvPr>
          <p:cNvSpPr txBox="1"/>
          <p:nvPr/>
        </p:nvSpPr>
        <p:spPr>
          <a:xfrm>
            <a:off x="4546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3,008 damaged documents, no answer key - the failures published, one still open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9AC505-4337-4FDF-CEB2-3DC70161714E}"/>
              </a:ext>
            </a:extLst>
          </p:cNvPr>
          <p:cNvSpPr/>
          <p:nvPr/>
        </p:nvSpPr>
        <p:spPr>
          <a:xfrm>
            <a:off x="80010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09BEE2-F4D1-B513-982A-977730E282E8}"/>
              </a:ext>
            </a:extLst>
          </p:cNvPr>
          <p:cNvSpPr txBox="1"/>
          <p:nvPr/>
        </p:nvSpPr>
        <p:spPr>
          <a:xfrm>
            <a:off x="81788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Tested outside the organisers' data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F46B21-9DB6-739E-B34F-1D18758DB434}"/>
              </a:ext>
            </a:extLst>
          </p:cNvPr>
          <p:cNvSpPr txBox="1"/>
          <p:nvPr/>
        </p:nvSpPr>
        <p:spPr>
          <a:xfrm>
            <a:off x="81788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real forms, real scans, real emails - what it couldn't read went to a person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DF1336-521B-3D96-E566-AB7EBC5802F6}"/>
              </a:ext>
            </a:extLst>
          </p:cNvPr>
          <p:cNvSpPr txBox="1"/>
          <p:nvPr/>
        </p:nvSpPr>
        <p:spPr>
          <a:xfrm>
            <a:off x="609600" y="495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A8B3C2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BB323B-F4BA-5E4F-7CBF-D27EA8B64CF2}"/>
              </a:ext>
            </a:extLst>
          </p:cNvPr>
          <p:cNvSpPr txBox="1"/>
          <p:nvPr/>
        </p:nvSpPr>
        <p:spPr>
          <a:xfrm>
            <a:off x="609600" y="5461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500">
                <a:solidFill>
                  <a:srgbClr val="EDE7D6"/>
                </a:solidFill>
                <a:latin typeface="Georgia" panose="02040502050405020303" pitchFamily="18" charset="0"/>
              </a:rPr>
              <a:t>Thank you - questions welcome.</a:t>
            </a:r>
          </a:p>
        </p:txBody>
      </p:sp>
    </p:spTree>
    <p:extLst>
      <p:ext uri="{BB962C8B-B14F-4D97-AF65-F5344CB8AC3E}">
        <p14:creationId xmlns:p14="http://schemas.microsoft.com/office/powerpoint/2010/main" val="3206656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33DD71-D085-5E11-4BED-8DAF77013470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2909A7-6170-A8D1-23FE-CFB105D4D2B5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1 · The whole inbox, one run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653EE-584C-9616-E6F5-D51E2D72795F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520 emails sorted into five kinds of mail; 46 discrepancies and 20 escalations, each with its reason; 6 model calls, all scanned pages.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00DB99-D8DA-72A9-3D25-6080C3F373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961919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E5EEE6-5C8C-87E7-CFAE-3DB08C7E713D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BD190E-E09C-4B65-1BC8-036CAE96C797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2200" b="1">
                <a:solidFill>
                  <a:srgbClr val="182335"/>
                </a:solidFill>
                <a:latin typeface="Georgia" panose="02040502050405020303" pitchFamily="18" charset="0"/>
              </a:rPr>
              <a:t>2 · Before Sentinel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9E677F-E63F-D1D1-68F1-DC63DBB1445B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The same inbox as a clerk receives it: 124 SI/BL pairs among 520 emails, about 11.2 hours at our own estimate.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63B7C5-2F43-CD51-2292-4AF509E7C12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460976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A84986-D084-C635-8430-F01725D4EAFA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78E02B-A3FC-CC66-B3DF-A7BE829AF2C9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3 · One case through the stages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113194-BFBF-7110-9CC4-33196A37C944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Both documents identified; under every value, the document, the line and the label as printed ('To the Order of' read as Consignee); the gate's note: every compared value (14/14) was located in its source document.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BD9CBA-5E62-687D-417F-2D98F1BEED4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171139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2C80FE-51E8-EE25-6A6C-FAC3D17459F7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26067-D56E-CFA9-15A7-338FECE0614D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4 · Compare: model off, then on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59F825-158F-244D-30C2-D2DFD074D37B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Left: unfamiliar labels, rules only - escalated, with the fields it could not read. Right: the model reads them, each value re-found in the document - 'Model answered'.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B48AB-FCFC-6E5D-33EA-C326758341D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930069-7E86-91DA-4167-FE5AFB3B0DE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4122874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DB12-DDC5-8E22-22DA-413CE2E47CF9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4FB708-F110-1C84-4C68-91AFDC9FB7C3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5 · Patterns across the inbox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4CBD41-CB60-E674-F7FB-C173042E3067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The six largest of 21 patterns; the top one is seven cases from one shipper with a discrepancy on gross weight.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AD70DC-2908-4C51-5E14-555F7A3CCA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549358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6977C6-538B-F8BD-1253-436958BC75B3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65D0AD-0495-137F-198B-934E793FAD89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6 · Shipper history, and a value corrected in place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88050-F0DB-C843-AB4F-9F569B8D28D3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Left: same shipper, same field - other cases in this run. Right: the BL weight edited by the reviewer, compared again by the same rules, the extracted value kept struck through.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431DC7-E318-0883-D722-5FD668BC54F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A4486C-11F9-7478-E56E-C9AD80AE1EF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82550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220C1A-E16C-1C2C-C726-C3370F9EB9EA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B4DDAC-4E75-29CC-10E1-5B6A0320C5F1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7 · The reply follows the reviewer's decision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AE912-80A7-82E2-84EB-FB8D11ED1223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After the correction it asks only about the container count. The facts are locked; only the greeting and closing may be reworded by the model.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51E90D-A70C-3158-2798-593E34BC84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887221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76F893-3C77-DC43-536C-ADB6FBAA2DA3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922186-B40D-8B3E-C80A-0295731908B4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8 · A scan: transcription is evidence, not a verdict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F7539-EF74-088B-806E-ED33FE366221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No text layer, so Sentinel did not decide. The model's transcription is shown for the reviewer to check against the image; here it misread 'AL GURG' as 'ALGURG' on the BL - which is exactly why a person ticks what was verified.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D9A12D-6FB2-81B1-F4CA-C0084F68001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B90CB9-5FF8-273E-9777-8C846E2FDA5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89153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36BD7-7A95-5849-3F49-73CE3F787250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F92630-A34D-9C2D-A7D0-A076E0610FA3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9 · Amended documents, the same check again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FC7E39-FFD2-6D7B-9300-322C17322DB6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An email whose attachments were dropped: the amended pair is attached on the case, the check runs again, and the earlier result stays on record as version 1.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4617D7-C07A-2634-A34C-BFD8C2FB038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262127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3135</Words>
  <Application>Microsoft Office PowerPoint</Application>
  <PresentationFormat>Custom</PresentationFormat>
  <Paragraphs>222</Paragraphs>
  <Slides>16</Slides>
  <Notes>16</Notes>
  <HiddenSlides>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2026-09-25T08:34:05Z</dcterms:created>
  <dcterms:modified xsi:type="dcterms:W3CDTF">2026-09-25T08:34:05Z</dcterms:modified>
</cp:coreProperties>
</file>