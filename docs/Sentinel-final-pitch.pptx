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0A581A-1657-434C-B905-E4F418B639FB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717C45-27A1-4671-A9CE-EE15A3CDE28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967447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We're DuoCode. Sentinel is built on one rule: it never reports anything it cannot prove. Everything in the next five minutes is evidence for that sentence. (0:00-0:15)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717C45-27A1-4671-A9CE-EE15A3CDE28E}" type="slidenum">
              <a:rPr lang="en-MY" smtClean="0"/>
              <a:t>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3720201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Why we built it: a shipping desk gets five kinds of mail in one inbox, and for every document check a person compares the Shipping Instruction against the draft Bill of Lading - seven fields, manually. At a conservative estimate that is about four minutes a pair and twenty seconds to triage each email; this inbox alone is a day and a half of desk work. Miss one field and it's a correction, a delay, rework. And there's a fourth case the statement names: sometimes the check can't be done - an unreadable scan, a blank field, the wrong document. That has to be escalated to a reviewer with the reason, not guessed at. Sentinel does all four. (0:15-0:40)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717C45-27A1-4671-A9CE-EE15A3CDE28E}" type="slidenum">
              <a:rPr lang="en-MY" smtClean="0"/>
              <a:t>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211878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This is the whole inbox, live on Render and Vercel - not a sample, the organisers' 520 emails. Every email classified, every document pair compared, every case Sentinel can't decide escalated with the reason attached. Thirteen seconds. And this is how a desk uses it, four steps: run the inbox, open a flagged case, confirm or override it - correct a single value or attach the amended SI/BL - then send the drafted reply. Do not say the accuracy here - that is slide 6. (0:40-1:05)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717C45-27A1-4671-A9CE-EE15A3CDE28E}" type="slidenum">
              <a:rPr lang="en-MY" smtClean="0"/>
              <a:t>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361580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Six stages, one direction. Two choices carry the design. Values are compared exactly after canonicalising, never by similarity - a threshold loose enough to forgive a scan artefact also merges two real companies, and the data has those. And the gate after the comparison can overrule it: a value we cannot find again in the document it was read from is never reported as a discrepancy - it is escalated to a reviewer. The pipeline is a stateless library with no web or database in it, which is also the scaling story: throughput is more copies of it; the state sits behind one class in one file. (1:05-1:40)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717C45-27A1-4671-A9CE-EE15A3CDE28E}" type="slidenum">
              <a:rPr lang="en-MY" smtClean="0"/>
              <a:t>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5781497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Never say 'we use less AI'. Say: the AI is reserved for the cases the rules cannot handle - and the system performs just as well. A judge in the first round said we use AI less than most teams. True, and measured. On this inbox the rules answer all 520 and the scoring is all-or-nothing per email, so a model that is almost always right costs places. The model goes only where the rules admit they can't read: an ambiguous email, a label we've never seen, a scanned page. On documents with wording we invented, rules alone escalate 168 of 188 cases; with the model, two - and false discrepancies stay at zero, because nothing the model says is accepted until we find it again in the source. You'll see both in the demo: a scan transcribed for the reviewer, and four unknown labels read on request. (1:40-2:20)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717C45-27A1-4671-A9CE-EE15A3CDE28E}" type="slidenum">
              <a:rPr lang="en-MY" smtClean="0"/>
              <a:t>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6759613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 perfect score on the dataset you were handed proves you didn't memorise it. It doesn't prove the reader works. So we attacked our own reader - three thousand perturbed documents, sixteen kinds of damage, no answer key. Thirteen of sixteen don't move. OCR noise used to produce 982 silently wrong values; it produces zero now, because a damaged number is refused instead of parsed short. Then we fed it a real carrier's template from outside the generator, and it found a bug we fixed the same day. And the one we haven't fixed is on the slide, because a defect we hide is worse than one we miss. (2:20-2:55)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717C45-27A1-4671-A9CE-EE15A3CDE28E}" type="slidenum">
              <a:rPr lang="en-MY" smtClean="0"/>
              <a:t>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71321077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At the discrepancy case: 'Under every value - the line it was read from. A reviewer never has to open the source document to trust this.' At the scan: 'No text layer, so Sentinel did not decide. But the model transcribed the page for the reviewer - seven fields, and it marks the illegible ones rather than guessing. The case stays escalated; the reviewer decides, per field.' At Compare, off: 'wording our table has never seen - the honest answer is that it cannot read them, so it is escalated, and it says which labels.' On: 'the model reads them, every value re-located in the document before it's accepted, and it surfaces the real discrepancy - badge says model answered.' (2:55-4:25)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717C45-27A1-4671-A9CE-EE15A3CDE28E}" type="slidenum">
              <a:rPr lang="en-MY" smtClean="0"/>
              <a:t>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8596306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At the top-ten stage everyone meets the brief, so this is the slide to slow down on - thirty seconds. Five things the others mostly don't have: the sender amends a document and you attach the amended one on the case, the check runs again and the previous result stays on record; a scan is still escalated but already transcribed by the model; correcting a field shows this shipper's history on that field; the original document is one click away from every value; and the reply is drafted from what the reviewer decided, not the stale answer. (4:10-4:40)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717C45-27A1-4671-A9CE-EE15A3CDE28E}" type="slidenum">
              <a:rPr lang="en-MY" smtClean="0"/>
              <a:t>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3973382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520 emails and 124 document pairs is, at a conservative estimate, about eleven hours of desk work. Sentinel does it in thirteen seconds and every decision on that inbox was a rule, so it costs nothing to run - cheap because the model is aimed, not because it's absent. The first deployment is one desk, with three numbers we'd watch; two of them we can already show you and the third is what the pilot is for. Say 'at a conservative estimate' aloud, always. (4:40-4:58)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717C45-27A1-4671-A9CE-EE15A3CDE28E}" type="slidenum">
              <a:rPr lang="en-MY" smtClean="0"/>
              <a:t>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8503524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Sentinel, by DuoCode. Every answer comes with its evidence. Thank you. (4:58-5:00)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717C45-27A1-4671-A9CE-EE15A3CDE28E}" type="slidenum">
              <a:rPr lang="en-MY" smtClean="0"/>
              <a:t>10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868214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213120-22E9-A1F4-11A0-5402FAD1BF2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09A1F50-89BC-AE24-E4AE-5BD7147BF4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7ED05E-4223-DA2D-642E-665DA15F4F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9690D8-E3B2-49AB-8E61-6BB38FE78A77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B3D744-A89E-4BA9-9601-172016BBBD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1BBF5C-AA6F-B96C-9C9B-022295DA8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C7F7FD-7FC9-474A-A2B1-D8746CCCD43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2561829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D847F-383D-A093-4AAB-C600E8E547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11CEB8-B586-C4C1-A423-10B616FF3C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3D7A03-0D28-3630-8BEF-6B962CB056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9690D8-E3B2-49AB-8E61-6BB38FE78A77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ED4BF-8D69-B5E8-ED87-E54C9494CD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748211-8F92-AF51-27A6-A0A29035D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C7F7FD-7FC9-474A-A2B1-D8746CCCD43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1441888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980919-1314-30F5-AD49-AA68E9FB37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1"/>
            <a:ext cx="105156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2681FB-C31E-CB1D-1BA2-14882DE6A0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E640BE-1F0B-2A3F-85D4-4C85D32889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9690D8-E3B2-49AB-8E61-6BB38FE78A77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D853FC-F13D-89D2-026A-C6E6452623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AC35CE-170D-30D4-E701-C0B8B83FC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C7F7FD-7FC9-474A-A2B1-D8746CCCD43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5057367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91C81-A276-3DAA-47E0-F1910B719B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006206-F7AE-22B6-D6CA-1281AE34F17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3AF6791-0315-2208-939E-0AA833E951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8CDCBE-7176-0A7C-5405-4B2E1F609C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9690D8-E3B2-49AB-8E61-6BB38FE78A77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7F0288-6A11-9C68-90B2-E7F37AB1BC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77333F-6B23-31F9-CF0C-91650C059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C7F7FD-7FC9-474A-A2B1-D8746CCCD43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874692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008548-1653-19AF-612F-92B4AE3C48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B343A3-B456-95A1-9BA5-E441496CE9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90" y="1681163"/>
            <a:ext cx="5157787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C23685-FB58-2AE3-B9BA-97B788D813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90" y="2505077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1358A1F-C98D-909E-483A-4FCDBA405D9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10566D2-4EBE-0CCE-43D9-214197C4F11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7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08C39D3-4069-28CD-B70E-CA0F5F4F5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9690D8-E3B2-49AB-8E61-6BB38FE78A77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416C1B0-CC8D-9437-ED5F-AF650CA615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FA9C8E9-0184-3288-946A-B034F7896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C7F7FD-7FC9-474A-A2B1-D8746CCCD43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3234140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B4AB5D-3CD3-3F63-AD22-8BC6BD5EA7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080754-CB27-10F1-B30A-3A9F1B747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9690D8-E3B2-49AB-8E61-6BB38FE78A77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484E59-498B-D839-7D30-C3FFB377A7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9EF081-ADC4-4252-7744-724113CE0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C7F7FD-7FC9-474A-A2B1-D8746CCCD43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722034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65382A6-29A8-6D93-9BB7-4CCEF2095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9690D8-E3B2-49AB-8E61-6BB38FE78A77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1EC3D60-ADAF-BC04-EC9C-CAB35777C1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FE9290-3A36-776D-5023-03A6BC10CA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C7F7FD-7FC9-474A-A2B1-D8746CCCD43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7851552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363A0-D604-EF18-E141-DB1EA57225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954C0E-C9D8-F37B-67EA-E9ACD87B7F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8"/>
            <a:ext cx="617220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DF14BA-F2BE-1E7A-072A-91547661B7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2"/>
            <a:ext cx="3932237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BEBBC9-07FB-D089-B04C-707F9E0AF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9690D8-E3B2-49AB-8E61-6BB38FE78A77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B9646F-0B3E-B9D6-E934-A4799B1C60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66977A-378A-CD3F-352A-2C20CB2E9E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C7F7FD-7FC9-474A-A2B1-D8746CCCD43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6982538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AAC736-6FBC-7A6F-9671-000770E4D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48F56CA-4B7B-9D00-7809-B95B4F8C40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8"/>
            <a:ext cx="617220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MY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AC96A8D-4F7D-78A9-8F8C-570C174C7E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2"/>
            <a:ext cx="3932237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C8DAD1-BCCE-9A90-D902-FF7BA499CE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9690D8-E3B2-49AB-8E61-6BB38FE78A77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8751AA-1950-7CE2-E514-E184EEFF18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F85F6A-E115-927B-E933-3FE214F540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C7F7FD-7FC9-474A-A2B1-D8746CCCD43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573493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A33FD-138D-B3CD-484C-F7FC6D880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25F3723-31AB-302C-F9BF-03315CDFBC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F63990-0171-D107-0938-B3602A4426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9690D8-E3B2-49AB-8E61-6BB38FE78A77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171371-04CC-FCAF-7444-6CBC8AF49E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B244E3-4A8E-CD16-24DC-BF3BA60262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C7F7FD-7FC9-474A-A2B1-D8746CCCD43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40648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CDFFA67-599E-9719-88B7-8BDF38C0D5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1" y="365127"/>
            <a:ext cx="2628900" cy="581183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5D610B-1FBB-1143-64D9-D373110764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365127"/>
            <a:ext cx="7734300" cy="581183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677C88-8070-3A46-A05D-E1FF8A5E28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9690D8-E3B2-49AB-8E61-6BB38FE78A77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A0AD1A-D80E-6990-955C-C961CC914F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309C00-E021-F811-F400-A4BD173EA5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C7F7FD-7FC9-474A-A2B1-D8746CCCD43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299212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DCA1C76-CD38-C4F4-E738-2E953089E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BED99E-8B04-AE97-CD05-25A4E25850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D73F66-32A8-5DC2-A0C5-77CB7F8B341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9690D8-E3B2-49AB-8E61-6BB38FE78A77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355509-1148-14DA-C9FA-1494FEBA84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9933E3-B35D-EFA2-8698-DFCA2ECED4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6C7F7FD-7FC9-474A-A2B1-D8746CCCD43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996833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0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7C14B4F-5C59-3EF6-FF9A-6C11D221F0E6}"/>
              </a:ext>
            </a:extLst>
          </p:cNvPr>
          <p:cNvSpPr txBox="1"/>
          <p:nvPr/>
        </p:nvSpPr>
        <p:spPr>
          <a:xfrm>
            <a:off x="609600" y="1905000"/>
            <a:ext cx="762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6000" b="1">
                <a:solidFill>
                  <a:srgbClr val="D9A441"/>
                </a:solidFill>
                <a:latin typeface="Cambria" panose="02040503050406030204" pitchFamily="18" charset="0"/>
              </a:rPr>
              <a:t>Sentinel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39493A-94B0-FDA5-C80B-1C63BCEBF114}"/>
              </a:ext>
            </a:extLst>
          </p:cNvPr>
          <p:cNvSpPr txBox="1"/>
          <p:nvPr/>
        </p:nvSpPr>
        <p:spPr>
          <a:xfrm>
            <a:off x="609600" y="2921000"/>
            <a:ext cx="889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2800">
                <a:solidFill>
                  <a:srgbClr val="FFFFFF"/>
                </a:solidFill>
                <a:latin typeface="Cambria" panose="02040503050406030204" pitchFamily="18" charset="0"/>
              </a:rPr>
              <a:t>Every answer comes with its evidence.</a:t>
            </a:r>
            <a:endParaRPr lang="en-MY" sz="2800">
              <a:solidFill>
                <a:srgbClr val="FFFFFF"/>
              </a:solidFill>
              <a:latin typeface="Cambria" panose="020405030504060302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BE73CB1-0327-A88D-4192-6ED52C95AB1C}"/>
              </a:ext>
            </a:extLst>
          </p:cNvPr>
          <p:cNvSpPr txBox="1"/>
          <p:nvPr/>
        </p:nvSpPr>
        <p:spPr>
          <a:xfrm>
            <a:off x="609600" y="3683000"/>
            <a:ext cx="7874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600">
                <a:solidFill>
                  <a:srgbClr val="E2E5EC"/>
                </a:solidFill>
                <a:latin typeface="Calibri" panose="020F0502020204030204" pitchFamily="34" charset="0"/>
              </a:rPr>
              <a:t>A document checker that is confidently wrong is worse than no checker at all - because nobody goes back and looks.</a:t>
            </a:r>
            <a:endParaRPr lang="en-MY" sz="1600">
              <a:solidFill>
                <a:srgbClr val="E2E5EC"/>
              </a:solidFill>
              <a:latin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CFA089-801E-C398-CD57-AFC91987CC2C}"/>
              </a:ext>
            </a:extLst>
          </p:cNvPr>
          <p:cNvSpPr txBox="1"/>
          <p:nvPr/>
        </p:nvSpPr>
        <p:spPr>
          <a:xfrm>
            <a:off x="609600" y="5638800"/>
            <a:ext cx="812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E2E5EC"/>
                </a:solidFill>
                <a:latin typeface="Calibri" panose="020F0502020204030204" pitchFamily="34" charset="0"/>
              </a:rPr>
              <a:t>DuoCode  ·  Tang Chye Fong  ·  Lim Yee Teng  ·  Asia Pacific University</a:t>
            </a:r>
            <a:endParaRPr lang="en-MY" sz="1300">
              <a:solidFill>
                <a:srgbClr val="E2E5EC"/>
              </a:solidFill>
              <a:latin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DA1D51-8373-BD65-DC45-4A77871E20A2}"/>
              </a:ext>
            </a:extLst>
          </p:cNvPr>
          <p:cNvSpPr txBox="1"/>
          <p:nvPr/>
        </p:nvSpPr>
        <p:spPr>
          <a:xfrm>
            <a:off x="609600" y="5969000"/>
            <a:ext cx="812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200">
                <a:solidFill>
                  <a:srgbClr val="D9A441"/>
                </a:solidFill>
                <a:latin typeface="Calibri" panose="020F0502020204030204" pitchFamily="34" charset="0"/>
              </a:rPr>
              <a:t>duocode-sentinel.vercel.app  ·  github.com/TCF1209/duocode-sentinel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FCA0F2-3D25-73DE-C90F-A2607B144D9C}"/>
              </a:ext>
            </a:extLst>
          </p:cNvPr>
          <p:cNvSpPr txBox="1"/>
          <p:nvPr/>
        </p:nvSpPr>
        <p:spPr>
          <a:xfrm>
            <a:off x="7518400" y="5969000"/>
            <a:ext cx="4064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1200">
                <a:solidFill>
                  <a:srgbClr val="E2E5EC"/>
                </a:solidFill>
                <a:latin typeface="Calibri" panose="020F0502020204030204" pitchFamily="34" charset="0"/>
              </a:rPr>
              <a:t>Averis x Monash Hackathon 2026 · Final Round</a:t>
            </a:r>
            <a:endParaRPr lang="en-MY" sz="1200">
              <a:solidFill>
                <a:srgbClr val="E2E5EC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155672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7EB126-402B-C5BB-85E9-FDE5B35F376C}"/>
              </a:ext>
            </a:extLst>
          </p:cNvPr>
          <p:cNvSpPr txBox="1"/>
          <p:nvPr/>
        </p:nvSpPr>
        <p:spPr>
          <a:xfrm>
            <a:off x="609600" y="457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3200" b="1">
                <a:solidFill>
                  <a:srgbClr val="1F2430"/>
                </a:solidFill>
                <a:latin typeface="Cambria" panose="02040503050406030204" pitchFamily="18" charset="0"/>
              </a:rPr>
              <a:t>The problem - and the fourth case</a:t>
            </a:r>
            <a:endParaRPr lang="en-MY" sz="3200" b="1">
              <a:solidFill>
                <a:srgbClr val="1F2430"/>
              </a:solidFill>
              <a:latin typeface="Cambria" panose="02040503050406030204" pitchFamily="18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8341CE0-F1D7-D770-CEC1-98FDCCA58B4B}"/>
              </a:ext>
            </a:extLst>
          </p:cNvPr>
          <p:cNvSpPr/>
          <p:nvPr/>
        </p:nvSpPr>
        <p:spPr>
          <a:xfrm>
            <a:off x="609600" y="1320800"/>
            <a:ext cx="2590800" cy="1905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1AE00F2-B09C-2EB9-EF7C-C53820EE6DB3}"/>
              </a:ext>
            </a:extLst>
          </p:cNvPr>
          <p:cNvSpPr/>
          <p:nvPr/>
        </p:nvSpPr>
        <p:spPr>
          <a:xfrm>
            <a:off x="787400" y="1498600"/>
            <a:ext cx="381000" cy="3810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b="1">
                <a:solidFill>
                  <a:srgbClr val="1F2430"/>
                </a:solidFill>
                <a:latin typeface="Calibri" panose="020F0502020204030204" pitchFamily="34" charset="0"/>
              </a:rPr>
              <a:t>01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49ED2B-142E-5732-2227-979097A0C8EF}"/>
              </a:ext>
            </a:extLst>
          </p:cNvPr>
          <p:cNvSpPr txBox="1"/>
          <p:nvPr/>
        </p:nvSpPr>
        <p:spPr>
          <a:xfrm>
            <a:off x="1270000" y="1549400"/>
            <a:ext cx="1778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600" b="1">
                <a:solidFill>
                  <a:srgbClr val="1F2430"/>
                </a:solidFill>
                <a:latin typeface="Calibri" panose="020F0502020204030204" pitchFamily="34" charset="0"/>
              </a:rPr>
              <a:t>Classify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EA2DDF8-B61E-ADA3-631D-C152F77A68F3}"/>
              </a:ext>
            </a:extLst>
          </p:cNvPr>
          <p:cNvSpPr txBox="1"/>
          <p:nvPr/>
        </p:nvSpPr>
        <p:spPr>
          <a:xfrm>
            <a:off x="787400" y="2006600"/>
            <a:ext cx="22352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200">
                <a:solidFill>
                  <a:srgbClr val="1F2430"/>
                </a:solidFill>
                <a:latin typeface="Calibri" panose="020F0502020204030204" pitchFamily="34" charset="0"/>
              </a:rPr>
              <a:t>Tell message types apart: comparison requests, new SI requests, invoice queries, general mail, spam.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A76085C-1E93-E010-6A5F-3B38D9360FE9}"/>
              </a:ext>
            </a:extLst>
          </p:cNvPr>
          <p:cNvSpPr/>
          <p:nvPr/>
        </p:nvSpPr>
        <p:spPr>
          <a:xfrm>
            <a:off x="3403600" y="1320800"/>
            <a:ext cx="2590800" cy="1905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C1C6215-1B13-3186-9176-109C5A105E51}"/>
              </a:ext>
            </a:extLst>
          </p:cNvPr>
          <p:cNvSpPr/>
          <p:nvPr/>
        </p:nvSpPr>
        <p:spPr>
          <a:xfrm>
            <a:off x="3581400" y="1498600"/>
            <a:ext cx="381000" cy="3810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b="1">
                <a:solidFill>
                  <a:srgbClr val="1F2430"/>
                </a:solidFill>
                <a:latin typeface="Calibri" panose="020F0502020204030204" pitchFamily="34" charset="0"/>
              </a:rPr>
              <a:t>02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EF84487-0036-207B-B1DF-6864CA4E5DF9}"/>
              </a:ext>
            </a:extLst>
          </p:cNvPr>
          <p:cNvSpPr txBox="1"/>
          <p:nvPr/>
        </p:nvSpPr>
        <p:spPr>
          <a:xfrm>
            <a:off x="4064000" y="1549400"/>
            <a:ext cx="1778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600" b="1">
                <a:solidFill>
                  <a:srgbClr val="1F2430"/>
                </a:solidFill>
                <a:latin typeface="Calibri" panose="020F0502020204030204" pitchFamily="34" charset="0"/>
              </a:rPr>
              <a:t>Extract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7D31B57-1AD8-687B-0FD4-C38348887B45}"/>
              </a:ext>
            </a:extLst>
          </p:cNvPr>
          <p:cNvSpPr txBox="1"/>
          <p:nvPr/>
        </p:nvSpPr>
        <p:spPr>
          <a:xfrm>
            <a:off x="3581400" y="2006600"/>
            <a:ext cx="22352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For comparison requests, read the SI and BL attachments and pull the matching shipment fields.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643C6D97-B636-646B-1B73-89322CB0E06F}"/>
              </a:ext>
            </a:extLst>
          </p:cNvPr>
          <p:cNvSpPr/>
          <p:nvPr/>
        </p:nvSpPr>
        <p:spPr>
          <a:xfrm>
            <a:off x="6197600" y="1320800"/>
            <a:ext cx="2590800" cy="1905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4097FD9-497A-FB12-8671-C272F30D17FD}"/>
              </a:ext>
            </a:extLst>
          </p:cNvPr>
          <p:cNvSpPr/>
          <p:nvPr/>
        </p:nvSpPr>
        <p:spPr>
          <a:xfrm>
            <a:off x="6375400" y="1498600"/>
            <a:ext cx="381000" cy="3810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b="1">
                <a:solidFill>
                  <a:srgbClr val="1F2430"/>
                </a:solidFill>
                <a:latin typeface="Calibri" panose="020F0502020204030204" pitchFamily="34" charset="0"/>
              </a:rPr>
              <a:t>03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0443BBC-ED8D-C9F5-4F9B-49F8F40E4701}"/>
              </a:ext>
            </a:extLst>
          </p:cNvPr>
          <p:cNvSpPr txBox="1"/>
          <p:nvPr/>
        </p:nvSpPr>
        <p:spPr>
          <a:xfrm>
            <a:off x="6858000" y="1549400"/>
            <a:ext cx="1778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600" b="1">
                <a:solidFill>
                  <a:srgbClr val="1F2430"/>
                </a:solidFill>
                <a:latin typeface="Calibri" panose="020F0502020204030204" pitchFamily="34" charset="0"/>
              </a:rPr>
              <a:t>Compare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6BA48F2-F5B1-EE45-AC39-66CF82F0EDB8}"/>
              </a:ext>
            </a:extLst>
          </p:cNvPr>
          <p:cNvSpPr txBox="1"/>
          <p:nvPr/>
        </p:nvSpPr>
        <p:spPr>
          <a:xfrm>
            <a:off x="6375400" y="2006600"/>
            <a:ext cx="22352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Surface any mismatched fields, showing the SI and BL values side by side.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ED90A9E-EB64-2D84-E8DD-98EEB80BAAF9}"/>
              </a:ext>
            </a:extLst>
          </p:cNvPr>
          <p:cNvSpPr/>
          <p:nvPr/>
        </p:nvSpPr>
        <p:spPr>
          <a:xfrm>
            <a:off x="8991600" y="1320800"/>
            <a:ext cx="2590800" cy="1905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62AF36F-C844-6BBA-6A81-14E1E31E2FB5}"/>
              </a:ext>
            </a:extLst>
          </p:cNvPr>
          <p:cNvSpPr/>
          <p:nvPr/>
        </p:nvSpPr>
        <p:spPr>
          <a:xfrm>
            <a:off x="9169400" y="1498600"/>
            <a:ext cx="381000" cy="3810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b="1">
                <a:solidFill>
                  <a:srgbClr val="1F2430"/>
                </a:solidFill>
                <a:latin typeface="Calibri" panose="020F0502020204030204" pitchFamily="34" charset="0"/>
              </a:rPr>
              <a:t>04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72055B4-7645-C740-95F7-6E5E7A75A5B1}"/>
              </a:ext>
            </a:extLst>
          </p:cNvPr>
          <p:cNvSpPr txBox="1"/>
          <p:nvPr/>
        </p:nvSpPr>
        <p:spPr>
          <a:xfrm>
            <a:off x="9652000" y="1549400"/>
            <a:ext cx="1778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600" b="1">
                <a:solidFill>
                  <a:srgbClr val="1F2430"/>
                </a:solidFill>
                <a:latin typeface="Calibri" panose="020F0502020204030204" pitchFamily="34" charset="0"/>
              </a:rPr>
              <a:t>Ask for help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D5B97E9-08A9-3723-1DE9-D6376E6A51C2}"/>
              </a:ext>
            </a:extLst>
          </p:cNvPr>
          <p:cNvSpPr txBox="1"/>
          <p:nvPr/>
        </p:nvSpPr>
        <p:spPr>
          <a:xfrm>
            <a:off x="9169400" y="2006600"/>
            <a:ext cx="22352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When it can't finish on its own, escalate to a person with full context instead of guessing or failing silently.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0B54A26-CEAE-48E7-4FCA-A5F2271F1376}"/>
              </a:ext>
            </a:extLst>
          </p:cNvPr>
          <p:cNvSpPr txBox="1"/>
          <p:nvPr/>
        </p:nvSpPr>
        <p:spPr>
          <a:xfrm>
            <a:off x="609600" y="3378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Why we built it: today a documentation clerk does this manually - about 4 minutes per SI/BL pair and 20 seconds to triage each email (a conservative estimate, not a measurement) - and a missed field becomes a correction, a delay, rework.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BA1CD41-B51E-C9C5-68C8-9411F39FDD57}"/>
              </a:ext>
            </a:extLst>
          </p:cNvPr>
          <p:cNvSpPr txBox="1"/>
          <p:nvPr/>
        </p:nvSpPr>
        <p:spPr>
          <a:xfrm>
            <a:off x="609600" y="3886200"/>
            <a:ext cx="35179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 b="1">
                <a:solidFill>
                  <a:srgbClr val="3B4A6B"/>
                </a:solidFill>
                <a:latin typeface="Calibri" panose="020F0502020204030204" pitchFamily="34" charset="0"/>
              </a:rPr>
              <a:t>Finding the right emails takes time</a:t>
            </a:r>
            <a:endParaRPr lang="en-MY" sz="1400" b="1">
              <a:solidFill>
                <a:srgbClr val="3B4A6B"/>
              </a:solidFill>
              <a:latin typeface="Calibri" panose="020F050202020403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1A6B366-5192-14A2-1481-3003538A58B9}"/>
              </a:ext>
            </a:extLst>
          </p:cNvPr>
          <p:cNvSpPr txBox="1"/>
          <p:nvPr/>
        </p:nvSpPr>
        <p:spPr>
          <a:xfrm>
            <a:off x="609600" y="4419600"/>
            <a:ext cx="35179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A document request that is overlooked never reaches the checking step.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3721686-B7E0-DAB9-0432-F37ABAD015FE}"/>
              </a:ext>
            </a:extLst>
          </p:cNvPr>
          <p:cNvSpPr txBox="1"/>
          <p:nvPr/>
        </p:nvSpPr>
        <p:spPr>
          <a:xfrm>
            <a:off x="4330700" y="3886200"/>
            <a:ext cx="35179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 b="1">
                <a:solidFill>
                  <a:srgbClr val="3B4A6B"/>
                </a:solidFill>
                <a:latin typeface="Calibri" panose="020F0502020204030204" pitchFamily="34" charset="0"/>
              </a:rPr>
              <a:t>Manual comparison is easy to get wrong</a:t>
            </a:r>
            <a:endParaRPr lang="en-MY" sz="1400" b="1">
              <a:solidFill>
                <a:srgbClr val="3B4A6B"/>
              </a:solidFill>
              <a:latin typeface="Calibri" panose="020F050202020403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45D5FC8-BBFD-6F4B-ADE8-ED5F0348ACB1}"/>
              </a:ext>
            </a:extLst>
          </p:cNvPr>
          <p:cNvSpPr txBox="1"/>
          <p:nvPr/>
        </p:nvSpPr>
        <p:spPr>
          <a:xfrm>
            <a:off x="4330700" y="4419600"/>
            <a:ext cx="35179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Names, ports, quantities and weight across two documents; a missed discrepancy is a correction, a delay, rework.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BA5BDF9-6335-88BA-150B-60841F232132}"/>
              </a:ext>
            </a:extLst>
          </p:cNvPr>
          <p:cNvSpPr txBox="1"/>
          <p:nvPr/>
        </p:nvSpPr>
        <p:spPr>
          <a:xfrm>
            <a:off x="8051800" y="3886200"/>
            <a:ext cx="35179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 b="1">
                <a:solidFill>
                  <a:srgbClr val="3B4A6B"/>
                </a:solidFill>
                <a:latin typeface="Calibri" panose="020F0502020204030204" pitchFamily="34" charset="0"/>
              </a:rPr>
              <a:t>The same fact looks different</a:t>
            </a:r>
            <a:endParaRPr lang="en-MY" sz="1400" b="1">
              <a:solidFill>
                <a:srgbClr val="3B4A6B"/>
              </a:solidFill>
              <a:latin typeface="Calibri" panose="020F050202020403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7471CD5-94F0-7577-D01B-7630CFA4DCE4}"/>
              </a:ext>
            </a:extLst>
          </p:cNvPr>
          <p:cNvSpPr txBox="1"/>
          <p:nvPr/>
        </p:nvSpPr>
        <p:spPr>
          <a:xfrm>
            <a:off x="8051800" y="4419600"/>
            <a:ext cx="35179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One document says 'Port of Loading', the other 'Load Port' - the system has to know they are the same field.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62A93AFB-D6A0-171C-9DDA-64FA5D2FCD66}"/>
              </a:ext>
            </a:extLst>
          </p:cNvPr>
          <p:cNvSpPr/>
          <p:nvPr/>
        </p:nvSpPr>
        <p:spPr>
          <a:xfrm>
            <a:off x="609600" y="5537200"/>
            <a:ext cx="10972800" cy="558800"/>
          </a:xfrm>
          <a:prstGeom prst="roundRect">
            <a:avLst>
              <a:gd name="adj" fmla="val 15000"/>
            </a:avLst>
          </a:prstGeom>
          <a:solidFill>
            <a:srgbClr val="FFF4E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DCF40A9-28F4-03DC-28A6-FE3B402647A9}"/>
              </a:ext>
            </a:extLst>
          </p:cNvPr>
          <p:cNvSpPr txBox="1"/>
          <p:nvPr/>
        </p:nvSpPr>
        <p:spPr>
          <a:xfrm>
            <a:off x="812800" y="5626100"/>
            <a:ext cx="10566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The fourth case: sometimes the check cannot be done at all - an unreadable scan, a blank field, the wrong document. That has to be escalated to a reviewer with the reason attached, not guessed at. Sentinel does all four.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BE1C623-B384-7298-3DFE-73151BA18093}"/>
              </a:ext>
            </a:extLst>
          </p:cNvPr>
          <p:cNvSpPr txBox="1"/>
          <p:nvPr/>
        </p:nvSpPr>
        <p:spPr>
          <a:xfrm>
            <a:off x="609600" y="6426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900">
                <a:solidFill>
                  <a:srgbClr val="6B7280"/>
                </a:solidFill>
                <a:latin typeface="Calibri" panose="020F0502020204030204" pitchFamily="34" charset="0"/>
              </a:rPr>
              <a:t>CRITERION 5 · SOLUTION EFFECTIVENESS &amp; USER VALUE</a:t>
            </a:r>
            <a:endParaRPr lang="en-MY" sz="9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54006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47B7F1F-8744-52EB-7D25-00E794ABDB89}"/>
              </a:ext>
            </a:extLst>
          </p:cNvPr>
          <p:cNvSpPr txBox="1"/>
          <p:nvPr/>
        </p:nvSpPr>
        <p:spPr>
          <a:xfrm>
            <a:off x="609600" y="457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3200" b="1">
                <a:solidFill>
                  <a:srgbClr val="1F2430"/>
                </a:solidFill>
                <a:latin typeface="Cambria" panose="02040503050406030204" pitchFamily="18" charset="0"/>
              </a:rPr>
              <a:t>What it does, end to end</a:t>
            </a:r>
            <a:endParaRPr lang="en-MY" sz="3200" b="1">
              <a:solidFill>
                <a:srgbClr val="1F2430"/>
              </a:solidFill>
              <a:latin typeface="Cambria" panose="020405030504060302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B621479-430B-3F94-F74E-1EBA03CE00AF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270000"/>
            <a:ext cx="6858000" cy="4286250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C8DF53A-C73F-8369-C25D-86E4576E8006}"/>
              </a:ext>
            </a:extLst>
          </p:cNvPr>
          <p:cNvSpPr txBox="1"/>
          <p:nvPr/>
        </p:nvSpPr>
        <p:spPr>
          <a:xfrm>
            <a:off x="7874000" y="1270000"/>
            <a:ext cx="381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4000" b="1">
                <a:solidFill>
                  <a:srgbClr val="D9A441"/>
                </a:solidFill>
                <a:latin typeface="Cambria" panose="02040503050406030204" pitchFamily="18" charset="0"/>
              </a:rPr>
              <a:t>520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5F06A1D-1F12-585B-5E9C-26EEE7A95DCD}"/>
              </a:ext>
            </a:extLst>
          </p:cNvPr>
          <p:cNvSpPr txBox="1"/>
          <p:nvPr/>
        </p:nvSpPr>
        <p:spPr>
          <a:xfrm>
            <a:off x="7874000" y="1854200"/>
            <a:ext cx="3708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200">
                <a:solidFill>
                  <a:srgbClr val="1F2430"/>
                </a:solidFill>
                <a:latin typeface="Calibri" panose="020F0502020204030204" pitchFamily="34" charset="0"/>
              </a:rPr>
              <a:t>emails, classified and routed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9F2FAD9-25A9-355D-6050-9B347125AF98}"/>
              </a:ext>
            </a:extLst>
          </p:cNvPr>
          <p:cNvSpPr txBox="1"/>
          <p:nvPr/>
        </p:nvSpPr>
        <p:spPr>
          <a:xfrm>
            <a:off x="7874000" y="2438400"/>
            <a:ext cx="381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4000" b="1">
                <a:solidFill>
                  <a:srgbClr val="D9A441"/>
                </a:solidFill>
                <a:latin typeface="Cambria" panose="02040503050406030204" pitchFamily="18" charset="0"/>
              </a:rPr>
              <a:t>46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DFA6C96-491D-8850-24D8-A83B07F8BAFB}"/>
              </a:ext>
            </a:extLst>
          </p:cNvPr>
          <p:cNvSpPr txBox="1"/>
          <p:nvPr/>
        </p:nvSpPr>
        <p:spPr>
          <a:xfrm>
            <a:off x="7874000" y="3022600"/>
            <a:ext cx="3708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discrepancies, with the fields that differ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DE18E9-BA8C-312E-ACDA-3F0047979E32}"/>
              </a:ext>
            </a:extLst>
          </p:cNvPr>
          <p:cNvSpPr txBox="1"/>
          <p:nvPr/>
        </p:nvSpPr>
        <p:spPr>
          <a:xfrm>
            <a:off x="7874000" y="3606800"/>
            <a:ext cx="381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4000" b="1">
                <a:solidFill>
                  <a:srgbClr val="D9A441"/>
                </a:solidFill>
                <a:latin typeface="Cambria" panose="02040503050406030204" pitchFamily="18" charset="0"/>
              </a:rPr>
              <a:t>20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3AF187-F8FE-8D66-31C2-ACFCDAC4548B}"/>
              </a:ext>
            </a:extLst>
          </p:cNvPr>
          <p:cNvSpPr txBox="1"/>
          <p:nvPr/>
        </p:nvSpPr>
        <p:spPr>
          <a:xfrm>
            <a:off x="7874000" y="4191000"/>
            <a:ext cx="3708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escalated - with the reason and what to do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FFCFCC6-862C-ADE1-7518-92C462F36865}"/>
              </a:ext>
            </a:extLst>
          </p:cNvPr>
          <p:cNvSpPr txBox="1"/>
          <p:nvPr/>
        </p:nvSpPr>
        <p:spPr>
          <a:xfrm>
            <a:off x="7874000" y="4775200"/>
            <a:ext cx="381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4000" b="1">
                <a:solidFill>
                  <a:srgbClr val="D9A441"/>
                </a:solidFill>
                <a:latin typeface="Cambria" panose="02040503050406030204" pitchFamily="18" charset="0"/>
              </a:rPr>
              <a:t>12.7 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7A2D316-2F55-AB19-9320-192E3FF3B88C}"/>
              </a:ext>
            </a:extLst>
          </p:cNvPr>
          <p:cNvSpPr txBox="1"/>
          <p:nvPr/>
        </p:nvSpPr>
        <p:spPr>
          <a:xfrm>
            <a:off x="7874000" y="5359400"/>
            <a:ext cx="3708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for the whole inbox, on a free-tier container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DB49D8-E948-B3FB-06C7-C48C9C586235}"/>
              </a:ext>
            </a:extLst>
          </p:cNvPr>
          <p:cNvSpPr txBox="1"/>
          <p:nvPr/>
        </p:nvSpPr>
        <p:spPr>
          <a:xfrm>
            <a:off x="609600" y="57150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How a desk uses it:   1  Run the inbox   ·   2  Open a flagged case   ·   3  Confirm or override it - correct a single value or attach the amended SI/BL   ·   4  Send the drafted reply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AC52091-1201-5369-F1FF-B6FD00C552EC}"/>
              </a:ext>
            </a:extLst>
          </p:cNvPr>
          <p:cNvSpPr txBox="1"/>
          <p:nvPr/>
        </p:nvSpPr>
        <p:spPr>
          <a:xfrm>
            <a:off x="609600" y="6426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MY" sz="900">
                <a:solidFill>
                  <a:srgbClr val="6B7280"/>
                </a:solidFill>
                <a:latin typeface="Calibri" panose="020F0502020204030204" pitchFamily="34" charset="0"/>
              </a:rPr>
              <a:t>CRITERION 1 · END-TO-END FUNCTIONALITY</a:t>
            </a:r>
          </a:p>
        </p:txBody>
      </p:sp>
    </p:spTree>
    <p:extLst>
      <p:ext uri="{BB962C8B-B14F-4D97-AF65-F5344CB8AC3E}">
        <p14:creationId xmlns:p14="http://schemas.microsoft.com/office/powerpoint/2010/main" val="27718800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8DA567C-3B85-2225-274A-E7A8F1436265}"/>
              </a:ext>
            </a:extLst>
          </p:cNvPr>
          <p:cNvSpPr txBox="1"/>
          <p:nvPr/>
        </p:nvSpPr>
        <p:spPr>
          <a:xfrm>
            <a:off x="609600" y="457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MY" sz="3200" b="1">
                <a:solidFill>
                  <a:srgbClr val="1F2430"/>
                </a:solidFill>
                <a:latin typeface="Cambria" panose="02040503050406030204" pitchFamily="18" charset="0"/>
              </a:rPr>
              <a:t>How it decides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10AAFD2-EDEE-3AC9-E5D5-970B70D71E3A}"/>
              </a:ext>
            </a:extLst>
          </p:cNvPr>
          <p:cNvSpPr/>
          <p:nvPr/>
        </p:nvSpPr>
        <p:spPr>
          <a:xfrm>
            <a:off x="711200" y="1498600"/>
            <a:ext cx="1549400" cy="685800"/>
          </a:xfrm>
          <a:prstGeom prst="roundRect">
            <a:avLst>
              <a:gd name="adj" fmla="val 1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sz="1500" b="1">
                <a:solidFill>
                  <a:srgbClr val="1F2430"/>
                </a:solidFill>
                <a:latin typeface="Cambria" panose="02040503050406030204" pitchFamily="18" charset="0"/>
              </a:rPr>
              <a:t>Classify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8F8F8A2-B2D8-9920-50E3-0B27CC80F263}"/>
              </a:ext>
            </a:extLst>
          </p:cNvPr>
          <p:cNvCxnSpPr/>
          <p:nvPr/>
        </p:nvCxnSpPr>
        <p:spPr>
          <a:xfrm>
            <a:off x="2298700" y="1841500"/>
            <a:ext cx="203200" cy="0"/>
          </a:xfrm>
          <a:prstGeom prst="line">
            <a:avLst/>
          </a:prstGeom>
          <a:ln w="19050">
            <a:solidFill>
              <a:srgbClr val="3B4A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F8BF1CF-E286-53EA-6935-0A3E84013013}"/>
              </a:ext>
            </a:extLst>
          </p:cNvPr>
          <p:cNvSpPr/>
          <p:nvPr/>
        </p:nvSpPr>
        <p:spPr>
          <a:xfrm>
            <a:off x="2540000" y="1498600"/>
            <a:ext cx="1549400" cy="685800"/>
          </a:xfrm>
          <a:prstGeom prst="roundRect">
            <a:avLst>
              <a:gd name="adj" fmla="val 1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sz="1500" b="1">
                <a:solidFill>
                  <a:srgbClr val="1F2430"/>
                </a:solidFill>
                <a:latin typeface="Cambria" panose="02040503050406030204" pitchFamily="18" charset="0"/>
              </a:rPr>
              <a:t>Intake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51A4F86-D87C-A524-1C6D-E5921AA25664}"/>
              </a:ext>
            </a:extLst>
          </p:cNvPr>
          <p:cNvCxnSpPr/>
          <p:nvPr/>
        </p:nvCxnSpPr>
        <p:spPr>
          <a:xfrm>
            <a:off x="4127500" y="1841500"/>
            <a:ext cx="203200" cy="0"/>
          </a:xfrm>
          <a:prstGeom prst="line">
            <a:avLst/>
          </a:prstGeom>
          <a:ln w="19050">
            <a:solidFill>
              <a:srgbClr val="3B4A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9B45CC3-7ABC-8D7F-6A32-22FCEDBF69C7}"/>
              </a:ext>
            </a:extLst>
          </p:cNvPr>
          <p:cNvSpPr/>
          <p:nvPr/>
        </p:nvSpPr>
        <p:spPr>
          <a:xfrm>
            <a:off x="4368800" y="1498600"/>
            <a:ext cx="1549400" cy="685800"/>
          </a:xfrm>
          <a:prstGeom prst="roundRect">
            <a:avLst>
              <a:gd name="adj" fmla="val 1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sz="1500" b="1">
                <a:solidFill>
                  <a:srgbClr val="1F2430"/>
                </a:solidFill>
                <a:latin typeface="Cambria" panose="02040503050406030204" pitchFamily="18" charset="0"/>
              </a:rPr>
              <a:t>Extract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71B19FA-4C24-693B-7392-B176D7492BF9}"/>
              </a:ext>
            </a:extLst>
          </p:cNvPr>
          <p:cNvCxnSpPr/>
          <p:nvPr/>
        </p:nvCxnSpPr>
        <p:spPr>
          <a:xfrm>
            <a:off x="5956300" y="1841500"/>
            <a:ext cx="203200" cy="0"/>
          </a:xfrm>
          <a:prstGeom prst="line">
            <a:avLst/>
          </a:prstGeom>
          <a:ln w="19050">
            <a:solidFill>
              <a:srgbClr val="3B4A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5991B4C-E765-F8A3-D9E5-E0C46F8672A1}"/>
              </a:ext>
            </a:extLst>
          </p:cNvPr>
          <p:cNvSpPr/>
          <p:nvPr/>
        </p:nvSpPr>
        <p:spPr>
          <a:xfrm>
            <a:off x="6197600" y="1498600"/>
            <a:ext cx="1549400" cy="685800"/>
          </a:xfrm>
          <a:prstGeom prst="roundRect">
            <a:avLst>
              <a:gd name="adj" fmla="val 1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sz="1500" b="1">
                <a:solidFill>
                  <a:srgbClr val="1F2430"/>
                </a:solidFill>
                <a:latin typeface="Cambria" panose="02040503050406030204" pitchFamily="18" charset="0"/>
              </a:rPr>
              <a:t>Compare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D23DEC2-6409-45FE-6B41-53610EF03802}"/>
              </a:ext>
            </a:extLst>
          </p:cNvPr>
          <p:cNvCxnSpPr/>
          <p:nvPr/>
        </p:nvCxnSpPr>
        <p:spPr>
          <a:xfrm>
            <a:off x="7785100" y="1841500"/>
            <a:ext cx="203200" cy="0"/>
          </a:xfrm>
          <a:prstGeom prst="line">
            <a:avLst/>
          </a:prstGeom>
          <a:ln w="19050">
            <a:solidFill>
              <a:srgbClr val="3B4A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8F1434C-F471-92E3-B08F-C0844A22AE55}"/>
              </a:ext>
            </a:extLst>
          </p:cNvPr>
          <p:cNvSpPr/>
          <p:nvPr/>
        </p:nvSpPr>
        <p:spPr>
          <a:xfrm>
            <a:off x="8026400" y="1498600"/>
            <a:ext cx="1549400" cy="685800"/>
          </a:xfrm>
          <a:prstGeom prst="roundRect">
            <a:avLst>
              <a:gd name="adj" fmla="val 18000"/>
            </a:avLst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sz="1500" b="1">
                <a:solidFill>
                  <a:srgbClr val="1F2430"/>
                </a:solidFill>
                <a:latin typeface="Cambria" panose="02040503050406030204" pitchFamily="18" charset="0"/>
              </a:rPr>
              <a:t>GATE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D49C0AC-9040-0939-06D7-16559127413A}"/>
              </a:ext>
            </a:extLst>
          </p:cNvPr>
          <p:cNvCxnSpPr/>
          <p:nvPr/>
        </p:nvCxnSpPr>
        <p:spPr>
          <a:xfrm>
            <a:off x="9613900" y="1841500"/>
            <a:ext cx="203200" cy="0"/>
          </a:xfrm>
          <a:prstGeom prst="line">
            <a:avLst/>
          </a:prstGeom>
          <a:ln w="19050">
            <a:solidFill>
              <a:srgbClr val="3B4A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643C7B9-64D9-5F9E-7601-BC8795FC9DB3}"/>
              </a:ext>
            </a:extLst>
          </p:cNvPr>
          <p:cNvSpPr/>
          <p:nvPr/>
        </p:nvSpPr>
        <p:spPr>
          <a:xfrm>
            <a:off x="9855200" y="1498600"/>
            <a:ext cx="1549400" cy="685800"/>
          </a:xfrm>
          <a:prstGeom prst="roundRect">
            <a:avLst>
              <a:gd name="adj" fmla="val 1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sz="1500" b="1">
                <a:solidFill>
                  <a:srgbClr val="1F2430"/>
                </a:solidFill>
                <a:latin typeface="Cambria" panose="02040503050406030204" pitchFamily="18" charset="0"/>
              </a:rPr>
              <a:t>Decide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3B33670-8FE9-A732-B972-9926BA5A2200}"/>
              </a:ext>
            </a:extLst>
          </p:cNvPr>
          <p:cNvCxnSpPr/>
          <p:nvPr/>
        </p:nvCxnSpPr>
        <p:spPr>
          <a:xfrm flipH="1">
            <a:off x="6972300" y="1422400"/>
            <a:ext cx="1828800" cy="0"/>
          </a:xfrm>
          <a:prstGeom prst="line">
            <a:avLst/>
          </a:prstGeom>
          <a:ln w="19050">
            <a:solidFill>
              <a:srgbClr val="9C6C18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01EB484-302C-96AF-B28C-5A2CB531E90B}"/>
              </a:ext>
            </a:extLst>
          </p:cNvPr>
          <p:cNvSpPr txBox="1"/>
          <p:nvPr/>
        </p:nvSpPr>
        <p:spPr>
          <a:xfrm>
            <a:off x="6324600" y="1117600"/>
            <a:ext cx="3302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en-MY" sz="1000">
                <a:solidFill>
                  <a:srgbClr val="9C6C18"/>
                </a:solidFill>
                <a:latin typeface="Calibri" panose="020F0502020204030204" pitchFamily="34" charset="0"/>
              </a:rPr>
              <a:t>can veto the comparison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012E28D-FC81-8367-2CD2-21BF34AD6A3F}"/>
              </a:ext>
            </a:extLst>
          </p:cNvPr>
          <p:cNvSpPr txBox="1"/>
          <p:nvPr/>
        </p:nvSpPr>
        <p:spPr>
          <a:xfrm>
            <a:off x="609600" y="24130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Six stages, one direction. The gate runs after the comparison: a value we cannot find again in the document it was read from is never reported as a discrepancy - it is escalated to a reviewer, with both readings attached.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937DD1D3-E591-1625-A59F-D30C0AA8A596}"/>
              </a:ext>
            </a:extLst>
          </p:cNvPr>
          <p:cNvSpPr/>
          <p:nvPr/>
        </p:nvSpPr>
        <p:spPr>
          <a:xfrm>
            <a:off x="609600" y="3098800"/>
            <a:ext cx="3517900" cy="2032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CACB585-FDFF-A162-67CF-01DC637B7FA4}"/>
              </a:ext>
            </a:extLst>
          </p:cNvPr>
          <p:cNvSpPr txBox="1"/>
          <p:nvPr/>
        </p:nvSpPr>
        <p:spPr>
          <a:xfrm>
            <a:off x="787400" y="3276600"/>
            <a:ext cx="31623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 b="1">
                <a:solidFill>
                  <a:srgbClr val="3B4A6B"/>
                </a:solidFill>
                <a:latin typeface="Calibri" panose="020F0502020204030204" pitchFamily="34" charset="0"/>
              </a:rPr>
              <a:t>Labels by meaning, values exactly</a:t>
            </a:r>
            <a:endParaRPr lang="en-MY" sz="1400" b="1">
              <a:solidFill>
                <a:srgbClr val="3B4A6B"/>
              </a:solidFill>
              <a:latin typeface="Calibri" panose="020F050202020403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1F520BE-891B-0E3C-3CA0-E2F10E8DE9DB}"/>
              </a:ext>
            </a:extLst>
          </p:cNvPr>
          <p:cNvSpPr txBox="1"/>
          <p:nvPr/>
        </p:nvSpPr>
        <p:spPr>
          <a:xfrm>
            <a:off x="787400" y="3810000"/>
            <a:ext cx="31623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Never a similarity score. A threshold loose enough to forgive a scan artefact also merges two real companies - and this data has them.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E401AED7-7F79-67A3-5D82-38D3335CAEC5}"/>
              </a:ext>
            </a:extLst>
          </p:cNvPr>
          <p:cNvSpPr/>
          <p:nvPr/>
        </p:nvSpPr>
        <p:spPr>
          <a:xfrm>
            <a:off x="4330700" y="3098800"/>
            <a:ext cx="3517900" cy="2032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01697A9-801D-6AA1-309F-E83516A0134D}"/>
              </a:ext>
            </a:extLst>
          </p:cNvPr>
          <p:cNvSpPr txBox="1"/>
          <p:nvPr/>
        </p:nvSpPr>
        <p:spPr>
          <a:xfrm>
            <a:off x="4508500" y="3276600"/>
            <a:ext cx="31623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400" b="1">
                <a:solidFill>
                  <a:srgbClr val="3B4A6B"/>
                </a:solidFill>
                <a:latin typeface="Calibri" panose="020F0502020204030204" pitchFamily="34" charset="0"/>
              </a:rPr>
              <a:t>Rules first, model second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B5DDB8A-1870-CDC2-7DA1-1B06CFEFC9A9}"/>
              </a:ext>
            </a:extLst>
          </p:cNvPr>
          <p:cNvSpPr txBox="1"/>
          <p:nvPr/>
        </p:nvSpPr>
        <p:spPr>
          <a:xfrm>
            <a:off x="4508500" y="3810000"/>
            <a:ext cx="31623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Every stage tries a deterministic answer before a model, and records which one answered (decided_by). The model is asked only where the rules admit they cannot read.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A6A28839-8DC4-35B5-8258-188EBB3B48AE}"/>
              </a:ext>
            </a:extLst>
          </p:cNvPr>
          <p:cNvSpPr/>
          <p:nvPr/>
        </p:nvSpPr>
        <p:spPr>
          <a:xfrm>
            <a:off x="8051800" y="3098800"/>
            <a:ext cx="3517900" cy="2032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36280C3-BF5A-3CA4-A990-B99A04CEE6BE}"/>
              </a:ext>
            </a:extLst>
          </p:cNvPr>
          <p:cNvSpPr txBox="1"/>
          <p:nvPr/>
        </p:nvSpPr>
        <p:spPr>
          <a:xfrm>
            <a:off x="8229600" y="3276600"/>
            <a:ext cx="31623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400" b="1">
                <a:solidFill>
                  <a:srgbClr val="3B4A6B"/>
                </a:solidFill>
                <a:latin typeface="Calibri" panose="020F0502020204030204" pitchFamily="34" charset="0"/>
              </a:rPr>
              <a:t>One stateless pipeline library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0F58BF5-5A5B-A5BD-6511-C733988B578E}"/>
              </a:ext>
            </a:extLst>
          </p:cNvPr>
          <p:cNvSpPr txBox="1"/>
          <p:nvPr/>
        </p:nvSpPr>
        <p:spPr>
          <a:xfrm>
            <a:off x="8229600" y="3810000"/>
            <a:ext cx="31623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No web framework or database in backend/sdoc. The CLI, the API and the tests run the same code, so the thing scored is the thing demonstrated.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E9E18C3-CA9F-D4EE-BC99-3A77D5462BE3}"/>
              </a:ext>
            </a:extLst>
          </p:cNvPr>
          <p:cNvSpPr txBox="1"/>
          <p:nvPr/>
        </p:nvSpPr>
        <p:spPr>
          <a:xfrm>
            <a:off x="609600" y="53086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6B7280"/>
                </a:solidFill>
                <a:latin typeface="Calibri" panose="020F0502020204030204" pitchFamily="34" charset="0"/>
              </a:rPr>
              <a:t>Scaling, as built: state sits behind one class in one file (store.py) - Postgres is a one-file change · one worker on purpose · throughput is more copies of a stateless library · cost does not scale with volume on this inbox · per-desk rules slot into the existing stage boundaries.</a:t>
            </a:r>
            <a:endParaRPr lang="en-MY" sz="11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B94C231-D6B1-D8B3-D812-1DB8F771139A}"/>
              </a:ext>
            </a:extLst>
          </p:cNvPr>
          <p:cNvSpPr txBox="1"/>
          <p:nvPr/>
        </p:nvSpPr>
        <p:spPr>
          <a:xfrm>
            <a:off x="609600" y="6426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MY" sz="900">
                <a:solidFill>
                  <a:srgbClr val="6B7280"/>
                </a:solidFill>
                <a:latin typeface="Calibri" panose="020F0502020204030204" pitchFamily="34" charset="0"/>
              </a:rPr>
              <a:t>CRITERION 2 · ARCHITECTURE &amp; SCALABILITY</a:t>
            </a:r>
          </a:p>
        </p:txBody>
      </p:sp>
    </p:spTree>
    <p:extLst>
      <p:ext uri="{BB962C8B-B14F-4D97-AF65-F5344CB8AC3E}">
        <p14:creationId xmlns:p14="http://schemas.microsoft.com/office/powerpoint/2010/main" val="15864766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449EFFA-A97E-31D9-FEA0-57668836A8D3}"/>
              </a:ext>
            </a:extLst>
          </p:cNvPr>
          <p:cNvSpPr txBox="1"/>
          <p:nvPr/>
        </p:nvSpPr>
        <p:spPr>
          <a:xfrm>
            <a:off x="609600" y="457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3200" b="1">
                <a:solidFill>
                  <a:srgbClr val="1F2430"/>
                </a:solidFill>
                <a:latin typeface="Cambria" panose="02040503050406030204" pitchFamily="18" charset="0"/>
              </a:rPr>
              <a:t>Where the AI is - and why it is aimed</a:t>
            </a:r>
            <a:endParaRPr lang="en-MY" sz="3200" b="1">
              <a:solidFill>
                <a:srgbClr val="1F2430"/>
              </a:solidFill>
              <a:latin typeface="Cambria" panose="02040503050406030204" pitchFamily="18" charset="0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45692ECE-D9D4-D98A-9A62-63DC2C17FFE5}"/>
              </a:ext>
            </a:extLst>
          </p:cNvPr>
          <p:cNvSpPr/>
          <p:nvPr/>
        </p:nvSpPr>
        <p:spPr>
          <a:xfrm>
            <a:off x="609600" y="1320800"/>
            <a:ext cx="431800" cy="431800"/>
          </a:xfrm>
          <a:prstGeom prst="ellipse">
            <a:avLst/>
          </a:prstGeom>
          <a:solidFill>
            <a:srgbClr val="7C5CB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530" b="1">
                <a:solidFill>
                  <a:srgbClr val="FFFFFF"/>
                </a:solidFill>
                <a:latin typeface="Calibri" panose="020F0502020204030204" pitchFamily="34" charset="0"/>
              </a:rPr>
              <a:t>C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6D0CFB1-2172-B806-F286-86D71880EB52}"/>
              </a:ext>
            </a:extLst>
          </p:cNvPr>
          <p:cNvSpPr txBox="1"/>
          <p:nvPr/>
        </p:nvSpPr>
        <p:spPr>
          <a:xfrm>
            <a:off x="1219200" y="1295400"/>
            <a:ext cx="5969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 b="1">
                <a:solidFill>
                  <a:srgbClr val="1F2430"/>
                </a:solidFill>
                <a:latin typeface="Calibri" panose="020F0502020204030204" pitchFamily="34" charset="0"/>
              </a:rPr>
              <a:t>Classify - an email the rules cannot separate</a:t>
            </a:r>
            <a:endParaRPr lang="en-MY" sz="1400" b="1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C02355-52D8-2724-2EA1-D4EAD0087FF4}"/>
              </a:ext>
            </a:extLst>
          </p:cNvPr>
          <p:cNvSpPr txBox="1"/>
          <p:nvPr/>
        </p:nvSpPr>
        <p:spPr>
          <a:xfrm>
            <a:off x="1219200" y="1600200"/>
            <a:ext cx="5969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6B7280"/>
                </a:solidFill>
                <a:latin typeface="Calibri" panose="020F0502020204030204" pitchFamily="34" charset="0"/>
              </a:rPr>
              <a:t>asked only when the rule score is ambiguous; a closed five-way answer, never free text</a:t>
            </a:r>
            <a:endParaRPr lang="en-MY" sz="115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64CCDD0D-C59A-C0EF-B7E0-5818AF25434E}"/>
              </a:ext>
            </a:extLst>
          </p:cNvPr>
          <p:cNvSpPr/>
          <p:nvPr/>
        </p:nvSpPr>
        <p:spPr>
          <a:xfrm>
            <a:off x="609600" y="2362200"/>
            <a:ext cx="431800" cy="431800"/>
          </a:xfrm>
          <a:prstGeom prst="ellipse">
            <a:avLst/>
          </a:prstGeom>
          <a:solidFill>
            <a:srgbClr val="7C5CB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530" b="1">
                <a:solidFill>
                  <a:srgbClr val="FFFFFF"/>
                </a:solidFill>
                <a:latin typeface="Calibri" panose="020F0502020204030204" pitchFamily="34" charset="0"/>
              </a:rPr>
              <a:t>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B25738-B5F3-AF44-9B8F-2D52F9C371AB}"/>
              </a:ext>
            </a:extLst>
          </p:cNvPr>
          <p:cNvSpPr txBox="1"/>
          <p:nvPr/>
        </p:nvSpPr>
        <p:spPr>
          <a:xfrm>
            <a:off x="1219200" y="2336800"/>
            <a:ext cx="5969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 b="1">
                <a:solidFill>
                  <a:srgbClr val="1F2430"/>
                </a:solidFill>
                <a:latin typeface="Calibri" panose="020F0502020204030204" pitchFamily="34" charset="0"/>
              </a:rPr>
              <a:t>Read - a field label the table has never seen</a:t>
            </a:r>
            <a:endParaRPr lang="en-MY" sz="1400" b="1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8C191E0-80CF-1F6F-8163-BF80B2DBF839}"/>
              </a:ext>
            </a:extLst>
          </p:cNvPr>
          <p:cNvSpPr txBox="1"/>
          <p:nvPr/>
        </p:nvSpPr>
        <p:spPr>
          <a:xfrm>
            <a:off x="1219200" y="2641600"/>
            <a:ext cx="5969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6B7280"/>
                </a:solidFill>
                <a:latin typeface="Calibri" panose="020F0502020204030204" pitchFamily="34" charset="0"/>
              </a:rPr>
              <a:t>asked only about fields no rule resolved; every value must be found again in the document before it is accepted</a:t>
            </a:r>
            <a:endParaRPr lang="en-MY" sz="115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E550763-57E3-0B82-15FF-27ADF8A3CA03}"/>
              </a:ext>
            </a:extLst>
          </p:cNvPr>
          <p:cNvSpPr/>
          <p:nvPr/>
        </p:nvSpPr>
        <p:spPr>
          <a:xfrm>
            <a:off x="609600" y="3403600"/>
            <a:ext cx="431800" cy="431800"/>
          </a:xfrm>
          <a:prstGeom prst="ellipse">
            <a:avLst/>
          </a:prstGeom>
          <a:solidFill>
            <a:srgbClr val="7C5CB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530" b="1">
                <a:solidFill>
                  <a:srgbClr val="FFFFFF"/>
                </a:solidFill>
                <a:latin typeface="Calibri" panose="020F0502020204030204" pitchFamily="34" charset="0"/>
              </a:rPr>
              <a:t>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36FB56-7DF3-7E1D-7B84-03806F66E693}"/>
              </a:ext>
            </a:extLst>
          </p:cNvPr>
          <p:cNvSpPr txBox="1"/>
          <p:nvPr/>
        </p:nvSpPr>
        <p:spPr>
          <a:xfrm>
            <a:off x="1219200" y="3378200"/>
            <a:ext cx="5969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 b="1">
                <a:solidFill>
                  <a:srgbClr val="1F2430"/>
                </a:solidFill>
                <a:latin typeface="Calibri" panose="020F0502020204030204" pitchFamily="34" charset="0"/>
              </a:rPr>
              <a:t>See - a scanned page with no text layer</a:t>
            </a:r>
            <a:endParaRPr lang="en-MY" sz="1400" b="1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FD5E474-F575-9EA5-39D6-4840F87582A4}"/>
              </a:ext>
            </a:extLst>
          </p:cNvPr>
          <p:cNvSpPr txBox="1"/>
          <p:nvPr/>
        </p:nvSpPr>
        <p:spPr>
          <a:xfrm>
            <a:off x="1219200" y="3683000"/>
            <a:ext cx="5969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6B7280"/>
                </a:solidFill>
                <a:latin typeface="Calibri" panose="020F0502020204030204" pitchFamily="34" charset="0"/>
              </a:rPr>
              <a:t>transcribed for the reviewer, never fed into a comparison - the case stays escalated</a:t>
            </a:r>
            <a:endParaRPr lang="en-MY" sz="115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AA6AD8E-4C8A-07C0-CBE5-96CE7DAD8E57}"/>
              </a:ext>
            </a:extLst>
          </p:cNvPr>
          <p:cNvSpPr txBox="1"/>
          <p:nvPr/>
        </p:nvSpPr>
        <p:spPr>
          <a:xfrm>
            <a:off x="609600" y="4470400"/>
            <a:ext cx="6604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gpt-5-mini, structured output. One rule for all three: nothing the model returns is accepted until it is found again in the document.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475C8BE-90CD-BAA5-C136-E32060D525B2}"/>
              </a:ext>
            </a:extLst>
          </p:cNvPr>
          <p:cNvSpPr/>
          <p:nvPr/>
        </p:nvSpPr>
        <p:spPr>
          <a:xfrm>
            <a:off x="7620000" y="1320800"/>
            <a:ext cx="3962400" cy="28702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9ED0473-4355-2FD6-D95F-04FD6C7D17B8}"/>
              </a:ext>
            </a:extLst>
          </p:cNvPr>
          <p:cNvSpPr txBox="1"/>
          <p:nvPr/>
        </p:nvSpPr>
        <p:spPr>
          <a:xfrm>
            <a:off x="7772400" y="1549400"/>
            <a:ext cx="1651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MY" sz="5600" b="1">
                <a:solidFill>
                  <a:srgbClr val="6B7280"/>
                </a:solidFill>
                <a:latin typeface="Cambria" panose="02040503050406030204" pitchFamily="18" charset="0"/>
              </a:rPr>
              <a:t>168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804DBF5-F80D-68D4-DFB5-B4719D73DA6E}"/>
              </a:ext>
            </a:extLst>
          </p:cNvPr>
          <p:cNvSpPr txBox="1"/>
          <p:nvPr/>
        </p:nvSpPr>
        <p:spPr>
          <a:xfrm>
            <a:off x="9499600" y="1651000"/>
            <a:ext cx="381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en-MY" sz="3000">
                <a:solidFill>
                  <a:srgbClr val="6B7280"/>
                </a:solidFill>
                <a:latin typeface="Calibri" panose="020F0502020204030204" pitchFamily="34" charset="0"/>
              </a:rPr>
              <a:t>→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FF64F81-8743-395A-9941-05714BB05D07}"/>
              </a:ext>
            </a:extLst>
          </p:cNvPr>
          <p:cNvSpPr txBox="1"/>
          <p:nvPr/>
        </p:nvSpPr>
        <p:spPr>
          <a:xfrm>
            <a:off x="9982200" y="1549400"/>
            <a:ext cx="1397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5600" b="1">
                <a:solidFill>
                  <a:srgbClr val="D9A441"/>
                </a:solidFill>
                <a:latin typeface="Cambria" panose="02040503050406030204" pitchFamily="18" charset="0"/>
              </a:rPr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5CC33B5-7DDA-2BAB-0296-610739C8889A}"/>
              </a:ext>
            </a:extLst>
          </p:cNvPr>
          <p:cNvSpPr txBox="1"/>
          <p:nvPr/>
        </p:nvSpPr>
        <p:spPr>
          <a:xfrm>
            <a:off x="7823200" y="2540000"/>
            <a:ext cx="3556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cases escalated on wording we invented - rules alone vs rules + model, 188 documents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C6E5E61-6B15-F648-6590-10073F36451D}"/>
              </a:ext>
            </a:extLst>
          </p:cNvPr>
          <p:cNvSpPr txBox="1"/>
          <p:nvPr/>
        </p:nvSpPr>
        <p:spPr>
          <a:xfrm>
            <a:off x="7823200" y="3175000"/>
            <a:ext cx="3556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 b="1">
                <a:solidFill>
                  <a:srgbClr val="3B4A6B"/>
                </a:solidFill>
                <a:latin typeface="Calibri" panose="020F0502020204030204" pitchFamily="34" charset="0"/>
              </a:rPr>
              <a:t>False discrepancies: 0 both ways. Recall bought by guessing would have shown up there; it didn't.</a:t>
            </a:r>
            <a:endParaRPr lang="en-MY" sz="1150" b="1">
              <a:solidFill>
                <a:srgbClr val="3B4A6B"/>
              </a:solidFill>
              <a:latin typeface="Calibri" panose="020F0502020204030204" pitchFamily="34" charset="0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6F981CC4-2C8F-EB36-522D-6C789EC0A21A}"/>
              </a:ext>
            </a:extLst>
          </p:cNvPr>
          <p:cNvSpPr/>
          <p:nvPr/>
        </p:nvSpPr>
        <p:spPr>
          <a:xfrm>
            <a:off x="609600" y="5130800"/>
            <a:ext cx="10972800" cy="685800"/>
          </a:xfrm>
          <a:prstGeom prst="roundRect">
            <a:avLst>
              <a:gd name="adj" fmla="val 15000"/>
            </a:avLst>
          </a:prstGeom>
          <a:solidFill>
            <a:srgbClr val="FFF4E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B58D09F-C304-18B1-F6BB-FE908124CE53}"/>
              </a:ext>
            </a:extLst>
          </p:cNvPr>
          <p:cNvSpPr txBox="1"/>
          <p:nvPr/>
        </p:nvSpPr>
        <p:spPr>
          <a:xfrm>
            <a:off x="812800" y="5207000"/>
            <a:ext cx="10566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$0.0013 per document at the published rates · cached · $2 ceiling per run.   On this inbox: 0 classifier calls, 0 extractor calls, 6 scans transcribed for the reviewer - every decision is a rule's, and that is measured, not assumed.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C730B0F-8698-D198-B26B-5F92BE49691B}"/>
              </a:ext>
            </a:extLst>
          </p:cNvPr>
          <p:cNvSpPr txBox="1"/>
          <p:nvPr/>
        </p:nvSpPr>
        <p:spPr>
          <a:xfrm>
            <a:off x="609600" y="6426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MY" sz="900">
                <a:solidFill>
                  <a:srgbClr val="6B7280"/>
                </a:solidFill>
                <a:latin typeface="Calibri" panose="020F0502020204030204" pitchFamily="34" charset="0"/>
              </a:rPr>
              <a:t>CRITERION 3 · TECHNOLOGY INTEGRATION</a:t>
            </a:r>
          </a:p>
        </p:txBody>
      </p:sp>
    </p:spTree>
    <p:extLst>
      <p:ext uri="{BB962C8B-B14F-4D97-AF65-F5344CB8AC3E}">
        <p14:creationId xmlns:p14="http://schemas.microsoft.com/office/powerpoint/2010/main" val="15874845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8E7C6FD-8A6A-DFB8-8051-DD66A414C492}"/>
              </a:ext>
            </a:extLst>
          </p:cNvPr>
          <p:cNvSpPr txBox="1"/>
          <p:nvPr/>
        </p:nvSpPr>
        <p:spPr>
          <a:xfrm>
            <a:off x="609600" y="457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3200" b="1">
                <a:solidFill>
                  <a:srgbClr val="1F2430"/>
                </a:solidFill>
                <a:latin typeface="Cambria" panose="02040503050406030204" pitchFamily="18" charset="0"/>
              </a:rPr>
              <a:t>How we know it holds</a:t>
            </a:r>
            <a:endParaRPr lang="en-MY" sz="3200" b="1">
              <a:solidFill>
                <a:srgbClr val="1F2430"/>
              </a:solidFill>
              <a:latin typeface="Cambria" panose="02040503050406030204" pitchFamily="18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EAFFCBB-0D14-0871-8E45-752227D089B6}"/>
              </a:ext>
            </a:extLst>
          </p:cNvPr>
          <p:cNvSpPr/>
          <p:nvPr/>
        </p:nvSpPr>
        <p:spPr>
          <a:xfrm>
            <a:off x="609600" y="1270000"/>
            <a:ext cx="3454400" cy="1905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66D830-5F5A-78D6-9FE7-5633FC48283D}"/>
              </a:ext>
            </a:extLst>
          </p:cNvPr>
          <p:cNvSpPr txBox="1"/>
          <p:nvPr/>
        </p:nvSpPr>
        <p:spPr>
          <a:xfrm>
            <a:off x="787400" y="1422400"/>
            <a:ext cx="3098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500" b="1">
                <a:solidFill>
                  <a:srgbClr val="3B4A6B"/>
                </a:solidFill>
                <a:latin typeface="Calibri" panose="020F0502020204030204" pitchFamily="34" charset="0"/>
              </a:rPr>
              <a:t>Not memorised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C0F9B9-B82C-3A80-154F-88AD9147A1E9}"/>
              </a:ext>
            </a:extLst>
          </p:cNvPr>
          <p:cNvSpPr txBox="1"/>
          <p:nvPr/>
        </p:nvSpPr>
        <p:spPr>
          <a:xfrm>
            <a:off x="787400" y="1778000"/>
            <a:ext cx="3098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1.0000 on four datasets, three from seeds we never developed against - 225 planted discrepancies caught with the exact field set, 80/80 escalations correct.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5CBDF78-3EC5-8EA8-4813-4F6CDECC6646}"/>
              </a:ext>
            </a:extLst>
          </p:cNvPr>
          <p:cNvSpPr/>
          <p:nvPr/>
        </p:nvSpPr>
        <p:spPr>
          <a:xfrm>
            <a:off x="4241800" y="1270000"/>
            <a:ext cx="3454400" cy="1905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8BEAC2A-9A41-421E-72DA-05C283A2B959}"/>
              </a:ext>
            </a:extLst>
          </p:cNvPr>
          <p:cNvSpPr txBox="1"/>
          <p:nvPr/>
        </p:nvSpPr>
        <p:spPr>
          <a:xfrm>
            <a:off x="4419600" y="1422400"/>
            <a:ext cx="3098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500" b="1">
                <a:solidFill>
                  <a:srgbClr val="3B4A6B"/>
                </a:solidFill>
                <a:latin typeface="Calibri" panose="020F0502020204030204" pitchFamily="34" charset="0"/>
              </a:rPr>
              <a:t>Attacked ourselves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A962AB-CD2E-3B4D-8F34-E96901282082}"/>
              </a:ext>
            </a:extLst>
          </p:cNvPr>
          <p:cNvSpPr txBox="1"/>
          <p:nvPr/>
        </p:nvSpPr>
        <p:spPr>
          <a:xfrm>
            <a:off x="4419600" y="1778000"/>
            <a:ext cx="3098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16 kinds of damage, 3,008 perturbed documents, 20,496 field reads, no answer key. Thirteen modes at zero movement; silent wrong values 982 -&gt; 0.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2A0F512-FB09-0A54-03E8-50314632324C}"/>
              </a:ext>
            </a:extLst>
          </p:cNvPr>
          <p:cNvSpPr/>
          <p:nvPr/>
        </p:nvSpPr>
        <p:spPr>
          <a:xfrm>
            <a:off x="609600" y="3352800"/>
            <a:ext cx="3454400" cy="1905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260937E-704C-6B5D-C937-C2B141560FFE}"/>
              </a:ext>
            </a:extLst>
          </p:cNvPr>
          <p:cNvSpPr txBox="1"/>
          <p:nvPr/>
        </p:nvSpPr>
        <p:spPr>
          <a:xfrm>
            <a:off x="787400" y="3505200"/>
            <a:ext cx="3098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500" b="1">
                <a:solidFill>
                  <a:srgbClr val="3B4A6B"/>
                </a:solidFill>
                <a:latin typeface="Calibri" panose="020F0502020204030204" pitchFamily="34" charset="0"/>
              </a:rPr>
              <a:t>A real carrier's form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DC57CE8-9377-5383-69D5-D3174DB910EF}"/>
              </a:ext>
            </a:extLst>
          </p:cNvPr>
          <p:cNvSpPr txBox="1"/>
          <p:nvPr/>
        </p:nvSpPr>
        <p:spPr>
          <a:xfrm>
            <a:off x="787400" y="3860800"/>
            <a:ext cx="3098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CMA CGM's public SI template, from outside the generator: four fields held, one bug found and fixed the same day.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7BD0B5FE-1194-23C7-2464-8281AB8BA88F}"/>
              </a:ext>
            </a:extLst>
          </p:cNvPr>
          <p:cNvSpPr/>
          <p:nvPr/>
        </p:nvSpPr>
        <p:spPr>
          <a:xfrm>
            <a:off x="4241800" y="3352800"/>
            <a:ext cx="3454400" cy="1905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EF84FED-6DA9-F7FB-A07A-A0823435D2CB}"/>
              </a:ext>
            </a:extLst>
          </p:cNvPr>
          <p:cNvSpPr txBox="1"/>
          <p:nvPr/>
        </p:nvSpPr>
        <p:spPr>
          <a:xfrm>
            <a:off x="4419600" y="3505200"/>
            <a:ext cx="3098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500" b="1">
                <a:solidFill>
                  <a:srgbClr val="3B4A6B"/>
                </a:solidFill>
                <a:latin typeface="Calibri" panose="020F0502020204030204" pitchFamily="34" charset="0"/>
              </a:rPr>
              <a:t>Engineering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A7B2DDB-E695-0963-1908-00E05B212F07}"/>
              </a:ext>
            </a:extLst>
          </p:cNvPr>
          <p:cNvSpPr txBox="1"/>
          <p:nvPr/>
        </p:nvSpPr>
        <p:spPr>
          <a:xfrm>
            <a:off x="4419600" y="3860800"/>
            <a:ext cx="3098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757 tests, 0 failing; CI on every push; a container that runs as a non-root user with no secret baked in; every value carries its evidence.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57EA9B0-9200-DCF8-38C3-F9CBDBC45683}"/>
              </a:ext>
            </a:extLst>
          </p:cNvPr>
          <p:cNvSpPr/>
          <p:nvPr/>
        </p:nvSpPr>
        <p:spPr>
          <a:xfrm>
            <a:off x="7924800" y="1270000"/>
            <a:ext cx="3657600" cy="3987800"/>
          </a:xfrm>
          <a:prstGeom prst="roundRect">
            <a:avLst>
              <a:gd name="adj" fmla="val 8000"/>
            </a:avLst>
          </a:prstGeom>
          <a:solidFill>
            <a:srgbClr val="FFF4E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16EBC31-F14A-BEBB-3862-0557B71944C2}"/>
              </a:ext>
            </a:extLst>
          </p:cNvPr>
          <p:cNvSpPr txBox="1"/>
          <p:nvPr/>
        </p:nvSpPr>
        <p:spPr>
          <a:xfrm>
            <a:off x="8102600" y="1422400"/>
            <a:ext cx="3302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500" b="1">
                <a:solidFill>
                  <a:srgbClr val="9C6C18"/>
                </a:solidFill>
                <a:latin typeface="Calibri" panose="020F0502020204030204" pitchFamily="34" charset="0"/>
              </a:rPr>
              <a:t>What we haven't fixed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AF6A9A3-8CDA-3DB3-C2B0-82D8EF11D428}"/>
              </a:ext>
            </a:extLst>
          </p:cNvPr>
          <p:cNvSpPr txBox="1"/>
          <p:nvPr/>
        </p:nvSpPr>
        <p:spPr>
          <a:xfrm>
            <a:off x="8102600" y="1803400"/>
            <a:ext cx="3302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email_145: a wrapped party name cut short to exactly what the other document says leaves the repair nothing to repair, and one real discrepancy in 3,008 perturbed documents is reported as consistent.</a:t>
            </a:r>
          </a:p>
          <a:p>
            <a:endParaRPr lang="en-US" sz="1150">
              <a:solidFill>
                <a:srgbClr val="1F2430"/>
              </a:solidFill>
              <a:latin typeface="Calibri" panose="020F0502020204030204" pitchFamily="34" charset="0"/>
            </a:endParaRPr>
          </a:p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The obvious guard would flag 114 of 124 SI/BL pairs (92%) - worse than the gap - so it stays open and written down (ADVERSARIAL.md 5.2).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43E1165-DA54-FF1B-4242-BEC0C69E84B7}"/>
              </a:ext>
            </a:extLst>
          </p:cNvPr>
          <p:cNvSpPr txBox="1"/>
          <p:nvPr/>
        </p:nvSpPr>
        <p:spPr>
          <a:xfrm>
            <a:off x="8102600" y="4470400"/>
            <a:ext cx="3302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 b="1">
                <a:solidFill>
                  <a:srgbClr val="9C6C18"/>
                </a:solidFill>
                <a:latin typeface="Calibri" panose="020F0502020204030204" pitchFamily="34" charset="0"/>
              </a:rPr>
              <a:t>A defect we hide is worse than one we miss.</a:t>
            </a:r>
            <a:endParaRPr lang="en-MY" sz="1200" b="1">
              <a:solidFill>
                <a:srgbClr val="9C6C18"/>
              </a:solidFill>
              <a:latin typeface="Calibri" panose="020F050202020403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42C3CDA-0CE1-16E2-AE27-A45032A51EC0}"/>
              </a:ext>
            </a:extLst>
          </p:cNvPr>
          <p:cNvSpPr txBox="1"/>
          <p:nvPr/>
        </p:nvSpPr>
        <p:spPr>
          <a:xfrm>
            <a:off x="609600" y="54864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6B7280"/>
                </a:solidFill>
                <a:latin typeface="Calibri" panose="020F0502020204030204" pitchFamily="34" charset="0"/>
              </a:rPr>
              <a:t>A perfect score on the dataset you were handed proves you didn't memorise it. It doesn't prove the reader works - so we went looking for the failures ourselves.</a:t>
            </a:r>
            <a:endParaRPr lang="en-MY" sz="115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C208339-497A-1AD8-A225-CFF6D89D8374}"/>
              </a:ext>
            </a:extLst>
          </p:cNvPr>
          <p:cNvSpPr txBox="1"/>
          <p:nvPr/>
        </p:nvSpPr>
        <p:spPr>
          <a:xfrm>
            <a:off x="609600" y="6426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900">
                <a:solidFill>
                  <a:srgbClr val="6B7280"/>
                </a:solidFill>
                <a:latin typeface="Calibri" panose="020F0502020204030204" pitchFamily="34" charset="0"/>
              </a:rPr>
              <a:t>CRITERION 4 · ENGINEERING QUALITY &amp; ROBUSTNESS</a:t>
            </a:r>
            <a:endParaRPr lang="en-MY" sz="9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084112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0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76F1AF7-CD4B-4682-C587-E594E873E728}"/>
              </a:ext>
            </a:extLst>
          </p:cNvPr>
          <p:cNvSpPr txBox="1"/>
          <p:nvPr/>
        </p:nvSpPr>
        <p:spPr>
          <a:xfrm>
            <a:off x="609600" y="457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MY" sz="3200" b="1">
                <a:solidFill>
                  <a:srgbClr val="FFFFFF"/>
                </a:solidFill>
                <a:latin typeface="Cambria" panose="02040503050406030204" pitchFamily="18" charset="0"/>
              </a:rPr>
              <a:t>Live demo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AD41A31-2214-DC8F-1CD6-3BDF8B422543}"/>
              </a:ext>
            </a:extLst>
          </p:cNvPr>
          <p:cNvSpPr txBox="1"/>
          <p:nvPr/>
        </p:nvSpPr>
        <p:spPr>
          <a:xfrm>
            <a:off x="609600" y="1066800"/>
            <a:ext cx="6350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>
                <a:solidFill>
                  <a:srgbClr val="D9A441"/>
                </a:solidFill>
                <a:latin typeface="Calibri" panose="020F0502020204030204" pitchFamily="34" charset="0"/>
              </a:rPr>
              <a:t>90 seconds, on the deployed URLs</a:t>
            </a:r>
            <a:endParaRPr lang="en-MY" sz="1400">
              <a:solidFill>
                <a:srgbClr val="D9A441"/>
              </a:solidFill>
              <a:latin typeface="Calibri" panose="020F0502020204030204" pitchFamily="34" charset="0"/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B0DA46AE-1304-C1A1-42DF-575013F78503}"/>
              </a:ext>
            </a:extLst>
          </p:cNvPr>
          <p:cNvSpPr/>
          <p:nvPr/>
        </p:nvSpPr>
        <p:spPr>
          <a:xfrm>
            <a:off x="609600" y="1574800"/>
            <a:ext cx="355600" cy="3556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260" b="1">
                <a:solidFill>
                  <a:srgbClr val="1F2430"/>
                </a:solidFill>
                <a:latin typeface="Calibri" panose="020F0502020204030204" pitchFamily="34" charset="0"/>
              </a:rPr>
              <a:t>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0F222B-B43A-45C4-2124-429A3F1E23D0}"/>
              </a:ext>
            </a:extLst>
          </p:cNvPr>
          <p:cNvSpPr txBox="1"/>
          <p:nvPr/>
        </p:nvSpPr>
        <p:spPr>
          <a:xfrm>
            <a:off x="1117600" y="1600200"/>
            <a:ext cx="508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FFFFFF"/>
                </a:solidFill>
                <a:latin typeface="Calibri" panose="020F0502020204030204" pitchFamily="34" charset="0"/>
              </a:rPr>
              <a:t>Start a run with the model tier on - then Before / With Sentinel: the inbox as it arrived, and what it made of it</a:t>
            </a:r>
            <a:endParaRPr lang="en-MY" sz="13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9425948D-C372-13C6-B4D4-AB8FB2A7C53A}"/>
              </a:ext>
            </a:extLst>
          </p:cNvPr>
          <p:cNvSpPr/>
          <p:nvPr/>
        </p:nvSpPr>
        <p:spPr>
          <a:xfrm>
            <a:off x="609600" y="2362200"/>
            <a:ext cx="355600" cy="3556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260" b="1">
                <a:solidFill>
                  <a:srgbClr val="1F2430"/>
                </a:solidFill>
                <a:latin typeface="Calibri" panose="020F0502020204030204" pitchFamily="34" charset="0"/>
              </a:rPr>
              <a:t>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58E23C-D2F2-EB28-F0F5-34510940ACB4}"/>
              </a:ext>
            </a:extLst>
          </p:cNvPr>
          <p:cNvSpPr txBox="1"/>
          <p:nvPr/>
        </p:nvSpPr>
        <p:spPr>
          <a:xfrm>
            <a:off x="1117600" y="2387600"/>
            <a:ext cx="508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FFFFFF"/>
                </a:solidFill>
                <a:latin typeface="Calibri" panose="020F0502020204030204" pitchFamily="34" charset="0"/>
              </a:rPr>
              <a:t>Patterns worth a second look - one shipper, one field, seven times</a:t>
            </a:r>
            <a:endParaRPr lang="en-MY" sz="13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DBCDB47-5862-09D4-FD33-27BB325D5640}"/>
              </a:ext>
            </a:extLst>
          </p:cNvPr>
          <p:cNvSpPr/>
          <p:nvPr/>
        </p:nvSpPr>
        <p:spPr>
          <a:xfrm>
            <a:off x="609600" y="3149600"/>
            <a:ext cx="355600" cy="3556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260" b="1">
                <a:solidFill>
                  <a:srgbClr val="1F2430"/>
                </a:solidFill>
                <a:latin typeface="Calibri" panose="020F0502020204030204" pitchFamily="34" charset="0"/>
              </a:rPr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567CE9A-898E-ACDA-C518-3E4514A4994D}"/>
              </a:ext>
            </a:extLst>
          </p:cNvPr>
          <p:cNvSpPr txBox="1"/>
          <p:nvPr/>
        </p:nvSpPr>
        <p:spPr>
          <a:xfrm>
            <a:off x="1117600" y="3175000"/>
            <a:ext cx="508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FFFFFF"/>
                </a:solidFill>
                <a:latin typeface="Calibri" panose="020F0502020204030204" pitchFamily="34" charset="0"/>
              </a:rPr>
              <a:t>A discrepancy case - under every value, the line it was read from</a:t>
            </a:r>
            <a:endParaRPr lang="en-MY" sz="13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7998C61A-569F-F158-8D59-D2D0873A0DDF}"/>
              </a:ext>
            </a:extLst>
          </p:cNvPr>
          <p:cNvSpPr/>
          <p:nvPr/>
        </p:nvSpPr>
        <p:spPr>
          <a:xfrm>
            <a:off x="609600" y="3937000"/>
            <a:ext cx="355600" cy="3556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260" b="1">
                <a:solidFill>
                  <a:srgbClr val="1F2430"/>
                </a:solidFill>
                <a:latin typeface="Calibri" panose="020F0502020204030204" pitchFamily="34" charset="0"/>
              </a:rPr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96F1839-1FEF-7556-8ADC-C9BC53DB3CB4}"/>
              </a:ext>
            </a:extLst>
          </p:cNvPr>
          <p:cNvSpPr txBox="1"/>
          <p:nvPr/>
        </p:nvSpPr>
        <p:spPr>
          <a:xfrm>
            <a:off x="1117600" y="3962400"/>
            <a:ext cx="508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FFFFFF"/>
                </a:solidFill>
                <a:latin typeface="Calibri" panose="020F0502020204030204" pitchFamily="34" charset="0"/>
              </a:rPr>
              <a:t>A scanned case - the page transcribed for the reviewer; the case still escalated, decided per field</a:t>
            </a:r>
            <a:endParaRPr lang="en-MY" sz="13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BF2F8CD-C1B9-271B-F213-83EBDD30EE20}"/>
              </a:ext>
            </a:extLst>
          </p:cNvPr>
          <p:cNvSpPr/>
          <p:nvPr/>
        </p:nvSpPr>
        <p:spPr>
          <a:xfrm>
            <a:off x="609600" y="4724400"/>
            <a:ext cx="355600" cy="3556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260" b="1">
                <a:solidFill>
                  <a:srgbClr val="1F2430"/>
                </a:solidFill>
                <a:latin typeface="Calibri" panose="020F0502020204030204" pitchFamily="34" charset="0"/>
              </a:rPr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5F5A9F7-2F2B-C4FD-3101-B63D34FB8917}"/>
              </a:ext>
            </a:extLst>
          </p:cNvPr>
          <p:cNvSpPr txBox="1"/>
          <p:nvPr/>
        </p:nvSpPr>
        <p:spPr>
          <a:xfrm>
            <a:off x="1117600" y="4749800"/>
            <a:ext cx="508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FFFFFF"/>
                </a:solidFill>
                <a:latin typeface="Calibri" panose="020F0502020204030204" pitchFamily="34" charset="0"/>
              </a:rPr>
              <a:t>Compare, unfamiliar labels: model off, then on - 'model answered'</a:t>
            </a:r>
            <a:endParaRPr lang="en-MY" sz="13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8810F974-3D0A-61D0-B3AF-FB79A8DD4CA9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4000" y="1397000"/>
            <a:ext cx="4978400" cy="3111500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5560C0DE-850A-97D3-FC6D-AB1F797C9507}"/>
              </a:ext>
            </a:extLst>
          </p:cNvPr>
          <p:cNvSpPr txBox="1"/>
          <p:nvPr/>
        </p:nvSpPr>
        <p:spPr>
          <a:xfrm>
            <a:off x="609600" y="5689600"/>
            <a:ext cx="5842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E2E5EC"/>
                </a:solidFill>
                <a:latin typeface="Calibri" panose="020F0502020204030204" pitchFamily="34" charset="0"/>
              </a:rPr>
              <a:t>Fallback if the venue network fails: the same inbox on the laptop, 1.5 s, no network - only the model beat changes.</a:t>
            </a:r>
            <a:endParaRPr lang="en-MY" sz="1100">
              <a:solidFill>
                <a:srgbClr val="E2E5EC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15486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CA5F5AD-9B69-1EE2-62E9-01BA059DAE43}"/>
              </a:ext>
            </a:extLst>
          </p:cNvPr>
          <p:cNvSpPr txBox="1"/>
          <p:nvPr/>
        </p:nvSpPr>
        <p:spPr>
          <a:xfrm>
            <a:off x="609600" y="457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MY" sz="3200" b="1">
                <a:solidFill>
                  <a:srgbClr val="1F2430"/>
                </a:solidFill>
                <a:latin typeface="Cambria" panose="02040503050406030204" pitchFamily="18" charset="0"/>
              </a:rPr>
              <a:t>What makes it different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2D2C58AE-9B60-D0AA-3E2F-9904F360906A}"/>
              </a:ext>
            </a:extLst>
          </p:cNvPr>
          <p:cNvSpPr/>
          <p:nvPr/>
        </p:nvSpPr>
        <p:spPr>
          <a:xfrm>
            <a:off x="609600" y="1219200"/>
            <a:ext cx="330200" cy="3302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1F2430"/>
                </a:solidFill>
                <a:latin typeface="Calibri" panose="020F0502020204030204" pitchFamily="34" charset="0"/>
              </a:rPr>
              <a:t>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A3967A-BC6B-FADF-ABD1-1203F816F9DC}"/>
              </a:ext>
            </a:extLst>
          </p:cNvPr>
          <p:cNvSpPr txBox="1"/>
          <p:nvPr/>
        </p:nvSpPr>
        <p:spPr>
          <a:xfrm>
            <a:off x="1066800" y="11938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b="1">
                <a:solidFill>
                  <a:srgbClr val="1F2430"/>
                </a:solidFill>
                <a:latin typeface="Calibri" panose="020F0502020204030204" pitchFamily="34" charset="0"/>
              </a:rPr>
              <a:t>Re-check on amendment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464901-7A10-349A-5338-F41559B2AF0F}"/>
              </a:ext>
            </a:extLst>
          </p:cNvPr>
          <p:cNvSpPr txBox="1"/>
          <p:nvPr/>
        </p:nvSpPr>
        <p:spPr>
          <a:xfrm>
            <a:off x="1066800" y="14732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6B7280"/>
                </a:solidFill>
                <a:latin typeface="Calibri" panose="020F0502020204030204" pitchFamily="34" charset="0"/>
              </a:rPr>
              <a:t>The sender amends the SI or BL? Attach the amended document on the case and the same check runs again. The previous result stays on record.</a:t>
            </a:r>
            <a:endParaRPr lang="en-MY" sz="11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A8F7635-E3D4-FDFE-CA2C-C27BD642EB93}"/>
              </a:ext>
            </a:extLst>
          </p:cNvPr>
          <p:cNvSpPr/>
          <p:nvPr/>
        </p:nvSpPr>
        <p:spPr>
          <a:xfrm>
            <a:off x="609600" y="2082800"/>
            <a:ext cx="330200" cy="3302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1F2430"/>
                </a:solidFill>
                <a:latin typeface="Calibri" panose="020F0502020204030204" pitchFamily="34" charset="0"/>
              </a:rPr>
              <a:t>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D6EA8B-C713-0E8C-991E-4F48D199BDEB}"/>
              </a:ext>
            </a:extLst>
          </p:cNvPr>
          <p:cNvSpPr txBox="1"/>
          <p:nvPr/>
        </p:nvSpPr>
        <p:spPr>
          <a:xfrm>
            <a:off x="1066800" y="20574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b="1">
                <a:solidFill>
                  <a:srgbClr val="1F2430"/>
                </a:solidFill>
                <a:latin typeface="Calibri" panose="020F0502020204030204" pitchFamily="34" charset="0"/>
              </a:rPr>
              <a:t>Scans transcribed for the reviewer</a:t>
            </a:r>
            <a:endParaRPr lang="en-MY" b="1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156596-021F-1B7B-BE62-AD99918CB8C1}"/>
              </a:ext>
            </a:extLst>
          </p:cNvPr>
          <p:cNvSpPr txBox="1"/>
          <p:nvPr/>
        </p:nvSpPr>
        <p:spPr>
          <a:xfrm>
            <a:off x="1066800" y="23368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6B7280"/>
                </a:solidFill>
                <a:latin typeface="Calibri" panose="020F0502020204030204" pitchFamily="34" charset="0"/>
              </a:rPr>
              <a:t>An image-only PDF is still escalated - but with the seven fields already transcribed by the model, marked as evidence, not a verdict.</a:t>
            </a:r>
            <a:endParaRPr lang="en-MY" sz="11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D1A8170-B906-B8C4-D8A2-53C76D60926E}"/>
              </a:ext>
            </a:extLst>
          </p:cNvPr>
          <p:cNvSpPr/>
          <p:nvPr/>
        </p:nvSpPr>
        <p:spPr>
          <a:xfrm>
            <a:off x="609600" y="2946400"/>
            <a:ext cx="330200" cy="3302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1F2430"/>
                </a:solidFill>
                <a:latin typeface="Calibri" panose="020F0502020204030204" pitchFamily="34" charset="0"/>
              </a:rPr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8D732FB-DA1F-AC4B-BA47-7363C244D6F3}"/>
              </a:ext>
            </a:extLst>
          </p:cNvPr>
          <p:cNvSpPr txBox="1"/>
          <p:nvPr/>
        </p:nvSpPr>
        <p:spPr>
          <a:xfrm>
            <a:off x="1066800" y="29210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b="1">
                <a:solidFill>
                  <a:srgbClr val="1F2430"/>
                </a:solidFill>
                <a:latin typeface="Calibri" panose="020F0502020204030204" pitchFamily="34" charset="0"/>
              </a:rPr>
              <a:t>Shipper history on the field</a:t>
            </a:r>
            <a:endParaRPr lang="en-MY" b="1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C387658-B59E-0BD9-67BA-167C5FCA22B6}"/>
              </a:ext>
            </a:extLst>
          </p:cNvPr>
          <p:cNvSpPr txBox="1"/>
          <p:nvPr/>
        </p:nvSpPr>
        <p:spPr>
          <a:xfrm>
            <a:off x="1066800" y="32004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6B7280"/>
                </a:solidFill>
                <a:latin typeface="Calibri" panose="020F0502020204030204" pitchFamily="34" charset="0"/>
              </a:rPr>
              <a:t>Correcting a field shows how often this shipper had a discrepancy on that same field before. A count, not a guess.</a:t>
            </a:r>
            <a:endParaRPr lang="en-MY" sz="11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EC12F4F-1DE1-D4ED-74C3-0A324B016F91}"/>
              </a:ext>
            </a:extLst>
          </p:cNvPr>
          <p:cNvSpPr/>
          <p:nvPr/>
        </p:nvSpPr>
        <p:spPr>
          <a:xfrm>
            <a:off x="609600" y="3810000"/>
            <a:ext cx="330200" cy="3302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1F2430"/>
                </a:solidFill>
                <a:latin typeface="Calibri" panose="020F0502020204030204" pitchFamily="34" charset="0"/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5955FE7-1325-B159-28FF-10C86DF64888}"/>
              </a:ext>
            </a:extLst>
          </p:cNvPr>
          <p:cNvSpPr txBox="1"/>
          <p:nvPr/>
        </p:nvSpPr>
        <p:spPr>
          <a:xfrm>
            <a:off x="1066800" y="37846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b="1">
                <a:solidFill>
                  <a:srgbClr val="1F2430"/>
                </a:solidFill>
                <a:latin typeface="Calibri" panose="020F0502020204030204" pitchFamily="34" charset="0"/>
              </a:rPr>
              <a:t>The original, one click away</a:t>
            </a:r>
            <a:endParaRPr lang="en-MY" b="1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E428995-7039-8744-5E85-9FE09214ACC4}"/>
              </a:ext>
            </a:extLst>
          </p:cNvPr>
          <p:cNvSpPr txBox="1"/>
          <p:nvPr/>
        </p:nvSpPr>
        <p:spPr>
          <a:xfrm>
            <a:off x="1066800" y="40640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6B7280"/>
                </a:solidFill>
                <a:latin typeface="Calibri" panose="020F0502020204030204" pitchFamily="34" charset="0"/>
              </a:rPr>
              <a:t>Every value carries its line, and the source document opens beside it.</a:t>
            </a:r>
            <a:endParaRPr lang="en-MY" sz="11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6F800F38-6F9F-A231-276A-179B1F318250}"/>
              </a:ext>
            </a:extLst>
          </p:cNvPr>
          <p:cNvSpPr/>
          <p:nvPr/>
        </p:nvSpPr>
        <p:spPr>
          <a:xfrm>
            <a:off x="609600" y="4673600"/>
            <a:ext cx="330200" cy="3302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1F2430"/>
                </a:solidFill>
                <a:latin typeface="Calibri" panose="020F0502020204030204" pitchFamily="34" charset="0"/>
              </a:rPr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A0B7E47-7F7D-8444-9173-B01837C30B8A}"/>
              </a:ext>
            </a:extLst>
          </p:cNvPr>
          <p:cNvSpPr txBox="1"/>
          <p:nvPr/>
        </p:nvSpPr>
        <p:spPr>
          <a:xfrm>
            <a:off x="1066800" y="46482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b="1">
                <a:solidFill>
                  <a:srgbClr val="1F2430"/>
                </a:solidFill>
                <a:latin typeface="Calibri" panose="020F0502020204030204" pitchFamily="34" charset="0"/>
              </a:rPr>
              <a:t>A reply drafted from the reviewer decision</a:t>
            </a:r>
            <a:endParaRPr lang="en-MY" b="1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02D4EDE-50FB-CC14-1585-7999C3C700B4}"/>
              </a:ext>
            </a:extLst>
          </p:cNvPr>
          <p:cNvSpPr txBox="1"/>
          <p:nvPr/>
        </p:nvSpPr>
        <p:spPr>
          <a:xfrm>
            <a:off x="1066800" y="49276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6B7280"/>
                </a:solidFill>
                <a:latin typeface="Calibri" panose="020F0502020204030204" pitchFamily="34" charset="0"/>
              </a:rPr>
              <a:t>Subject and body ready, built from what the reviewer decided - not the Sentinel result it overrode. A person still presses send.</a:t>
            </a:r>
            <a:endParaRPr lang="en-MY" sz="11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60C87B74-8C00-C29A-6720-F2B5AAF9CC40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0" y="1219200"/>
            <a:ext cx="4724400" cy="1625349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DA0F01EA-1C52-42A3-CDC9-41A9261058C2}"/>
              </a:ext>
            </a:extLst>
          </p:cNvPr>
          <p:cNvSpPr txBox="1"/>
          <p:nvPr/>
        </p:nvSpPr>
        <p:spPr>
          <a:xfrm>
            <a:off x="6858000" y="4318000"/>
            <a:ext cx="4724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050">
                <a:solidFill>
                  <a:srgbClr val="6B7280"/>
                </a:solidFill>
                <a:latin typeface="Calibri" panose="020F0502020204030204" pitchFamily="34" charset="0"/>
              </a:rPr>
              <a:t>The scan transcription, as the reviewer sees it: seven fields, the model's confidence, and the sentence that none of it entered the comparison.</a:t>
            </a:r>
            <a:endParaRPr lang="en-MY" sz="105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7E6B9B3-D540-ACF6-EEE4-E4E7511ADD1C}"/>
              </a:ext>
            </a:extLst>
          </p:cNvPr>
          <p:cNvSpPr/>
          <p:nvPr/>
        </p:nvSpPr>
        <p:spPr>
          <a:xfrm>
            <a:off x="609600" y="5588000"/>
            <a:ext cx="10972800" cy="508000"/>
          </a:xfrm>
          <a:prstGeom prst="roundRect">
            <a:avLst>
              <a:gd name="adj" fmla="val 15000"/>
            </a:avLst>
          </a:prstGeom>
          <a:solidFill>
            <a:srgbClr val="FFF4E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4DCDC0E-ABF3-A463-06F2-A6F88F39AA31}"/>
              </a:ext>
            </a:extLst>
          </p:cNvPr>
          <p:cNvSpPr txBox="1"/>
          <p:nvPr/>
        </p:nvSpPr>
        <p:spPr>
          <a:xfrm>
            <a:off x="812800" y="5664200"/>
            <a:ext cx="10566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Every flag carries the line it came from. Every escalation carries the reason and what to do about it. Most teams at this stage meet the brief; these are the things a reviewer actually uses.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284E842-19AD-B2F2-FCB5-EB6A20E38F56}"/>
              </a:ext>
            </a:extLst>
          </p:cNvPr>
          <p:cNvSpPr txBox="1"/>
          <p:nvPr/>
        </p:nvSpPr>
        <p:spPr>
          <a:xfrm>
            <a:off x="609600" y="6426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900">
                <a:solidFill>
                  <a:srgbClr val="6B7280"/>
                </a:solidFill>
                <a:latin typeface="Calibri" panose="020F0502020204030204" pitchFamily="34" charset="0"/>
              </a:rPr>
              <a:t>CRITERION 6 · USER EXPERIENCE &amp; DIFFERENTIATION</a:t>
            </a:r>
            <a:endParaRPr lang="en-MY" sz="9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08954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D8F799C-0AFA-CA78-8B74-23F183D92AC5}"/>
              </a:ext>
            </a:extLst>
          </p:cNvPr>
          <p:cNvSpPr txBox="1"/>
          <p:nvPr/>
        </p:nvSpPr>
        <p:spPr>
          <a:xfrm>
            <a:off x="609600" y="457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3200" b="1">
                <a:solidFill>
                  <a:srgbClr val="1F2430"/>
                </a:solidFill>
                <a:latin typeface="Cambria" panose="02040503050406030204" pitchFamily="18" charset="0"/>
              </a:rPr>
              <a:t>Impact, and what comes next</a:t>
            </a:r>
            <a:endParaRPr lang="en-MY" sz="3200" b="1">
              <a:solidFill>
                <a:srgbClr val="1F2430"/>
              </a:solidFill>
              <a:latin typeface="Cambria" panose="02040503050406030204" pitchFamily="18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820FAC-C12C-2F02-84AF-24ADF51D0605}"/>
              </a:ext>
            </a:extLst>
          </p:cNvPr>
          <p:cNvSpPr/>
          <p:nvPr/>
        </p:nvSpPr>
        <p:spPr>
          <a:xfrm>
            <a:off x="609600" y="1219200"/>
            <a:ext cx="6350000" cy="12192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9FB512-93A2-9D4D-FDE2-35AF0232812D}"/>
              </a:ext>
            </a:extLst>
          </p:cNvPr>
          <p:cNvSpPr txBox="1"/>
          <p:nvPr/>
        </p:nvSpPr>
        <p:spPr>
          <a:xfrm>
            <a:off x="812800" y="1371600"/>
            <a:ext cx="2413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MY" sz="3600" b="1">
                <a:solidFill>
                  <a:srgbClr val="6B7280"/>
                </a:solidFill>
                <a:latin typeface="Cambria" panose="02040503050406030204" pitchFamily="18" charset="0"/>
              </a:rPr>
              <a:t>11 hours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C2F6F7-56FC-1D10-56C7-45B288006D96}"/>
              </a:ext>
            </a:extLst>
          </p:cNvPr>
          <p:cNvSpPr txBox="1"/>
          <p:nvPr/>
        </p:nvSpPr>
        <p:spPr>
          <a:xfrm>
            <a:off x="3276600" y="1473200"/>
            <a:ext cx="50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MY" sz="2400">
                <a:solidFill>
                  <a:srgbClr val="6B7280"/>
                </a:solidFill>
                <a:latin typeface="Calibri" panose="020F0502020204030204" pitchFamily="34" charset="0"/>
              </a:rPr>
              <a:t>→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AEC313-C7B8-4A51-C26D-C4D368195886}"/>
              </a:ext>
            </a:extLst>
          </p:cNvPr>
          <p:cNvSpPr txBox="1"/>
          <p:nvPr/>
        </p:nvSpPr>
        <p:spPr>
          <a:xfrm>
            <a:off x="3835400" y="1320800"/>
            <a:ext cx="29972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MY" sz="4000" b="1">
                <a:solidFill>
                  <a:srgbClr val="D9A441"/>
                </a:solidFill>
                <a:latin typeface="Cambria" panose="02040503050406030204" pitchFamily="18" charset="0"/>
              </a:rPr>
              <a:t>13 seconds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CC0E874-E38F-DAF8-A283-21101F25B311}"/>
              </a:ext>
            </a:extLst>
          </p:cNvPr>
          <p:cNvSpPr txBox="1"/>
          <p:nvPr/>
        </p:nvSpPr>
        <p:spPr>
          <a:xfrm>
            <a:off x="812800" y="2006600"/>
            <a:ext cx="5969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050">
                <a:solidFill>
                  <a:srgbClr val="6B7280"/>
                </a:solidFill>
                <a:latin typeface="Calibri" panose="020F0502020204030204" pitchFamily="34" charset="0"/>
              </a:rPr>
              <a:t>520 emails, 124 document pairs. Eleven hours is a conservative estimate (20 s an email, 4 min a pair), not a measurement; thirteen seconds is measured. Every decision on that inbox was a rule's.</a:t>
            </a:r>
            <a:endParaRPr lang="en-MY" sz="105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C772D7-BC5B-BD3B-EC22-2A76787B6F29}"/>
              </a:ext>
            </a:extLst>
          </p:cNvPr>
          <p:cNvSpPr txBox="1"/>
          <p:nvPr/>
        </p:nvSpPr>
        <p:spPr>
          <a:xfrm>
            <a:off x="609600" y="2641600"/>
            <a:ext cx="635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 b="1">
                <a:solidFill>
                  <a:srgbClr val="3B4A6B"/>
                </a:solidFill>
                <a:latin typeface="Calibri" panose="020F0502020204030204" pitchFamily="34" charset="0"/>
              </a:rPr>
              <a:t>First deployment: one desk, not a region</a:t>
            </a:r>
            <a:endParaRPr lang="en-MY" sz="1400" b="1">
              <a:solidFill>
                <a:srgbClr val="3B4A6B"/>
              </a:solidFill>
              <a:latin typeface="Calibri" panose="020F050202020403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069276-C65F-C006-5A1A-203561854307}"/>
              </a:ext>
            </a:extLst>
          </p:cNvPr>
          <p:cNvSpPr txBox="1"/>
          <p:nvPr/>
        </p:nvSpPr>
        <p:spPr>
          <a:xfrm>
            <a:off x="609600" y="2946400"/>
            <a:ext cx="635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The inbox already carries four desk codes (AFEMY 35, AIE 30, AFRT 29, AFPTME 22 emails). Sentinel sits beside the desk's existing check until the measures below have held for a full cycle of its carriers.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CEA3AC80-BB19-0358-8F49-28B57CD9F0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9093364"/>
              </p:ext>
            </p:extLst>
          </p:nvPr>
        </p:nvGraphicFramePr>
        <p:xfrm>
          <a:off x="609600" y="3683000"/>
          <a:ext cx="6350000" cy="1905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905000">
                  <a:extLst>
                    <a:ext uri="{9D8B030D-6E8A-4147-A177-3AD203B41FA5}">
                      <a16:colId xmlns:a16="http://schemas.microsoft.com/office/drawing/2014/main" val="4151326132"/>
                    </a:ext>
                  </a:extLst>
                </a:gridCol>
                <a:gridCol w="2413000">
                  <a:extLst>
                    <a:ext uri="{9D8B030D-6E8A-4147-A177-3AD203B41FA5}">
                      <a16:colId xmlns:a16="http://schemas.microsoft.com/office/drawing/2014/main" val="214693976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477259857"/>
                    </a:ext>
                  </a:extLst>
                </a:gridCol>
              </a:tblGrid>
              <a:tr h="476250">
                <a:tc>
                  <a:txBody>
                    <a:bodyPr/>
                    <a:lstStyle/>
                    <a:p>
                      <a:r>
                        <a:rPr lang="en-MY" sz="105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Measure</a:t>
                      </a:r>
                    </a:p>
                  </a:txBody>
                  <a:tcPr>
                    <a:solidFill>
                      <a:srgbClr val="3B4A6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Today (graded inbox)</a:t>
                      </a:r>
                    </a:p>
                  </a:txBody>
                  <a:tcPr>
                    <a:solidFill>
                      <a:srgbClr val="3B4A6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The pilot watches</a:t>
                      </a:r>
                    </a:p>
                  </a:txBody>
                  <a:tcPr>
                    <a:solidFill>
                      <a:srgbClr val="3B4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4956201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r>
                        <a:rPr lang="en-MY" sz="1050">
                          <a:solidFill>
                            <a:srgbClr val="1F2430"/>
                          </a:solidFill>
                          <a:latin typeface="Calibri" panose="020F0502020204030204" pitchFamily="34" charset="0"/>
                        </a:rPr>
                        <a:t>Escalation 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>
                          <a:solidFill>
                            <a:srgbClr val="1F2430"/>
                          </a:solidFill>
                          <a:latin typeface="Calibri" panose="020F0502020204030204" pitchFamily="34" charset="0"/>
                        </a:rPr>
                        <a:t>20 of 220 requests (9.1%), all correct</a:t>
                      </a:r>
                      <a:endParaRPr lang="en-MY" sz="1050">
                        <a:solidFill>
                          <a:srgbClr val="1F2430"/>
                        </a:solidFill>
                        <a:latin typeface="Calibri" panose="020F0502020204030204" pitchFamily="34" charset="0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>
                          <a:solidFill>
                            <a:srgbClr val="1F2430"/>
                          </a:solidFill>
                          <a:latin typeface="Calibri" panose="020F0502020204030204" pitchFamily="34" charset="0"/>
                        </a:rPr>
                        <a:t>precision at 1.0 as unfamiliar templates grow</a:t>
                      </a:r>
                      <a:endParaRPr lang="en-MY" sz="1050">
                        <a:solidFill>
                          <a:srgbClr val="1F2430"/>
                        </a:solidFill>
                        <a:latin typeface="Calibri" panose="020F0502020204030204" pitchFamily="34" charset="0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4453492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r>
                        <a:rPr lang="en-MY" sz="1050">
                          <a:solidFill>
                            <a:srgbClr val="1F2430"/>
                          </a:solidFill>
                          <a:latin typeface="Calibri" panose="020F0502020204030204" pitchFamily="34" charset="0"/>
                        </a:rPr>
                        <a:t>False discrepancies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>
                          <a:solidFill>
                            <a:srgbClr val="1F2430"/>
                          </a:solidFill>
                          <a:latin typeface="Calibri" panose="020F0502020204030204" pitchFamily="34" charset="0"/>
                        </a:rPr>
                        <a:t>0 of 46 discrepancies; 0 across 16 perturbation modes</a:t>
                      </a:r>
                      <a:endParaRPr lang="en-MY" sz="1050">
                        <a:solidFill>
                          <a:srgbClr val="1F2430"/>
                        </a:solidFill>
                        <a:latin typeface="Calibri" panose="020F0502020204030204" pitchFamily="34" charset="0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>
                          <a:solidFill>
                            <a:srgbClr val="1F2430"/>
                          </a:solidFill>
                          <a:latin typeface="Calibri" panose="020F0502020204030204" pitchFamily="34" charset="0"/>
                        </a:rPr>
                        <a:t>the weekly number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0408615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r>
                        <a:rPr lang="en-MY" sz="1050">
                          <a:solidFill>
                            <a:srgbClr val="1F2430"/>
                          </a:solidFill>
                          <a:latin typeface="Calibri" panose="020F0502020204030204" pitchFamily="34" charset="0"/>
                        </a:rPr>
                        <a:t>Reviewer minutes per escalation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>
                          <a:solidFill>
                            <a:srgbClr val="1F2430"/>
                          </a:solidFill>
                          <a:latin typeface="Calibri" panose="020F0502020204030204" pitchFamily="34" charset="0"/>
                        </a:rPr>
                        <a:t>not measured yet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>
                          <a:solidFill>
                            <a:srgbClr val="1F2430"/>
                          </a:solidFill>
                          <a:latin typeface="Calibri" panose="020F0502020204030204" pitchFamily="34" charset="0"/>
                        </a:rPr>
                        <a:t>the pilot's first new measurement</a:t>
                      </a:r>
                      <a:endParaRPr lang="en-MY" sz="1050">
                        <a:solidFill>
                          <a:srgbClr val="1F2430"/>
                        </a:solidFill>
                        <a:latin typeface="Calibri" panose="020F0502020204030204" pitchFamily="34" charset="0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1980704"/>
                  </a:ext>
                </a:extLst>
              </a:tr>
            </a:tbl>
          </a:graphicData>
        </a:graphic>
      </p:graphicFrame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155CB10-EA9C-C82B-7EC8-F56B0FACE5E0}"/>
              </a:ext>
            </a:extLst>
          </p:cNvPr>
          <p:cNvSpPr/>
          <p:nvPr/>
        </p:nvSpPr>
        <p:spPr>
          <a:xfrm>
            <a:off x="7366000" y="1219200"/>
            <a:ext cx="4216400" cy="43688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943ED2B-9190-8871-0E11-4A849DE0D9EA}"/>
              </a:ext>
            </a:extLst>
          </p:cNvPr>
          <p:cNvSpPr txBox="1"/>
          <p:nvPr/>
        </p:nvSpPr>
        <p:spPr>
          <a:xfrm>
            <a:off x="7569200" y="1397000"/>
            <a:ext cx="3810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500" b="1">
                <a:solidFill>
                  <a:srgbClr val="3B4A6B"/>
                </a:solidFill>
                <a:latin typeface="Calibri" panose="020F0502020204030204" pitchFamily="34" charset="0"/>
              </a:rPr>
              <a:t>Next, in order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5E8B704F-82D7-763D-D53A-EFA7F8FE9214}"/>
              </a:ext>
            </a:extLst>
          </p:cNvPr>
          <p:cNvSpPr/>
          <p:nvPr/>
        </p:nvSpPr>
        <p:spPr>
          <a:xfrm>
            <a:off x="7569200" y="1854200"/>
            <a:ext cx="330200" cy="3302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1F2430"/>
                </a:solidFill>
                <a:latin typeface="Calibri" panose="020F0502020204030204" pitchFamily="34" charset="0"/>
              </a:rPr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BF0500C-EAE6-2950-C9A1-CC2C2A57F556}"/>
              </a:ext>
            </a:extLst>
          </p:cNvPr>
          <p:cNvSpPr txBox="1"/>
          <p:nvPr/>
        </p:nvSpPr>
        <p:spPr>
          <a:xfrm>
            <a:off x="8026400" y="1841500"/>
            <a:ext cx="34036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300" b="1">
                <a:solidFill>
                  <a:srgbClr val="1F2430"/>
                </a:solidFill>
                <a:latin typeface="Calibri" panose="020F0502020204030204" pitchFamily="34" charset="0"/>
              </a:rPr>
              <a:t>Per-desk rules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68C62D4-E508-3EA5-6826-F04FACF485F7}"/>
              </a:ext>
            </a:extLst>
          </p:cNvPr>
          <p:cNvSpPr txBox="1"/>
          <p:nvPr/>
        </p:nvSpPr>
        <p:spPr>
          <a:xfrm>
            <a:off x="8026400" y="2108200"/>
            <a:ext cx="34036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6B7280"/>
                </a:solidFill>
                <a:latin typeface="Calibri" panose="020F0502020204030204" pitchFamily="34" charset="0"/>
              </a:rPr>
              <a:t>a label table and an escalation policy per desk, selected by the code the inbox already carries</a:t>
            </a:r>
            <a:endParaRPr lang="en-MY" sz="11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DE0B221-CBFD-4E92-F2FE-6649D95D9BFF}"/>
              </a:ext>
            </a:extLst>
          </p:cNvPr>
          <p:cNvSpPr/>
          <p:nvPr/>
        </p:nvSpPr>
        <p:spPr>
          <a:xfrm>
            <a:off x="7569200" y="3022600"/>
            <a:ext cx="330200" cy="3302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1F2430"/>
                </a:solidFill>
                <a:latin typeface="Calibri" panose="020F0502020204030204" pitchFamily="34" charset="0"/>
              </a:rPr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96E1D8-97E4-E471-071F-893E7BD07A14}"/>
              </a:ext>
            </a:extLst>
          </p:cNvPr>
          <p:cNvSpPr txBox="1"/>
          <p:nvPr/>
        </p:nvSpPr>
        <p:spPr>
          <a:xfrm>
            <a:off x="8026400" y="3009900"/>
            <a:ext cx="34036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 b="1">
                <a:solidFill>
                  <a:srgbClr val="1F2430"/>
                </a:solidFill>
                <a:latin typeface="Calibri" panose="020F0502020204030204" pitchFamily="34" charset="0"/>
              </a:rPr>
              <a:t>Corrections feed the label table</a:t>
            </a:r>
            <a:endParaRPr lang="en-MY" sz="1300" b="1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CE380EF-9559-21D9-C51C-C88BFE49C448}"/>
              </a:ext>
            </a:extLst>
          </p:cNvPr>
          <p:cNvSpPr txBox="1"/>
          <p:nvPr/>
        </p:nvSpPr>
        <p:spPr>
          <a:xfrm>
            <a:off x="8026400" y="3276600"/>
            <a:ext cx="34036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6B7280"/>
                </a:solidFill>
                <a:latin typeface="Calibri" panose="020F0502020204030204" pitchFamily="34" charset="0"/>
              </a:rPr>
              <a:t>every confirmed correction is a labelled example of wording we could not read - the one place this system should learn</a:t>
            </a:r>
            <a:endParaRPr lang="en-MY" sz="11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ABFE5B25-B0CD-BF12-0DD9-642ABF71EEFB}"/>
              </a:ext>
            </a:extLst>
          </p:cNvPr>
          <p:cNvSpPr/>
          <p:nvPr/>
        </p:nvSpPr>
        <p:spPr>
          <a:xfrm>
            <a:off x="7569200" y="4191000"/>
            <a:ext cx="330200" cy="3302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1F2430"/>
                </a:solidFill>
                <a:latin typeface="Calibri" panose="020F0502020204030204" pitchFamily="34" charset="0"/>
              </a:rPr>
              <a:t>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5BF213C-4F27-2373-FD50-20307E1424D0}"/>
              </a:ext>
            </a:extLst>
          </p:cNvPr>
          <p:cNvSpPr txBox="1"/>
          <p:nvPr/>
        </p:nvSpPr>
        <p:spPr>
          <a:xfrm>
            <a:off x="8026400" y="4178300"/>
            <a:ext cx="34036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300" b="1">
                <a:solidFill>
                  <a:srgbClr val="1F2430"/>
                </a:solidFill>
                <a:latin typeface="Calibri" panose="020F0502020204030204" pitchFamily="34" charset="0"/>
              </a:rPr>
              <a:t>The database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685F27D-2B29-5D38-C0E8-0CA1062D6E53}"/>
              </a:ext>
            </a:extLst>
          </p:cNvPr>
          <p:cNvSpPr txBox="1"/>
          <p:nvPr/>
        </p:nvSpPr>
        <p:spPr>
          <a:xfrm>
            <a:off x="8026400" y="4445000"/>
            <a:ext cx="34036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6B7280"/>
                </a:solidFill>
                <a:latin typeface="Calibri" panose="020F0502020204030204" pitchFamily="34" charset="0"/>
              </a:rPr>
              <a:t>one file; the demo does not need it yet, a pilot will</a:t>
            </a:r>
            <a:endParaRPr lang="en-MY" sz="11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34CB1D0-438D-AD47-78FC-A3CC2CD93EAF}"/>
              </a:ext>
            </a:extLst>
          </p:cNvPr>
          <p:cNvSpPr txBox="1"/>
          <p:nvPr/>
        </p:nvSpPr>
        <p:spPr>
          <a:xfrm>
            <a:off x="609600" y="5740400"/>
            <a:ext cx="635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 b="1">
                <a:solidFill>
                  <a:srgbClr val="9C6C18"/>
                </a:solidFill>
                <a:latin typeface="Calibri" panose="020F0502020204030204" pitchFamily="34" charset="0"/>
              </a:rPr>
              <a:t>Cheap because the model is aimed, not because it is absent.</a:t>
            </a:r>
            <a:endParaRPr lang="en-MY" sz="1200" b="1">
              <a:solidFill>
                <a:srgbClr val="9C6C18"/>
              </a:solidFill>
              <a:latin typeface="Calibri" panose="020F050202020403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0D8429E-37ED-F0D7-DA1C-9DA78EE33ECE}"/>
              </a:ext>
            </a:extLst>
          </p:cNvPr>
          <p:cNvSpPr txBox="1"/>
          <p:nvPr/>
        </p:nvSpPr>
        <p:spPr>
          <a:xfrm>
            <a:off x="609600" y="6426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MY" sz="900">
                <a:solidFill>
                  <a:srgbClr val="6B7280"/>
                </a:solidFill>
                <a:latin typeface="Calibri" panose="020F0502020204030204" pitchFamily="34" charset="0"/>
              </a:rPr>
              <a:t>CRITERION 7 · IMPACT &amp; FUTURE POTENTIAL</a:t>
            </a:r>
          </a:p>
        </p:txBody>
      </p:sp>
    </p:spTree>
    <p:extLst>
      <p:ext uri="{BB962C8B-B14F-4D97-AF65-F5344CB8AC3E}">
        <p14:creationId xmlns:p14="http://schemas.microsoft.com/office/powerpoint/2010/main" val="15414360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0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3D6C671-681D-C97E-E24B-F13FC8A57D65}"/>
              </a:ext>
            </a:extLst>
          </p:cNvPr>
          <p:cNvSpPr txBox="1"/>
          <p:nvPr/>
        </p:nvSpPr>
        <p:spPr>
          <a:xfrm>
            <a:off x="609600" y="25400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3600" b="1">
                <a:solidFill>
                  <a:srgbClr val="FFFFFF"/>
                </a:solidFill>
                <a:latin typeface="Cambria" panose="02040503050406030204" pitchFamily="18" charset="0"/>
              </a:rPr>
              <a:t>Every answer comes with its evidence.</a:t>
            </a:r>
            <a:endParaRPr lang="en-MY" sz="3600" b="1">
              <a:solidFill>
                <a:srgbClr val="FFFFFF"/>
              </a:solidFill>
              <a:latin typeface="Cambria" panose="020405030504060302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AF43B9-78D1-D696-EBA7-2FE71B400A66}"/>
              </a:ext>
            </a:extLst>
          </p:cNvPr>
          <p:cNvSpPr txBox="1"/>
          <p:nvPr/>
        </p:nvSpPr>
        <p:spPr>
          <a:xfrm>
            <a:off x="609600" y="34036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en-MY" sz="1800">
                <a:solidFill>
                  <a:srgbClr val="D9A441"/>
                </a:solidFill>
                <a:latin typeface="Cambria" panose="02040503050406030204" pitchFamily="18" charset="0"/>
              </a:rPr>
              <a:t>Sentinel, by DuoCode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B55E0D4-1DA2-A33E-85D8-100808429428}"/>
              </a:ext>
            </a:extLst>
          </p:cNvPr>
          <p:cNvSpPr txBox="1"/>
          <p:nvPr/>
        </p:nvSpPr>
        <p:spPr>
          <a:xfrm>
            <a:off x="609600" y="3937000"/>
            <a:ext cx="10972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en-MY" sz="1300">
                <a:solidFill>
                  <a:srgbClr val="E2E5EC"/>
                </a:solidFill>
                <a:latin typeface="Calibri" panose="020F0502020204030204" pitchFamily="34" charset="0"/>
              </a:rPr>
              <a:t>github.com/TCF1209/duocode-sentinel  ·  duocode-sentinel.vercel.app</a:t>
            </a:r>
          </a:p>
        </p:txBody>
      </p:sp>
    </p:spTree>
    <p:extLst>
      <p:ext uri="{BB962C8B-B14F-4D97-AF65-F5344CB8AC3E}">
        <p14:creationId xmlns:p14="http://schemas.microsoft.com/office/powerpoint/2010/main" val="32259774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2814</Words>
  <Application>Microsoft Office PowerPoint</Application>
  <PresentationFormat>Custom</PresentationFormat>
  <Paragraphs>176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Aptos</vt:lpstr>
      <vt:lpstr>Aptos Display</vt:lpstr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LIM YEE TENG</dc:creator>
  <cp:lastModifiedBy>LIM YEE TENG</cp:lastModifiedBy>
  <cp:revision>1</cp:revision>
  <dcterms:created xsi:type="dcterms:W3CDTF">2026-09-25T05:42:30Z</dcterms:created>
  <dcterms:modified xsi:type="dcterms:W3CDTF">2026-09-25T05:42:30Z</dcterms:modified>
</cp:coreProperties>
</file>